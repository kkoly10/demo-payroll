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established simple explanation. The application connects relevant information; it does not merge or replace the three products. Automatic collection depends on supported interfaces; file intake can remain manual initially.
EVIDENCE AND SCOPE
[S1] Documented handoffs • Proposed response to Andrew
[S1] B&amp;S payroll process(1).docx, supplied 61-page procedure. Page references use its rendered pagination. [D1] Existing synthetic demo captures. [D2] Recorded test run, 28 September 2026, commit d0e7ea164896b7f77366e5e8391b8e4ba39edb19.
All new production capabilities, roles and security controls are proposals, not deployed features. Payroll approval and submission remain distinct human actions. No measured time savings or unrestricted vendor write access is claimed.
PRESENTATION REFINEMENT
EVIDENCE AND SCOPE
[S1] B&amp;S payroll process(1).docx, supplied 61-page procedure. Page references use its rendered pagination. [D1] Existing synthetic demo screenshots preserved from the supplied briefing. [D2] Recorded synthetic test run, 28 September 2026, commit d0e7ea164896b7f77366e5e8391b8e4ba39edb19. This styling revision did not re-run tests or revalidate live vendor access. Production capabilities, hosting, roles and security controls remain proposals requiring B&amp;S approval. The public demo has no live payroll data or system writes. Final payroll approval and submission remain separate human actions. No measured time savings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AND SCOPE
[S1] pp. 6–8, 19–26, 34–44, 51–61
[S1] B&amp;S payroll process(1).docx, supplied 61-page procedure. Page references use its rendered pagination. [D1] Existing synthetic demo captures. [D2] Recorded test run, 28 September 2026, commit d0e7ea164896b7f77366e5e8391b8e4ba39edb19.
All new production capabilities, roles and security controls are proposals, not deployed features. Payroll approval and submission remain distinct human actions. No measured time savings or unrestricted vendor write access is claimed.
PRESENTATION REFINEMENT
EVIDENCE AND SCOPE
[S1] B&amp;S payroll process(1).docx, supplied 61-page procedure. Page references use its rendered pagination. [D1] Existing synthetic demo screenshots preserved from the supplied briefing. [D2] Recorded synthetic test run, 28 September 2026, commit d0e7ea164896b7f77366e5e8391b8e4ba39edb19. This styling revision did not re-run tests or revalidate live vendor access. Production capabilities, hosting, roles and security controls remain proposals requiring B&amp;S approval. The public demo has no live payroll data or system writes. Final payroll approval and submission remain separate human actions. No measured time savings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REFINEMENT
This bridge restores the gentler explanation before introducing reconciliation. Gathering can use approved file uploads; automatic collection depends on verified vendor connections.
EVIDENCE AND SCOPE
[S1] B&amp;S payroll process(1).docx, supplied 61-page procedure. Page references use its rendered pagination. [D1] Existing synthetic demo screenshots preserved from the supplied briefing. [D2] Recorded synthetic test run, 28 September 2026, commit d0e7ea164896b7f77366e5e8391b8e4ba39edb19. This styling revision did not re-run tests or revalidate live vendor access. Production capabilities, hosting, roles and security controls remain proposals requiring B&amp;S approval. The public demo has no live payroll data or system writes. Final payroll approval and submission remain separate human actions. No measured time savings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AND SCOPE
[S1] pp. 52–54 • Plain-language explanation
[S1] B&amp;S payroll process(1).docx, supplied 61-page procedure. Page references use its rendered pagination. [D1] Existing synthetic demo captures. [D2] Recorded test run, 28 September 2026, commit d0e7ea164896b7f77366e5e8391b8e4ba39edb19.
All new production capabilities, roles and security controls are proposals, not deployed features. Payroll approval and submission remain distinct human actions. No measured time savings or unrestricted vendor write access is claimed.
PRESENTATION REFINEMENT
EVIDENCE AND SCOPE
[S1] B&amp;S payroll process(1).docx, supplied 61-page procedure. Page references use its rendered pagination. [D1] Existing synthetic demo screenshots preserved from the supplied briefing. [D2] Recorded synthetic test run, 28 September 2026, commit d0e7ea164896b7f77366e5e8391b8e4ba39edb19. This styling revision did not re-run tests or revalidate live vendor access. Production capabilities, hosting, roles and security controls remain proposals requiring B&amp;S approval. The public demo has no live payroll data or system writes. Final payroll approval and submission remain separate human actions. No measured time savings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AND SCOPE
[S1] p. 53 • Illustrative values
[S1] B&amp;S payroll process(1).docx, supplied 61-page procedure. Page references use its rendered pagination. [D1] Existing synthetic demo captures. [D2] Recorded test run, 28 September 2026, commit d0e7ea164896b7f77366e5e8391b8e4ba39edb19.
All new production capabilities, roles and security controls are proposals, not deployed features. Payroll approval and submission remain distinct human actions. No measured time savings or unrestricted vendor write access is claimed.
PRESENTATION REFINEMENT
EVIDENCE AND SCOPE
[S1] B&amp;S payroll process(1).docx, supplied 61-page procedure. Page references use its rendered pagination. [D1] Existing synthetic demo screenshots preserved from the supplied briefing. [D2] Recorded synthetic test run, 28 September 2026, commit d0e7ea164896b7f77366e5e8391b8e4ba39edb19. This styling revision did not re-run tests or revalidate live vendor access. Production capabilities, hosting, roles and security controls remain proposals requiring B&amp;S approval. The public demo has no live payroll data or system writes. Final payroll approval and submission remain separate human actions. No measured time savings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procedure describes adjusting applicable foreman hours to 40. Production eligibility, compensation policy and allocation must be confirmed by Payroll/Finance. This is not permission to cap actual time or invent a pay rule.
EVIDENCE AND SCOPE
[S1] p. 22 • [D1] Synthetic foreman example
[S1] B&amp;S payroll process(1).docx, supplied 61-page procedure. Page references use its rendered pagination. [D1] Existing synthetic demo captures. [D2] Recorded test run, 28 September 2026, commit d0e7ea164896b7f77366e5e8391b8e4ba39edb19.
All new production capabilities, roles and security controls are proposals, not deployed features. Payroll approval and submission remain distinct human actions. No measured time savings or unrestricted vendor write access is claimed.
PRESENTATION REFINEMENT
EVIDENCE AND SCOPE
[S1] B&amp;S payroll process(1).docx, supplied 61-page procedure. Page references use its rendered pagination. [D1] Existing synthetic demo screenshots preserved from the supplied briefing. [D2] Recorded synthetic test run, 28 September 2026, commit d0e7ea164896b7f77366e5e8391b8e4ba39edb19. This styling revision did not re-run tests or revalidate live vendor access. Production capabilities, hosting, roles and security controls remain proposals requiring B&amp;S approval. The public demo has no live payroll data or system writes. Final payroll approval and submission remain separate human actions. No measured time savings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release does not eliminate every export or import. An approved structured file can be loaded manually. Automatic retrieval is conditional on supported and approved vendor connections. Investigation is assisted; Payroll retains judgment. Audit evidence and readable review packets are proposed application outputs, not substitutes for required vendor reports.
EVIDENCE AND SCOPE
[S1] pp. 6, 36, 40–44, 52–54 • Proposed task mapping
[S1] B&amp;S payroll process(1).docx, supplied 61-page procedure. Page references use its rendered pagination. [D1] Existing synthetic demo captures. [D2] Recorded test run, 28 September 2026, commit d0e7ea164896b7f77366e5e8391b8e4ba39edb19.
All new production capabilities, roles and security controls are proposals, not deployed features. Payroll approval and submission remain distinct human actions. No measured time savings or unrestricted vendor write access is claimed.
PRESENTATION REFINEMENT
EVIDENCE AND SCOPE
[S1] B&amp;S payroll process(1).docx, supplied 61-page procedure. Page references use its rendered pagination. [D1] Existing synthetic demo screenshots preserved from the supplied briefing. [D2] Recorded synthetic test run, 28 September 2026, commit d0e7ea164896b7f77366e5e8391b8e4ba39edb19. This styling revision did not re-run tests or revalidate live vendor access. Production capabilities, hosting, roles and security controls remain proposals requiring B&amp;S approval. The public demo has no live payroll data or system writes. Final payroll approval and submission remain separate human actions. No measured time savings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AND SCOPE
[S1] pp. 3–8, 19–26, 34–44, 51–61 • Proposed first-release boundary
[S1] B&amp;S payroll process(1).docx, supplied 61-page procedure. Page references use its rendered pagination. [D1] Existing synthetic demo captures. [D2] Recorded test run, 28 September 2026, commit d0e7ea164896b7f77366e5e8391b8e4ba39edb19.
All new production capabilities, roles and security controls are proposals, not deployed features. Payroll approval and submission remain distinct human actions. No measured time savings or unrestricted vendor write access is claimed.
PRESENTATION REFINEMENT
EVIDENCE AND SCOPE
[S1] B&amp;S payroll process(1).docx, supplied 61-page procedure. Page references use its rendered pagination. [D1] Existing synthetic demo screenshots preserved from the supplied briefing. [D2] Recorded synthetic test run, 28 September 2026, commit d0e7ea164896b7f77366e5e8391b8e4ba39edb19. This styling revision did not re-run tests or revalidate live vendor access. Production capabilities, hosting, roles and security controls remain proposals requiring B&amp;S approval. The public demo has no live payroll data or system writes. Final payroll approval and submission remain separate human actions. No measured time savings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AND SCOPE
[S1] p. 53 • [D1] Existing synthetic demo capture
[S1] B&amp;S payroll process(1).docx, supplied 61-page procedure. Page references use its rendered pagination. [D1] Existing synthetic demo captures. [D2] Recorded test run, 28 September 2026, commit d0e7ea164896b7f77366e5e8391b8e4ba39edb19.
All new production capabilities, roles and security controls are proposals, not deployed features. Payroll approval and submission remain distinct human actions. No measured time savings or unrestricted vendor write access is claimed.
PRESENTATION REFINEMENT
EVIDENCE AND SCOPE
[S1] B&amp;S payroll process(1).docx, supplied 61-page procedure. Page references use its rendered pagination. [D1] Existing synthetic demo screenshots preserved from the supplied briefing. [D2] Recorded synthetic test run, 28 September 2026, commit d0e7ea164896b7f77366e5e8391b8e4ba39edb19. This styling revision did not re-run tests or revalidate live vendor access. Production capabilities, hosting, roles and security controls remain proposals requiring B&amp;S approval. The public demo has no live payroll data or system writes. Final payroll approval and submission remain separate human actions. No measured time savings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AND SCOPE
[D1] Actual synthetic Trace capture • No live connections
[S1] B&amp;S payroll process(1).docx, supplied 61-page procedure. Page references use its rendered pagination. [D1] Existing synthetic demo captures. [D2] Recorded test run, 28 September 2026, commit d0e7ea164896b7f77366e5e8391b8e4ba39edb19.
All new production capabilities, roles and security controls are proposals, not deployed features. Payroll approval and submission remain distinct human actions. No measured time savings or unrestricted vendor write access is claimed.
PRESENTATION REFINEMENT
EVIDENCE AND SCOPE
[S1] B&amp;S payroll process(1).docx, supplied 61-page procedure. Page references use its rendered pagination. [D1] Existing synthetic demo screenshots preserved from the supplied briefing. [D2] Recorded synthetic test run, 28 September 2026, commit d0e7ea164896b7f77366e5e8391b8e4ba39edb19. This styling revision did not re-run tests or revalidate live vendor access. Production capabilities, hosting, roles and security controls remain proposals requiring B&amp;S approval. The public demo has no live payroll data or system writes. Final payroll approval and submission remain separate human actions. No measured time savings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worked example uses read-only policy: Payroll corrects in the source application; the demo simulates that manual action. The synthetic state becomes Paylocity v2 after read-back. Only this issue clears, reducing the queue from seven to six; no payroll approval or submission takes place.
EVIDENCE AND SCOPE
[D1] Synthetic manual-correction walkthrough • [D2] Recorded tests
[S1] B&amp;S payroll process(1).docx, supplied 61-page procedure. Page references use its rendered pagination. [D1] Existing synthetic demo captures. [D2] Recorded test run, 28 September 2026, commit d0e7ea164896b7f77366e5e8391b8e4ba39edb19.
All new production capabilities, roles and security controls are proposals, not deployed features. Payroll approval and submission remain distinct human actions. No measured time savings or unrestricted vendor write access is claimed.
PRESENTATION REFINEMENT
EVIDENCE AND SCOPE
[S1] B&amp;S payroll process(1).docx, supplied 61-page procedure. Page references use its rendered pagination. [D1] Existing synthetic demo screenshots preserved from the supplied briefing. [D2] Recorded synthetic test run, 28 September 2026, commit d0e7ea164896b7f77366e5e8391b8e4ba39edb19. This styling revision did not re-run tests or revalidate live vendor access. Production capabilities, hosting, roles and security controls remain proposals requiring B&amp;S approval. The public demo has no live payroll data or system writes. Final payroll approval and submission remain separate human actions. No measured time savings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AND SCOPE
[S1] pp. 6, 20–22, 28–33, 53–61 • Proposed division of work
[S1] B&amp;S payroll process(1).docx, supplied 61-page procedure. Page references use its rendered pagination. [D1] Existing synthetic demo captures. [D2] Recorded test run, 28 September 2026, commit d0e7ea164896b7f77366e5e8391b8e4ba39edb19.
All new production capabilities, roles and security controls are proposals, not deployed features. Payroll approval and submission remain distinct human actions. No measured time savings or unrestricted vendor write access is claimed.
PRESENTATION REFINEMENT
EVIDENCE AND SCOPE
[S1] B&amp;S payroll process(1).docx, supplied 61-page procedure. Page references use its rendered pagination. [D1] Existing synthetic demo screenshots preserved from the supplied briefing. [D2] Recorded synthetic test run, 28 September 2026, commit d0e7ea164896b7f77366e5e8391b8e4ba39edb19. This styling revision did not re-run tests or revalidate live vendor access. Production capabilities, hosting, roles and security controls remain proposals requiring B&amp;S approval. The public demo has no live payroll data or system writes. Final payroll approval and submission remain separate human actions. No measured time savings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optional future stages, not promises that all API writes exist or that they are in the first production release. The synthetic demo illustrates some preparation and action flows. Automated collection, workflow routing and recurrence analytics still require production implementation. Payroll approval and submission are not automated.
EVIDENCE AND SCOPE
[S1] pp. 19–33, 40–44, 58–61 • Proposed future capabilities
[S1] B&amp;S payroll process(1).docx, supplied 61-page procedure. Page references use its rendered pagination. [D1] Existing synthetic demo captures. [D2] Recorded test run, 28 September 2026, commit d0e7ea164896b7f77366e5e8391b8e4ba39edb19.
All new production capabilities, roles and security controls are proposals, not deployed features. Payroll approval and submission remain distinct human actions. No measured time savings or unrestricted vendor write access is claimed.
PRESENTATION REFINEMENT
EVIDENCE AND SCOPE
[S1] B&amp;S payroll process(1).docx, supplied 61-page procedure. Page references use its rendered pagination. [D1] Existing synthetic demo screenshots preserved from the supplied briefing. [D2] Recorded synthetic test run, 28 September 2026, commit d0e7ea164896b7f77366e5e8391b8e4ba39edb19. This styling revision did not re-run tests or revalidate live vendor access. Production capabilities, hosting, roles and security controls remain proposals requiring B&amp;S approval. The public demo has no live payroll data or system writes. Final payroll approval and submission remain separate human actions. No measured time savings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AND SCOPE
Proposed architecture • [S1] pp. 40–44 • [V3–V5]
[S1] B&amp;S payroll process(1).docx, supplied 61-page procedure. Page references use its rendered pagination. [D1] Existing synthetic demo captures. [D2] Recorded test run, 28 September 2026, commit d0e7ea164896b7f77366e5e8391b8e4ba39edb19.
All new production capabilities, roles and security controls are proposals, not deployed features. Payroll approval and submission remain distinct human actions. No measured time savings or unrestricted vendor write access is claimed.
PRESENTATION REFINEMENT
EVIDENCE AND SCOPE
[S1] B&amp;S payroll process(1).docx, supplied 61-page procedure. Page references use its rendered pagination. [D1] Existing synthetic demo screenshots preserved from the supplied briefing. [D2] Recorded synthetic test run, 28 September 2026, commit d0e7ea164896b7f77366e5e8391b8e4ba39edb19. This styling revision did not re-run tests or revalidate live vendor access. Production capabilities, hosting, roles and security controls remain proposals requiring B&amp;S approval. The public demo has no live payroll data or system writes. Final payroll approval and submission remain separate human actions. No measured time savings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AND SCOPE
Proposed access / security • [V1–V2] Microsoft Entra documentation
[S1] B&amp;S payroll process(1).docx, supplied 61-page procedure. Page references use its rendered pagination. [D1] Existing synthetic demo captures. [D2] Recorded test run, 28 September 2026, commit d0e7ea164896b7f77366e5e8391b8e4ba39edb19.
All new production capabilities, roles and security controls are proposals, not deployed features. Payroll approval and submission remain distinct human actions. No measured time savings or unrestricted vendor write access is claimed.
PRESENTATION REFINEMENT
EVIDENCE AND SCOPE
[S1] B&amp;S payroll process(1).docx, supplied 61-page procedure. Page references use its rendered pagination. [D1] Existing synthetic demo screenshots preserved from the supplied briefing. [D2] Recorded synthetic test run, 28 September 2026, commit d0e7ea164896b7f77366e5e8391b8e4ba39edb19. This styling revision did not re-run tests or revalidate live vendor access. Production capabilities, hosting, roles and security controls remain proposals requiring B&amp;S approval. The public demo has no live payroll data or system writes. Final payroll approval and submission remain separate human actions. No measured time savings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AND SCOPE
Proposed responsibilities and handover • Subject to B&amp;S agreement
[S1] B&amp;S payroll process(1).docx, supplied 61-page procedure. Page references use its rendered pagination. [D1] Existing synthetic demo captures. [D2] Recorded test run, 28 September 2026, commit d0e7ea164896b7f77366e5e8391b8e4ba39edb19.
All new production capabilities, roles and security controls are proposals, not deployed features. Payroll approval and submission remain distinct human actions. No measured time savings or unrestricted vendor write access is claimed.
PRESENTATION REFINEMENT
EVIDENCE AND SCOPE
[S1] B&amp;S payroll process(1).docx, supplied 61-page procedure. Page references use its rendered pagination. [D1] Existing synthetic demo screenshots preserved from the supplied briefing. [D2] Recorded synthetic test run, 28 September 2026, commit d0e7ea164896b7f77366e5e8391b8e4ba39edb19. This styling revision did not re-run tests or revalidate live vendor access. Production capabilities, hosting, roles and security controls remain proposals requiring B&amp;S approval. The public demo has no live payroll data or system writes. Final payroll approval and submission remain separate human actions. No measured time savings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AND SCOPE
[D2] Recorded tests, 28 Sep 2026, d0e7ea • Proposed pilot gates
[S1] B&amp;S payroll process(1).docx, supplied 61-page procedure. Page references use its rendered pagination. [D1] Existing synthetic demo captures. [D2] Recorded test run, 28 September 2026, commit d0e7ea164896b7f77366e5e8391b8e4ba39edb19.
All new production capabilities, roles and security controls are proposals, not deployed features. Payroll approval and submission remain distinct human actions. No measured time savings or unrestricted vendor write access is claimed.
PRESENTATION REFINEMENT
EVIDENCE AND SCOPE
[S1] B&amp;S payroll process(1).docx, supplied 61-page procedure. Page references use its rendered pagination. [D1] Existing synthetic demo screenshots preserved from the supplied briefing. [D2] Recorded synthetic test run, 28 September 2026, commit d0e7ea164896b7f77366e5e8391b8e4ba39edb19. This styling revision did not re-run tests or revalidate live vendor access. Production capabilities, hosting, roles and security controls remain proposals requiring B&amp;S approval. The public demo has no live payroll data or system writes. Final payroll approval and submission remain separate human actions. No measured time savings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AND SCOPE
Proposed measures • Baseline, target and budget to be agreed
[S1] B&amp;S payroll process(1).docx, supplied 61-page procedure. Page references use its rendered pagination. [D1] Existing synthetic demo captures. [D2] Recorded test run, 28 September 2026, commit d0e7ea164896b7f77366e5e8391b8e4ba39edb19.
All new production capabilities, roles and security controls are proposals, not deployed features. Payroll approval and submission remain distinct human actions. No measured time savings or unrestricted vendor write access is claimed.
PRESENTATION REFINEMENT
EVIDENCE AND SCOPE
[S1] B&amp;S payroll process(1).docx, supplied 61-page procedure. Page references use its rendered pagination. [D1] Existing synthetic demo screenshots preserved from the supplied briefing. [D2] Recorded synthetic test run, 28 September 2026, commit d0e7ea164896b7f77366e5e8391b8e4ba39edb19. This styling revision did not re-run tests or revalidate live vendor access. Production capabilities, hosting, roles and security controls remain proposals requiring B&amp;S approval. The public demo has no live payroll data or system writes. Final payroll approval and submission remain separate human actions. No measured time savings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approval request for discovery and evaluation only. It is not approval for deployment with payroll data, vendor purchases, pay-affecting writes or processing payroll in the public demo. Link buttons open optional detail in the full file; the executive PDF intentionally contains only the main presentation.
EVIDENCE AND SCOPE
Decision boundary • Optional detail in appendices A1–A8
[S1] B&amp;S payroll process(1).docx, supplied 61-page procedure. Page references use its rendered pagination. [D1] Existing synthetic demo captures. [D2] Recorded test run, 28 September 2026, commit d0e7ea164896b7f77366e5e8391b8e4ba39edb19.
All new production capabilities, roles and security controls are proposals, not deployed features. Payroll approval and submission remain distinct human actions. No measured time savings or unrestricted vendor write access is claimed.
PRESENTATION REFINEMENT
EVIDENCE AND SCOPE
[S1] B&amp;S payroll process(1).docx, supplied 61-page procedure. Page references use its rendered pagination. [D1] Existing synthetic demo screenshots preserved from the supplied briefing. [D2] Recorded synthetic test run, 28 September 2026, commit d0e7ea164896b7f77366e5e8391b8e4ba39edb19. This styling revision did not re-run tests or revalidate live vendor access. Production capabilities, hosting, roles and security controls remain proposals requiring B&amp;S approval. The public demo has no live payroll data or system writes. Final payroll approval and submission remain separate human actions. No measured time savings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demo-payroll-murex.vercel.app"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AFC"/>
        </a:solidFill>
      </p:bgPr>
    </p:bg>
    <p:spTree>
      <p:nvGrpSpPr>
        <p:cNvPr id="1" name=""/>
        <p:cNvGrpSpPr/>
        <p:nvPr/>
      </p:nvGrpSpPr>
      <p:grpSpPr>
        <a:xfrm>
          <a:off x="0" y="0"/>
          <a:ext cx="0" cy="0"/>
          <a:chOff x="0" y="0"/>
          <a:chExt cx="0" cy="0"/>
        </a:xfrm>
      </p:grpSpPr>
      <p:sp>
        <p:nvSpPr>
          <p:cNvPr id="2" name="Shape 0"/>
          <p:cNvSpPr/>
          <p:nvPr/>
        </p:nvSpPr>
        <p:spPr>
          <a:xfrm>
            <a:off x="0" y="0"/>
            <a:ext cx="12192000" cy="41148"/>
          </a:xfrm>
          <a:prstGeom prst="rect">
            <a:avLst/>
          </a:prstGeom>
          <a:solidFill>
            <a:srgbClr val="87B7B2"/>
          </a:solidFill>
          <a:ln w="12700">
            <a:solidFill>
              <a:srgbClr val="87B7B2">
                <a:alpha val="0"/>
              </a:srgbClr>
            </a:solidFill>
            <a:prstDash val="solid"/>
          </a:ln>
        </p:spPr>
      </p:sp>
      <p:sp>
        <p:nvSpPr>
          <p:cNvPr id="3" name="Text 1"/>
          <p:cNvSpPr/>
          <p:nvPr/>
        </p:nvSpPr>
        <p:spPr>
          <a:xfrm>
            <a:off x="585216" y="246888"/>
            <a:ext cx="10972800" cy="201168"/>
          </a:xfrm>
          <a:prstGeom prst="rect">
            <a:avLst/>
          </a:prstGeom>
          <a:noFill/>
          <a:ln/>
        </p:spPr>
        <p:txBody>
          <a:bodyPr wrap="square" lIns="0" tIns="0" rIns="0" bIns="0" rtlCol="0" anchor="t"/>
          <a:lstStyle/>
          <a:p>
            <a:pPr indent="0" marL="0">
              <a:buNone/>
            </a:pPr>
            <a:r>
              <a:rPr lang="en-US" sz="1000" b="1" dirty="0">
                <a:solidFill>
                  <a:srgbClr val="317F7B"/>
                </a:solidFill>
                <a:latin typeface="Arial" pitchFamily="34" charset="0"/>
                <a:ea typeface="Arial" pitchFamily="34" charset="-122"/>
                <a:cs typeface="Arial" pitchFamily="34" charset="-120"/>
              </a:rPr>
              <a:t>The proposal in one sentence</a:t>
            </a:r>
            <a:endParaRPr lang="en-US" sz="1000" dirty="0"/>
          </a:p>
        </p:txBody>
      </p:sp>
      <p:sp>
        <p:nvSpPr>
          <p:cNvPr id="4" name="Text 2"/>
          <p:cNvSpPr/>
          <p:nvPr/>
        </p:nvSpPr>
        <p:spPr>
          <a:xfrm>
            <a:off x="585216" y="658368"/>
            <a:ext cx="11027664" cy="594360"/>
          </a:xfrm>
          <a:prstGeom prst="rect">
            <a:avLst/>
          </a:prstGeom>
          <a:noFill/>
          <a:ln/>
        </p:spPr>
        <p:txBody>
          <a:bodyPr wrap="square" lIns="0" tIns="0" rIns="0" bIns="0" rtlCol="0" anchor="t"/>
          <a:lstStyle/>
          <a:p>
            <a:pPr indent="0" marL="0">
              <a:buNone/>
            </a:pPr>
            <a:r>
              <a:rPr lang="en-US" sz="2800" b="1" dirty="0">
                <a:solidFill>
                  <a:srgbClr val="233F4C"/>
                </a:solidFill>
                <a:latin typeface="Arial" pitchFamily="34" charset="0"/>
                <a:ea typeface="Arial" pitchFamily="34" charset="-122"/>
                <a:cs typeface="Arial" pitchFamily="34" charset="-120"/>
              </a:rPr>
              <a:t>One internal tool. Three existing systems.</a:t>
            </a:r>
            <a:endParaRPr lang="en-US" sz="2800" dirty="0"/>
          </a:p>
        </p:txBody>
      </p:sp>
      <p:sp>
        <p:nvSpPr>
          <p:cNvPr id="5" name="Text 3"/>
          <p:cNvSpPr/>
          <p:nvPr/>
        </p:nvSpPr>
        <p:spPr>
          <a:xfrm>
            <a:off x="594360" y="1307592"/>
            <a:ext cx="10945368" cy="530352"/>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Build a secure internal B&amp;S payroll tool that connects Raken, Jonas Enterprise and Paylocity in one workspace.</a:t>
            </a:r>
            <a:endParaRPr lang="en-US" sz="1660" dirty="0"/>
          </a:p>
        </p:txBody>
      </p:sp>
      <p:sp>
        <p:nvSpPr>
          <p:cNvPr id="6" name="Shape 4"/>
          <p:cNvSpPr/>
          <p:nvPr/>
        </p:nvSpPr>
        <p:spPr>
          <a:xfrm>
            <a:off x="585216" y="6510528"/>
            <a:ext cx="11018520" cy="0"/>
          </a:xfrm>
          <a:prstGeom prst="line">
            <a:avLst/>
          </a:prstGeom>
          <a:noFill/>
          <a:ln w="10160">
            <a:solidFill>
              <a:srgbClr val="DCE6E9"/>
            </a:solidFill>
            <a:prstDash val="solid"/>
          </a:ln>
        </p:spPr>
      </p:sp>
      <p:sp>
        <p:nvSpPr>
          <p:cNvPr id="7" name="Text 5"/>
          <p:cNvSpPr/>
          <p:nvPr/>
        </p:nvSpPr>
        <p:spPr>
          <a:xfrm>
            <a:off x="594360" y="6611112"/>
            <a:ext cx="3749040" cy="164592"/>
          </a:xfrm>
          <a:prstGeom prst="rect">
            <a:avLst/>
          </a:prstGeom>
          <a:noFill/>
          <a:ln/>
        </p:spPr>
        <p:txBody>
          <a:bodyPr wrap="square" lIns="0" tIns="0" rIns="0" bIns="0" rtlCol="0" anchor="t"/>
          <a:lstStyle/>
          <a:p>
            <a:pPr indent="0" marL="0">
              <a:buNone/>
            </a:pPr>
            <a:r>
              <a:rPr lang="en-US" sz="820" dirty="0">
                <a:solidFill>
                  <a:srgbClr val="69808A"/>
                </a:solidFill>
                <a:latin typeface="Arial" pitchFamily="34" charset="0"/>
                <a:ea typeface="Arial" pitchFamily="34" charset="-122"/>
                <a:cs typeface="Arial" pitchFamily="34" charset="-120"/>
              </a:rPr>
              <a:t>Komlan Kouhiko  /  B&amp;S payroll proposal</a:t>
            </a:r>
            <a:endParaRPr lang="en-US" sz="820" dirty="0"/>
          </a:p>
        </p:txBody>
      </p:sp>
      <p:sp>
        <p:nvSpPr>
          <p:cNvPr id="8" name="Text 6"/>
          <p:cNvSpPr/>
          <p:nvPr/>
        </p:nvSpPr>
        <p:spPr>
          <a:xfrm>
            <a:off x="4023360" y="6611112"/>
            <a:ext cx="6903720" cy="164592"/>
          </a:xfrm>
          <a:prstGeom prst="rect">
            <a:avLst/>
          </a:prstGeom>
          <a:noFill/>
          <a:ln/>
        </p:spPr>
        <p:txBody>
          <a:bodyPr wrap="square" lIns="0" tIns="0" rIns="0" bIns="0" rtlCol="0" anchor="t"/>
          <a:lstStyle/>
          <a:p>
            <a:pPr algn="r" indent="0" marL="0">
              <a:buNone/>
            </a:pPr>
            <a:r>
              <a:rPr lang="en-US" sz="805" dirty="0">
                <a:solidFill>
                  <a:srgbClr val="69808A"/>
                </a:solidFill>
                <a:latin typeface="Arial" pitchFamily="34" charset="0"/>
                <a:ea typeface="Arial" pitchFamily="34" charset="-122"/>
                <a:cs typeface="Arial" pitchFamily="34" charset="-120"/>
              </a:rPr>
              <a:t>[S1] Documented handoffs • Proposed response</a:t>
            </a:r>
            <a:endParaRPr lang="en-US" sz="805" dirty="0"/>
          </a:p>
        </p:txBody>
      </p:sp>
      <p:sp>
        <p:nvSpPr>
          <p:cNvPr id="9" name="Text 7"/>
          <p:cNvSpPr/>
          <p:nvPr/>
        </p:nvSpPr>
        <p:spPr>
          <a:xfrm>
            <a:off x="11100816" y="6592824"/>
            <a:ext cx="502920" cy="201168"/>
          </a:xfrm>
          <a:prstGeom prst="rect">
            <a:avLst/>
          </a:prstGeom>
          <a:noFill/>
          <a:ln/>
        </p:spPr>
        <p:txBody>
          <a:bodyPr wrap="square" lIns="0" tIns="0" rIns="0" bIns="0" rtlCol="0" anchor="t"/>
          <a:lstStyle/>
          <a:p>
            <a:pPr algn="r" indent="0" marL="0">
              <a:buNone/>
            </a:pPr>
            <a:r>
              <a:rPr lang="en-US" sz="920" dirty="0">
                <a:solidFill>
                  <a:srgbClr val="69808A"/>
                </a:solidFill>
                <a:latin typeface="Arial" pitchFamily="34" charset="0"/>
                <a:ea typeface="Arial" pitchFamily="34" charset="-122"/>
                <a:cs typeface="Arial" pitchFamily="34" charset="-120"/>
              </a:rPr>
              <a:t>01 / 19</a:t>
            </a:r>
            <a:endParaRPr lang="en-US" sz="920" dirty="0"/>
          </a:p>
        </p:txBody>
      </p:sp>
      <p:sp>
        <p:nvSpPr>
          <p:cNvPr id="11" name="Text 8"/>
          <p:cNvSpPr/>
          <p:nvPr/>
        </p:nvSpPr>
        <p:spPr>
          <a:xfrm>
            <a:off x="795528" y="1938528"/>
            <a:ext cx="10607040" cy="429768"/>
          </a:xfrm>
          <a:prstGeom prst="rect">
            <a:avLst/>
          </a:prstGeom>
          <a:noFill/>
          <a:ln/>
        </p:spPr>
        <p:txBody>
          <a:bodyPr wrap="square" lIns="0" tIns="0" rIns="0" bIns="0" rtlCol="0" anchor="t"/>
          <a:lstStyle/>
          <a:p>
            <a:pPr indent="0" marL="0">
              <a:buNone/>
            </a:pPr>
            <a:r>
              <a:rPr lang="en-US" sz="2400" b="1" dirty="0">
                <a:solidFill>
                  <a:srgbClr val="233F4C"/>
                </a:solidFill>
                <a:latin typeface="Arial" pitchFamily="34" charset="0"/>
                <a:ea typeface="Arial" pitchFamily="34" charset="-122"/>
                <a:cs typeface="Arial" pitchFamily="34" charset="-120"/>
              </a:rPr>
              <a:t>One place for Payroll to see the information and check it.</a:t>
            </a:r>
            <a:endParaRPr lang="en-US" sz="2400" dirty="0"/>
          </a:p>
        </p:txBody>
      </p:sp>
      <p:sp>
        <p:nvSpPr>
          <p:cNvPr id="12" name="Shape 9"/>
          <p:cNvSpPr/>
          <p:nvPr/>
        </p:nvSpPr>
        <p:spPr>
          <a:xfrm>
            <a:off x="960120" y="2569464"/>
            <a:ext cx="2944368" cy="1014984"/>
          </a:xfrm>
          <a:prstGeom prst="roundRect">
            <a:avLst>
              <a:gd name="adj" fmla="val 14414"/>
            </a:avLst>
          </a:prstGeom>
          <a:solidFill>
            <a:srgbClr val="FFF3E8"/>
          </a:solidFill>
          <a:ln w="9525">
            <a:solidFill>
              <a:srgbClr val="E4BD97"/>
            </a:solidFill>
            <a:prstDash val="solid"/>
          </a:ln>
          <a:effectLst>
            <a:outerShdw sx="100000" sy="100000" kx="0" ky="0" algn="bl" rotWithShape="0" blurRad="27940" dist="13970" dir="5400000">
              <a:srgbClr val="90A3AB">
                <a:alpha val="10000"/>
              </a:srgbClr>
            </a:outerShdw>
          </a:effectLst>
        </p:spPr>
      </p:sp>
      <p:sp>
        <p:nvSpPr>
          <p:cNvPr id="13" name="Text 10"/>
          <p:cNvSpPr/>
          <p:nvPr/>
        </p:nvSpPr>
        <p:spPr>
          <a:xfrm>
            <a:off x="1170432" y="2779776"/>
            <a:ext cx="2532888" cy="475488"/>
          </a:xfrm>
          <a:prstGeom prst="rect">
            <a:avLst/>
          </a:prstGeom>
          <a:noFill/>
          <a:ln/>
        </p:spPr>
        <p:txBody>
          <a:bodyPr wrap="square" lIns="0" tIns="0" rIns="0" bIns="0" rtlCol="0" anchor="t"/>
          <a:lstStyle/>
          <a:p>
            <a:pPr indent="0" marL="0">
              <a:buNone/>
            </a:pPr>
            <a:r>
              <a:rPr lang="en-US" sz="1940" b="1" dirty="0">
                <a:solidFill>
                  <a:srgbClr val="AA642D"/>
                </a:solidFill>
                <a:latin typeface="Arial" pitchFamily="34" charset="0"/>
                <a:ea typeface="Arial" pitchFamily="34" charset="-122"/>
                <a:cs typeface="Arial" pitchFamily="34" charset="-120"/>
              </a:rPr>
              <a:t>Raken</a:t>
            </a:r>
            <a:endParaRPr lang="en-US" sz="1940" dirty="0"/>
          </a:p>
        </p:txBody>
      </p:sp>
      <p:sp>
        <p:nvSpPr>
          <p:cNvPr id="14" name="Text 11"/>
          <p:cNvSpPr/>
          <p:nvPr/>
        </p:nvSpPr>
        <p:spPr>
          <a:xfrm>
            <a:off x="1170432" y="3127248"/>
            <a:ext cx="2523744" cy="292608"/>
          </a:xfrm>
          <a:prstGeom prst="rect">
            <a:avLst/>
          </a:prstGeom>
          <a:noFill/>
          <a:ln/>
        </p:spPr>
        <p:txBody>
          <a:bodyPr wrap="square" lIns="0" tIns="0" rIns="0" bIns="0" rtlCol="0" anchor="t"/>
          <a:lstStyle/>
          <a:p>
            <a:pPr indent="0" marL="0">
              <a:buNone/>
            </a:pPr>
            <a:r>
              <a:rPr lang="en-US" sz="1420" dirty="0">
                <a:solidFill>
                  <a:srgbClr val="465D68"/>
                </a:solidFill>
                <a:latin typeface="Arial" pitchFamily="34" charset="0"/>
                <a:ea typeface="Arial" pitchFamily="34" charset="-122"/>
                <a:cs typeface="Arial" pitchFamily="34" charset="-120"/>
              </a:rPr>
              <a:t>Field time and project details</a:t>
            </a:r>
            <a:endParaRPr lang="en-US" sz="1420" dirty="0"/>
          </a:p>
        </p:txBody>
      </p:sp>
      <p:sp>
        <p:nvSpPr>
          <p:cNvPr id="15" name="Shape 12"/>
          <p:cNvSpPr/>
          <p:nvPr/>
        </p:nvSpPr>
        <p:spPr>
          <a:xfrm>
            <a:off x="2432304" y="3621024"/>
            <a:ext cx="0" cy="182880"/>
          </a:xfrm>
          <a:prstGeom prst="line">
            <a:avLst/>
          </a:prstGeom>
          <a:noFill/>
          <a:ln w="15240">
            <a:solidFill>
              <a:srgbClr val="E4BD97"/>
            </a:solidFill>
            <a:prstDash val="solid"/>
            <a:tailEnd type="triangle"/>
          </a:ln>
        </p:spPr>
      </p:sp>
      <p:sp>
        <p:nvSpPr>
          <p:cNvPr id="16" name="Shape 13"/>
          <p:cNvSpPr/>
          <p:nvPr/>
        </p:nvSpPr>
        <p:spPr>
          <a:xfrm>
            <a:off x="4251960" y="2569464"/>
            <a:ext cx="2944368" cy="1014984"/>
          </a:xfrm>
          <a:prstGeom prst="roundRect">
            <a:avLst>
              <a:gd name="adj" fmla="val 14414"/>
            </a:avLst>
          </a:prstGeom>
          <a:solidFill>
            <a:srgbClr val="EEF4FD"/>
          </a:solidFill>
          <a:ln w="9525">
            <a:solidFill>
              <a:srgbClr val="B3CDED"/>
            </a:solidFill>
            <a:prstDash val="solid"/>
          </a:ln>
          <a:effectLst>
            <a:outerShdw sx="100000" sy="100000" kx="0" ky="0" algn="bl" rotWithShape="0" blurRad="27940" dist="13970" dir="5400000">
              <a:srgbClr val="90A3AB">
                <a:alpha val="10000"/>
              </a:srgbClr>
            </a:outerShdw>
          </a:effectLst>
        </p:spPr>
      </p:sp>
      <p:sp>
        <p:nvSpPr>
          <p:cNvPr id="17" name="Text 14"/>
          <p:cNvSpPr/>
          <p:nvPr/>
        </p:nvSpPr>
        <p:spPr>
          <a:xfrm>
            <a:off x="4462272" y="2779776"/>
            <a:ext cx="2532888" cy="475488"/>
          </a:xfrm>
          <a:prstGeom prst="rect">
            <a:avLst/>
          </a:prstGeom>
          <a:noFill/>
          <a:ln/>
        </p:spPr>
        <p:txBody>
          <a:bodyPr wrap="square" lIns="0" tIns="0" rIns="0" bIns="0" rtlCol="0" anchor="t"/>
          <a:lstStyle/>
          <a:p>
            <a:pPr indent="0" marL="0">
              <a:buNone/>
            </a:pPr>
            <a:r>
              <a:rPr lang="en-US" sz="1940" b="1" dirty="0">
                <a:solidFill>
                  <a:srgbClr val="346DA9"/>
                </a:solidFill>
                <a:latin typeface="Arial" pitchFamily="34" charset="0"/>
                <a:ea typeface="Arial" pitchFamily="34" charset="-122"/>
                <a:cs typeface="Arial" pitchFamily="34" charset="-120"/>
              </a:rPr>
              <a:t>Jonas Enterprise</a:t>
            </a:r>
            <a:endParaRPr lang="en-US" sz="1940" dirty="0"/>
          </a:p>
        </p:txBody>
      </p:sp>
      <p:sp>
        <p:nvSpPr>
          <p:cNvPr id="18" name="Text 15"/>
          <p:cNvSpPr/>
          <p:nvPr/>
        </p:nvSpPr>
        <p:spPr>
          <a:xfrm>
            <a:off x="4462272" y="3127248"/>
            <a:ext cx="2523744" cy="292608"/>
          </a:xfrm>
          <a:prstGeom prst="rect">
            <a:avLst/>
          </a:prstGeom>
          <a:noFill/>
          <a:ln/>
        </p:spPr>
        <p:txBody>
          <a:bodyPr wrap="square" lIns="0" tIns="0" rIns="0" bIns="0" rtlCol="0" anchor="t"/>
          <a:lstStyle/>
          <a:p>
            <a:pPr indent="0" marL="0">
              <a:buNone/>
            </a:pPr>
            <a:r>
              <a:rPr lang="en-US" sz="1420" dirty="0">
                <a:solidFill>
                  <a:srgbClr val="465D68"/>
                </a:solidFill>
                <a:latin typeface="Arial" pitchFamily="34" charset="0"/>
                <a:ea typeface="Arial" pitchFamily="34" charset="-122"/>
                <a:cs typeface="Arial" pitchFamily="34" charset="-120"/>
              </a:rPr>
              <a:t>Prepared payroll and job cost</a:t>
            </a:r>
            <a:endParaRPr lang="en-US" sz="1420" dirty="0"/>
          </a:p>
        </p:txBody>
      </p:sp>
      <p:sp>
        <p:nvSpPr>
          <p:cNvPr id="19" name="Shape 16"/>
          <p:cNvSpPr/>
          <p:nvPr/>
        </p:nvSpPr>
        <p:spPr>
          <a:xfrm>
            <a:off x="5724144" y="3621024"/>
            <a:ext cx="0" cy="182880"/>
          </a:xfrm>
          <a:prstGeom prst="line">
            <a:avLst/>
          </a:prstGeom>
          <a:noFill/>
          <a:ln w="15240">
            <a:solidFill>
              <a:srgbClr val="B3CDED"/>
            </a:solidFill>
            <a:prstDash val="solid"/>
            <a:tailEnd type="triangle"/>
          </a:ln>
        </p:spPr>
      </p:sp>
      <p:sp>
        <p:nvSpPr>
          <p:cNvPr id="20" name="Shape 17"/>
          <p:cNvSpPr/>
          <p:nvPr/>
        </p:nvSpPr>
        <p:spPr>
          <a:xfrm>
            <a:off x="7543800" y="2569464"/>
            <a:ext cx="2944368" cy="1014984"/>
          </a:xfrm>
          <a:prstGeom prst="roundRect">
            <a:avLst>
              <a:gd name="adj" fmla="val 14414"/>
            </a:avLst>
          </a:prstGeom>
          <a:solidFill>
            <a:srgbClr val="EDF8F1"/>
          </a:solidFill>
          <a:ln w="9525">
            <a:solidFill>
              <a:srgbClr val="A4CCB9"/>
            </a:solidFill>
            <a:prstDash val="solid"/>
          </a:ln>
          <a:effectLst>
            <a:outerShdw sx="100000" sy="100000" kx="0" ky="0" algn="bl" rotWithShape="0" blurRad="27940" dist="13970" dir="5400000">
              <a:srgbClr val="90A3AB">
                <a:alpha val="10000"/>
              </a:srgbClr>
            </a:outerShdw>
          </a:effectLst>
        </p:spPr>
      </p:sp>
      <p:sp>
        <p:nvSpPr>
          <p:cNvPr id="21" name="Text 18"/>
          <p:cNvSpPr/>
          <p:nvPr/>
        </p:nvSpPr>
        <p:spPr>
          <a:xfrm>
            <a:off x="7754112" y="2779776"/>
            <a:ext cx="2532888" cy="475488"/>
          </a:xfrm>
          <a:prstGeom prst="rect">
            <a:avLst/>
          </a:prstGeom>
          <a:noFill/>
          <a:ln/>
        </p:spPr>
        <p:txBody>
          <a:bodyPr wrap="square" lIns="0" tIns="0" rIns="0" bIns="0" rtlCol="0" anchor="t"/>
          <a:lstStyle/>
          <a:p>
            <a:pPr indent="0" marL="0">
              <a:buNone/>
            </a:pPr>
            <a:r>
              <a:rPr lang="en-US" sz="1940" b="1" dirty="0">
                <a:solidFill>
                  <a:srgbClr val="287B5B"/>
                </a:solidFill>
                <a:latin typeface="Arial" pitchFamily="34" charset="0"/>
                <a:ea typeface="Arial" pitchFamily="34" charset="-122"/>
                <a:cs typeface="Arial" pitchFamily="34" charset="-120"/>
              </a:rPr>
              <a:t>Paylocity</a:t>
            </a:r>
            <a:endParaRPr lang="en-US" sz="1940" dirty="0"/>
          </a:p>
        </p:txBody>
      </p:sp>
      <p:sp>
        <p:nvSpPr>
          <p:cNvPr id="22" name="Text 19"/>
          <p:cNvSpPr/>
          <p:nvPr/>
        </p:nvSpPr>
        <p:spPr>
          <a:xfrm>
            <a:off x="7754112" y="3127248"/>
            <a:ext cx="2523744" cy="292608"/>
          </a:xfrm>
          <a:prstGeom prst="rect">
            <a:avLst/>
          </a:prstGeom>
          <a:noFill/>
          <a:ln/>
        </p:spPr>
        <p:txBody>
          <a:bodyPr wrap="square" lIns="0" tIns="0" rIns="0" bIns="0" rtlCol="0" anchor="t"/>
          <a:lstStyle/>
          <a:p>
            <a:pPr indent="0" marL="0">
              <a:buNone/>
            </a:pPr>
            <a:r>
              <a:rPr lang="en-US" sz="1420" dirty="0">
                <a:solidFill>
                  <a:srgbClr val="465D68"/>
                </a:solidFill>
                <a:latin typeface="Arial" pitchFamily="34" charset="0"/>
                <a:ea typeface="Arial" pitchFamily="34" charset="-122"/>
                <a:cs typeface="Arial" pitchFamily="34" charset="-120"/>
              </a:rPr>
              <a:t>Employee pay records and batches</a:t>
            </a:r>
            <a:endParaRPr lang="en-US" sz="1420" dirty="0"/>
          </a:p>
        </p:txBody>
      </p:sp>
      <p:sp>
        <p:nvSpPr>
          <p:cNvPr id="23" name="Shape 20"/>
          <p:cNvSpPr/>
          <p:nvPr/>
        </p:nvSpPr>
        <p:spPr>
          <a:xfrm>
            <a:off x="9015984" y="3621024"/>
            <a:ext cx="0" cy="182880"/>
          </a:xfrm>
          <a:prstGeom prst="line">
            <a:avLst/>
          </a:prstGeom>
          <a:noFill/>
          <a:ln w="15240">
            <a:solidFill>
              <a:srgbClr val="A4CCB9"/>
            </a:solidFill>
            <a:prstDash val="solid"/>
            <a:tailEnd type="triangle"/>
          </a:ln>
        </p:spPr>
      </p:sp>
      <p:sp>
        <p:nvSpPr>
          <p:cNvPr id="24" name="Shape 21"/>
          <p:cNvSpPr/>
          <p:nvPr/>
        </p:nvSpPr>
        <p:spPr>
          <a:xfrm>
            <a:off x="960120" y="3867912"/>
            <a:ext cx="9528048" cy="822960"/>
          </a:xfrm>
          <a:prstGeom prst="roundRect">
            <a:avLst>
              <a:gd name="adj" fmla="val 17778"/>
            </a:avLst>
          </a:prstGeom>
          <a:solidFill>
            <a:srgbClr val="FFFFFF"/>
          </a:solidFill>
          <a:ln w="9525">
            <a:solidFill>
              <a:srgbClr val="87B7B2"/>
            </a:solidFill>
            <a:prstDash val="solid"/>
          </a:ln>
          <a:effectLst>
            <a:outerShdw sx="100000" sy="100000" kx="0" ky="0" algn="bl" rotWithShape="0" blurRad="27940" dist="13970" dir="5400000">
              <a:srgbClr val="90A3AB">
                <a:alpha val="10000"/>
              </a:srgbClr>
            </a:outerShdw>
          </a:effectLst>
        </p:spPr>
      </p:sp>
      <p:sp>
        <p:nvSpPr>
          <p:cNvPr id="25" name="Text 22"/>
          <p:cNvSpPr/>
          <p:nvPr/>
        </p:nvSpPr>
        <p:spPr>
          <a:xfrm>
            <a:off x="1216152" y="4087368"/>
            <a:ext cx="4434840" cy="356616"/>
          </a:xfrm>
          <a:prstGeom prst="rect">
            <a:avLst/>
          </a:prstGeom>
          <a:noFill/>
          <a:ln/>
        </p:spPr>
        <p:txBody>
          <a:bodyPr wrap="square" lIns="0" tIns="0" rIns="0" bIns="0" rtlCol="0" anchor="t"/>
          <a:lstStyle/>
          <a:p>
            <a:pPr indent="0" marL="0">
              <a:buNone/>
            </a:pPr>
            <a:r>
              <a:rPr lang="en-US" sz="2200" b="1" dirty="0">
                <a:solidFill>
                  <a:srgbClr val="233F4C"/>
                </a:solidFill>
                <a:latin typeface="Arial" pitchFamily="34" charset="0"/>
                <a:ea typeface="Arial" pitchFamily="34" charset="-122"/>
                <a:cs typeface="Arial" pitchFamily="34" charset="-120"/>
              </a:rPr>
              <a:t>B&amp;S internal payroll tool</a:t>
            </a:r>
            <a:endParaRPr lang="en-US" sz="2200" dirty="0"/>
          </a:p>
        </p:txBody>
      </p:sp>
      <p:sp>
        <p:nvSpPr>
          <p:cNvPr id="26" name="Text 23"/>
          <p:cNvSpPr/>
          <p:nvPr/>
        </p:nvSpPr>
        <p:spPr>
          <a:xfrm>
            <a:off x="5669280" y="4133088"/>
            <a:ext cx="4526280" cy="274320"/>
          </a:xfrm>
          <a:prstGeom prst="rect">
            <a:avLst/>
          </a:prstGeom>
          <a:noFill/>
          <a:ln/>
        </p:spPr>
        <p:txBody>
          <a:bodyPr wrap="square" lIns="0" tIns="0" rIns="0" bIns="0" rtlCol="0" anchor="t"/>
          <a:lstStyle/>
          <a:p>
            <a:pPr indent="0" marL="0">
              <a:buNone/>
            </a:pPr>
            <a:r>
              <a:rPr lang="en-US" sz="1700" dirty="0">
                <a:solidFill>
                  <a:srgbClr val="317F7B"/>
                </a:solidFill>
                <a:latin typeface="Arial" pitchFamily="34" charset="0"/>
                <a:ea typeface="Arial" pitchFamily="34" charset="-122"/>
                <a:cs typeface="Arial" pitchFamily="34" charset="-120"/>
              </a:rPr>
              <a:t>Collect  →  Compare  →  Explain  →  Verify</a:t>
            </a:r>
            <a:endParaRPr lang="en-US" sz="1700" dirty="0"/>
          </a:p>
        </p:txBody>
      </p:sp>
      <p:sp>
        <p:nvSpPr>
          <p:cNvPr id="27" name="Shape 24"/>
          <p:cNvSpPr/>
          <p:nvPr/>
        </p:nvSpPr>
        <p:spPr>
          <a:xfrm>
            <a:off x="960120" y="4974336"/>
            <a:ext cx="2944368" cy="1124712"/>
          </a:xfrm>
          <a:prstGeom prst="roundRect">
            <a:avLst>
              <a:gd name="adj" fmla="val 13008"/>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28" name="Text 25"/>
          <p:cNvSpPr/>
          <p:nvPr/>
        </p:nvSpPr>
        <p:spPr>
          <a:xfrm>
            <a:off x="1170432" y="5184648"/>
            <a:ext cx="2532888" cy="475488"/>
          </a:xfrm>
          <a:prstGeom prst="rect">
            <a:avLst/>
          </a:prstGeom>
          <a:noFill/>
          <a:ln/>
        </p:spPr>
        <p:txBody>
          <a:bodyPr wrap="square" lIns="0" tIns="0" rIns="0" bIns="0" rtlCol="0" anchor="t"/>
          <a:lstStyle/>
          <a:p>
            <a:pPr indent="0" marL="0">
              <a:buNone/>
            </a:pPr>
            <a:r>
              <a:rPr lang="en-US" sz="1660" b="1" dirty="0">
                <a:solidFill>
                  <a:srgbClr val="233F4C"/>
                </a:solidFill>
                <a:latin typeface="Arial" pitchFamily="34" charset="0"/>
                <a:ea typeface="Arial" pitchFamily="34" charset="-122"/>
                <a:cs typeface="Arial" pitchFamily="34" charset="-120"/>
              </a:rPr>
              <a:t>Keep the systems</a:t>
            </a:r>
            <a:endParaRPr lang="en-US" sz="1660" dirty="0"/>
          </a:p>
        </p:txBody>
      </p:sp>
      <p:sp>
        <p:nvSpPr>
          <p:cNvPr id="29" name="Text 26"/>
          <p:cNvSpPr/>
          <p:nvPr/>
        </p:nvSpPr>
        <p:spPr>
          <a:xfrm>
            <a:off x="1170432" y="5504688"/>
            <a:ext cx="2523744" cy="429768"/>
          </a:xfrm>
          <a:prstGeom prst="rect">
            <a:avLst/>
          </a:prstGeom>
          <a:noFill/>
          <a:ln/>
        </p:spPr>
        <p:txBody>
          <a:bodyPr wrap="square" lIns="0" tIns="0" rIns="0" bIns="0" rtlCol="0" anchor="t"/>
          <a:lstStyle/>
          <a:p>
            <a:pPr indent="0" marL="0">
              <a:buNone/>
            </a:pPr>
            <a:r>
              <a:rPr lang="en-US" sz="1420" dirty="0">
                <a:solidFill>
                  <a:srgbClr val="465D68"/>
                </a:solidFill>
                <a:latin typeface="Arial" pitchFamily="34" charset="0"/>
                <a:ea typeface="Arial" pitchFamily="34" charset="-122"/>
                <a:cs typeface="Arial" pitchFamily="34" charset="-120"/>
              </a:rPr>
              <a:t>Raken, Jonas and Paylocity keep their jobs.</a:t>
            </a:r>
            <a:endParaRPr lang="en-US" sz="1420" dirty="0"/>
          </a:p>
        </p:txBody>
      </p:sp>
      <p:sp>
        <p:nvSpPr>
          <p:cNvPr id="30" name="Shape 27"/>
          <p:cNvSpPr/>
          <p:nvPr/>
        </p:nvSpPr>
        <p:spPr>
          <a:xfrm>
            <a:off x="4251960" y="4974336"/>
            <a:ext cx="2944368" cy="1124712"/>
          </a:xfrm>
          <a:prstGeom prst="roundRect">
            <a:avLst>
              <a:gd name="adj" fmla="val 13008"/>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31" name="Text 28"/>
          <p:cNvSpPr/>
          <p:nvPr/>
        </p:nvSpPr>
        <p:spPr>
          <a:xfrm>
            <a:off x="4462272" y="5184648"/>
            <a:ext cx="2532888" cy="475488"/>
          </a:xfrm>
          <a:prstGeom prst="rect">
            <a:avLst/>
          </a:prstGeom>
          <a:noFill/>
          <a:ln/>
        </p:spPr>
        <p:txBody>
          <a:bodyPr wrap="square" lIns="0" tIns="0" rIns="0" bIns="0" rtlCol="0" anchor="t"/>
          <a:lstStyle/>
          <a:p>
            <a:pPr indent="0" marL="0">
              <a:buNone/>
            </a:pPr>
            <a:r>
              <a:rPr lang="en-US" sz="1660" b="1" dirty="0">
                <a:solidFill>
                  <a:srgbClr val="233F4C"/>
                </a:solidFill>
                <a:latin typeface="Arial" pitchFamily="34" charset="0"/>
                <a:ea typeface="Arial" pitchFamily="34" charset="-122"/>
                <a:cs typeface="Arial" pitchFamily="34" charset="-120"/>
              </a:rPr>
              <a:t>Make checking easier</a:t>
            </a:r>
            <a:endParaRPr lang="en-US" sz="1660" dirty="0"/>
          </a:p>
        </p:txBody>
      </p:sp>
      <p:sp>
        <p:nvSpPr>
          <p:cNvPr id="32" name="Text 29"/>
          <p:cNvSpPr/>
          <p:nvPr/>
        </p:nvSpPr>
        <p:spPr>
          <a:xfrm>
            <a:off x="4462272" y="5504688"/>
            <a:ext cx="2523744" cy="429768"/>
          </a:xfrm>
          <a:prstGeom prst="rect">
            <a:avLst/>
          </a:prstGeom>
          <a:noFill/>
          <a:ln/>
        </p:spPr>
        <p:txBody>
          <a:bodyPr wrap="square" lIns="0" tIns="0" rIns="0" bIns="0" rtlCol="0" anchor="t"/>
          <a:lstStyle/>
          <a:p>
            <a:pPr indent="0" marL="0">
              <a:buNone/>
            </a:pPr>
            <a:r>
              <a:rPr lang="en-US" sz="1420" dirty="0">
                <a:solidFill>
                  <a:srgbClr val="465D68"/>
                </a:solidFill>
                <a:latin typeface="Arial" pitchFamily="34" charset="0"/>
                <a:ea typeface="Arial" pitchFamily="34" charset="-122"/>
                <a:cs typeface="Arial" pitchFamily="34" charset="-120"/>
              </a:rPr>
              <a:t>Bring records together and highlight what needs attention.</a:t>
            </a:r>
            <a:endParaRPr lang="en-US" sz="1420" dirty="0"/>
          </a:p>
        </p:txBody>
      </p:sp>
      <p:sp>
        <p:nvSpPr>
          <p:cNvPr id="33" name="Shape 30"/>
          <p:cNvSpPr/>
          <p:nvPr/>
        </p:nvSpPr>
        <p:spPr>
          <a:xfrm>
            <a:off x="7543800" y="4974336"/>
            <a:ext cx="2944368" cy="1124712"/>
          </a:xfrm>
          <a:prstGeom prst="roundRect">
            <a:avLst>
              <a:gd name="adj" fmla="val 13008"/>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34" name="Text 31"/>
          <p:cNvSpPr/>
          <p:nvPr/>
        </p:nvSpPr>
        <p:spPr>
          <a:xfrm>
            <a:off x="7754112" y="5184648"/>
            <a:ext cx="2532888" cy="475488"/>
          </a:xfrm>
          <a:prstGeom prst="rect">
            <a:avLst/>
          </a:prstGeom>
          <a:noFill/>
          <a:ln/>
        </p:spPr>
        <p:txBody>
          <a:bodyPr wrap="square" lIns="0" tIns="0" rIns="0" bIns="0" rtlCol="0" anchor="t"/>
          <a:lstStyle/>
          <a:p>
            <a:pPr indent="0" marL="0">
              <a:buNone/>
            </a:pPr>
            <a:r>
              <a:rPr lang="en-US" sz="1660" b="1" dirty="0">
                <a:solidFill>
                  <a:srgbClr val="233F4C"/>
                </a:solidFill>
                <a:latin typeface="Arial" pitchFamily="34" charset="0"/>
                <a:ea typeface="Arial" pitchFamily="34" charset="-122"/>
                <a:cs typeface="Arial" pitchFamily="34" charset="-120"/>
              </a:rPr>
              <a:t>Keep human control</a:t>
            </a:r>
            <a:endParaRPr lang="en-US" sz="1660" dirty="0"/>
          </a:p>
        </p:txBody>
      </p:sp>
      <p:sp>
        <p:nvSpPr>
          <p:cNvPr id="35" name="Text 32"/>
          <p:cNvSpPr/>
          <p:nvPr/>
        </p:nvSpPr>
        <p:spPr>
          <a:xfrm>
            <a:off x="7754112" y="5504688"/>
            <a:ext cx="2523744" cy="429768"/>
          </a:xfrm>
          <a:prstGeom prst="rect">
            <a:avLst/>
          </a:prstGeom>
          <a:noFill/>
          <a:ln/>
        </p:spPr>
        <p:txBody>
          <a:bodyPr wrap="square" lIns="0" tIns="0" rIns="0" bIns="0" rtlCol="0" anchor="t"/>
          <a:lstStyle/>
          <a:p>
            <a:pPr indent="0" marL="0">
              <a:buNone/>
            </a:pPr>
            <a:r>
              <a:rPr lang="en-US" sz="1420" dirty="0">
                <a:solidFill>
                  <a:srgbClr val="465D68"/>
                </a:solidFill>
                <a:latin typeface="Arial" pitchFamily="34" charset="0"/>
                <a:ea typeface="Arial" pitchFamily="34" charset="-122"/>
                <a:cs typeface="Arial" pitchFamily="34" charset="-120"/>
              </a:rPr>
              <a:t>Payroll approves, then submits in a separate step.</a:t>
            </a:r>
            <a:endParaRPr lang="en-US" sz="1420" dirty="0"/>
          </a:p>
        </p:txBody>
      </p:sp>
      <p:sp>
        <p:nvSpPr>
          <p:cNvPr id="36" name="Text 33"/>
          <p:cNvSpPr/>
          <p:nvPr/>
        </p:nvSpPr>
        <p:spPr>
          <a:xfrm>
            <a:off x="987552" y="6227064"/>
            <a:ext cx="9144000" cy="164592"/>
          </a:xfrm>
          <a:prstGeom prst="rect">
            <a:avLst/>
          </a:prstGeom>
          <a:noFill/>
          <a:ln/>
        </p:spPr>
        <p:txBody>
          <a:bodyPr wrap="square" lIns="0" tIns="0" rIns="0" bIns="0" rtlCol="0" anchor="t"/>
          <a:lstStyle/>
          <a:p>
            <a:pPr indent="0" marL="0">
              <a:buNone/>
            </a:pPr>
            <a:r>
              <a:rPr lang="en-US" sz="900" dirty="0">
                <a:solidFill>
                  <a:srgbClr val="69808A"/>
                </a:solidFill>
                <a:latin typeface="Arial" pitchFamily="34" charset="0"/>
                <a:ea typeface="Arial" pitchFamily="34" charset="-122"/>
                <a:cs typeface="Arial" pitchFamily="34" charset="-120"/>
              </a:rPr>
              <a:t>Prepared for Andrew Van Dellen • Proposal evidence dated 28 September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AFC"/>
        </a:solidFill>
      </p:bgPr>
    </p:bg>
    <p:spTree>
      <p:nvGrpSpPr>
        <p:cNvPr id="1" name=""/>
        <p:cNvGrpSpPr/>
        <p:nvPr/>
      </p:nvGrpSpPr>
      <p:grpSpPr>
        <a:xfrm>
          <a:off x="0" y="0"/>
          <a:ext cx="0" cy="0"/>
          <a:chOff x="0" y="0"/>
          <a:chExt cx="0" cy="0"/>
        </a:xfrm>
      </p:grpSpPr>
      <p:sp>
        <p:nvSpPr>
          <p:cNvPr id="2" name="Shape 0"/>
          <p:cNvSpPr/>
          <p:nvPr/>
        </p:nvSpPr>
        <p:spPr>
          <a:xfrm>
            <a:off x="0" y="0"/>
            <a:ext cx="12192000" cy="41148"/>
          </a:xfrm>
          <a:prstGeom prst="rect">
            <a:avLst/>
          </a:prstGeom>
          <a:solidFill>
            <a:srgbClr val="87B7B2"/>
          </a:solidFill>
          <a:ln w="12700">
            <a:solidFill>
              <a:srgbClr val="87B7B2">
                <a:alpha val="0"/>
              </a:srgbClr>
            </a:solidFill>
            <a:prstDash val="solid"/>
          </a:ln>
        </p:spPr>
      </p:sp>
      <p:sp>
        <p:nvSpPr>
          <p:cNvPr id="3" name="Text 1"/>
          <p:cNvSpPr/>
          <p:nvPr/>
        </p:nvSpPr>
        <p:spPr>
          <a:xfrm>
            <a:off x="585216" y="246888"/>
            <a:ext cx="10972800" cy="201168"/>
          </a:xfrm>
          <a:prstGeom prst="rect">
            <a:avLst/>
          </a:prstGeom>
          <a:noFill/>
          <a:ln/>
        </p:spPr>
        <p:txBody>
          <a:bodyPr wrap="square" lIns="0" tIns="0" rIns="0" bIns="0" rtlCol="0" anchor="t"/>
          <a:lstStyle/>
          <a:p>
            <a:pPr indent="0" marL="0">
              <a:buNone/>
            </a:pPr>
            <a:r>
              <a:rPr lang="en-US" sz="1000" b="1" dirty="0">
                <a:solidFill>
                  <a:srgbClr val="317F7B"/>
                </a:solidFill>
                <a:latin typeface="Arial" pitchFamily="34" charset="0"/>
                <a:ea typeface="Arial" pitchFamily="34" charset="-122"/>
                <a:cs typeface="Arial" pitchFamily="34" charset="-120"/>
              </a:rPr>
              <a:t>Start with the problem</a:t>
            </a:r>
            <a:endParaRPr lang="en-US" sz="1000" dirty="0"/>
          </a:p>
        </p:txBody>
      </p:sp>
      <p:sp>
        <p:nvSpPr>
          <p:cNvPr id="4" name="Text 2"/>
          <p:cNvSpPr/>
          <p:nvPr/>
        </p:nvSpPr>
        <p:spPr>
          <a:xfrm>
            <a:off x="585216" y="658368"/>
            <a:ext cx="11027664" cy="594360"/>
          </a:xfrm>
          <a:prstGeom prst="rect">
            <a:avLst/>
          </a:prstGeom>
          <a:noFill/>
          <a:ln/>
        </p:spPr>
        <p:txBody>
          <a:bodyPr wrap="square" lIns="0" tIns="0" rIns="0" bIns="0" rtlCol="0" anchor="t"/>
          <a:lstStyle/>
          <a:p>
            <a:pPr indent="0" marL="0">
              <a:buNone/>
            </a:pPr>
            <a:r>
              <a:rPr lang="en-US" sz="2800" b="1" dirty="0">
                <a:solidFill>
                  <a:srgbClr val="233F4C"/>
                </a:solidFill>
                <a:latin typeface="Arial" pitchFamily="34" charset="0"/>
                <a:ea typeface="Arial" pitchFamily="34" charset="-122"/>
                <a:cs typeface="Arial" pitchFamily="34" charset="-120"/>
              </a:rPr>
              <a:t>Today, Payroll brings the pieces together by hand</a:t>
            </a:r>
            <a:endParaRPr lang="en-US" sz="2800" dirty="0"/>
          </a:p>
        </p:txBody>
      </p:sp>
      <p:sp>
        <p:nvSpPr>
          <p:cNvPr id="5" name="Text 3"/>
          <p:cNvSpPr/>
          <p:nvPr/>
        </p:nvSpPr>
        <p:spPr>
          <a:xfrm>
            <a:off x="594360" y="1307592"/>
            <a:ext cx="10945368" cy="530352"/>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The process already uses macros, uploads and a converter. People still do much of the moving and checking.</a:t>
            </a:r>
            <a:endParaRPr lang="en-US" sz="1660" dirty="0"/>
          </a:p>
        </p:txBody>
      </p:sp>
      <p:sp>
        <p:nvSpPr>
          <p:cNvPr id="6" name="Shape 4"/>
          <p:cNvSpPr/>
          <p:nvPr/>
        </p:nvSpPr>
        <p:spPr>
          <a:xfrm>
            <a:off x="585216" y="6510528"/>
            <a:ext cx="11018520" cy="0"/>
          </a:xfrm>
          <a:prstGeom prst="line">
            <a:avLst/>
          </a:prstGeom>
          <a:noFill/>
          <a:ln w="10160">
            <a:solidFill>
              <a:srgbClr val="DCE6E9"/>
            </a:solidFill>
            <a:prstDash val="solid"/>
          </a:ln>
        </p:spPr>
      </p:sp>
      <p:sp>
        <p:nvSpPr>
          <p:cNvPr id="7" name="Text 5"/>
          <p:cNvSpPr/>
          <p:nvPr/>
        </p:nvSpPr>
        <p:spPr>
          <a:xfrm>
            <a:off x="594360" y="6611112"/>
            <a:ext cx="3749040" cy="164592"/>
          </a:xfrm>
          <a:prstGeom prst="rect">
            <a:avLst/>
          </a:prstGeom>
          <a:noFill/>
          <a:ln/>
        </p:spPr>
        <p:txBody>
          <a:bodyPr wrap="square" lIns="0" tIns="0" rIns="0" bIns="0" rtlCol="0" anchor="t"/>
          <a:lstStyle/>
          <a:p>
            <a:pPr indent="0" marL="0">
              <a:buNone/>
            </a:pPr>
            <a:r>
              <a:rPr lang="en-US" sz="820" dirty="0">
                <a:solidFill>
                  <a:srgbClr val="69808A"/>
                </a:solidFill>
                <a:latin typeface="Arial" pitchFamily="34" charset="0"/>
                <a:ea typeface="Arial" pitchFamily="34" charset="-122"/>
                <a:cs typeface="Arial" pitchFamily="34" charset="-120"/>
              </a:rPr>
              <a:t>Komlan Kouhiko  /  B&amp;S payroll proposal</a:t>
            </a:r>
            <a:endParaRPr lang="en-US" sz="820" dirty="0"/>
          </a:p>
        </p:txBody>
      </p:sp>
      <p:sp>
        <p:nvSpPr>
          <p:cNvPr id="8" name="Text 6"/>
          <p:cNvSpPr/>
          <p:nvPr/>
        </p:nvSpPr>
        <p:spPr>
          <a:xfrm>
            <a:off x="4023360" y="6611112"/>
            <a:ext cx="6903720" cy="164592"/>
          </a:xfrm>
          <a:prstGeom prst="rect">
            <a:avLst/>
          </a:prstGeom>
          <a:noFill/>
          <a:ln/>
        </p:spPr>
        <p:txBody>
          <a:bodyPr wrap="square" lIns="0" tIns="0" rIns="0" bIns="0" rtlCol="0" anchor="t"/>
          <a:lstStyle/>
          <a:p>
            <a:pPr algn="r" indent="0" marL="0">
              <a:buNone/>
            </a:pPr>
            <a:r>
              <a:rPr lang="en-US" sz="805" dirty="0">
                <a:solidFill>
                  <a:srgbClr val="69808A"/>
                </a:solidFill>
                <a:latin typeface="Arial" pitchFamily="34" charset="0"/>
                <a:ea typeface="Arial" pitchFamily="34" charset="-122"/>
                <a:cs typeface="Arial" pitchFamily="34" charset="-120"/>
              </a:rPr>
              <a:t>[S1] pp. 6–8, 19–26, 34–44, 51–61</a:t>
            </a:r>
            <a:endParaRPr lang="en-US" sz="805" dirty="0"/>
          </a:p>
        </p:txBody>
      </p:sp>
      <p:sp>
        <p:nvSpPr>
          <p:cNvPr id="9" name="Text 7"/>
          <p:cNvSpPr/>
          <p:nvPr/>
        </p:nvSpPr>
        <p:spPr>
          <a:xfrm>
            <a:off x="11100816" y="6592824"/>
            <a:ext cx="502920" cy="201168"/>
          </a:xfrm>
          <a:prstGeom prst="rect">
            <a:avLst/>
          </a:prstGeom>
          <a:noFill/>
          <a:ln/>
        </p:spPr>
        <p:txBody>
          <a:bodyPr wrap="square" lIns="0" tIns="0" rIns="0" bIns="0" rtlCol="0" anchor="t"/>
          <a:lstStyle/>
          <a:p>
            <a:pPr algn="r" indent="0" marL="0">
              <a:buNone/>
            </a:pPr>
            <a:r>
              <a:rPr lang="en-US" sz="920" dirty="0">
                <a:solidFill>
                  <a:srgbClr val="69808A"/>
                </a:solidFill>
                <a:latin typeface="Arial" pitchFamily="34" charset="0"/>
                <a:ea typeface="Arial" pitchFamily="34" charset="-122"/>
                <a:cs typeface="Arial" pitchFamily="34" charset="-120"/>
              </a:rPr>
              <a:t>02 / 19</a:t>
            </a:r>
            <a:endParaRPr lang="en-US" sz="920" dirty="0"/>
          </a:p>
        </p:txBody>
      </p:sp>
      <p:sp>
        <p:nvSpPr>
          <p:cNvPr id="11" name="Shape 8"/>
          <p:cNvSpPr/>
          <p:nvPr/>
        </p:nvSpPr>
        <p:spPr>
          <a:xfrm>
            <a:off x="612648" y="2313432"/>
            <a:ext cx="1975104" cy="1316736"/>
          </a:xfrm>
          <a:prstGeom prst="roundRect">
            <a:avLst>
              <a:gd name="adj" fmla="val 11111"/>
            </a:avLst>
          </a:prstGeom>
          <a:solidFill>
            <a:srgbClr val="FFF3E8"/>
          </a:solidFill>
          <a:ln w="9525">
            <a:solidFill>
              <a:srgbClr val="E4BD97"/>
            </a:solidFill>
            <a:prstDash val="solid"/>
          </a:ln>
          <a:effectLst>
            <a:outerShdw sx="100000" sy="100000" kx="0" ky="0" algn="bl" rotWithShape="0" blurRad="27940" dist="13970" dir="5400000">
              <a:srgbClr val="90A3AB">
                <a:alpha val="10000"/>
              </a:srgbClr>
            </a:outerShdw>
          </a:effectLst>
        </p:spPr>
      </p:sp>
      <p:sp>
        <p:nvSpPr>
          <p:cNvPr id="12" name="Text 9"/>
          <p:cNvSpPr/>
          <p:nvPr/>
        </p:nvSpPr>
        <p:spPr>
          <a:xfrm>
            <a:off x="822960" y="2523744"/>
            <a:ext cx="1563624" cy="475488"/>
          </a:xfrm>
          <a:prstGeom prst="rect">
            <a:avLst/>
          </a:prstGeom>
          <a:noFill/>
          <a:ln/>
        </p:spPr>
        <p:txBody>
          <a:bodyPr wrap="square" lIns="0" tIns="0" rIns="0" bIns="0" rtlCol="0" anchor="t"/>
          <a:lstStyle/>
          <a:p>
            <a:pPr indent="0" marL="0">
              <a:buNone/>
            </a:pPr>
            <a:r>
              <a:rPr lang="en-US" sz="1800" b="1" dirty="0">
                <a:solidFill>
                  <a:srgbClr val="AA642D"/>
                </a:solidFill>
                <a:latin typeface="Arial" pitchFamily="34" charset="0"/>
                <a:ea typeface="Arial" pitchFamily="34" charset="-122"/>
                <a:cs typeface="Arial" pitchFamily="34" charset="-120"/>
              </a:rPr>
              <a:t>Raken</a:t>
            </a:r>
            <a:endParaRPr lang="en-US" sz="1800" dirty="0"/>
          </a:p>
        </p:txBody>
      </p:sp>
      <p:sp>
        <p:nvSpPr>
          <p:cNvPr id="13" name="Text 10"/>
          <p:cNvSpPr/>
          <p:nvPr/>
        </p:nvSpPr>
        <p:spPr>
          <a:xfrm>
            <a:off x="822960" y="2916936"/>
            <a:ext cx="1554480" cy="548640"/>
          </a:xfrm>
          <a:prstGeom prst="rect">
            <a:avLst/>
          </a:prstGeom>
          <a:noFill/>
          <a:ln/>
        </p:spPr>
        <p:txBody>
          <a:bodyPr wrap="square" lIns="0" tIns="0" rIns="0" bIns="0" rtlCol="0" anchor="t"/>
          <a:lstStyle/>
          <a:p>
            <a:pPr indent="0" marL="0">
              <a:buNone/>
            </a:pPr>
            <a:r>
              <a:rPr lang="en-US" sz="1600" dirty="0">
                <a:solidFill>
                  <a:srgbClr val="465D68"/>
                </a:solidFill>
                <a:latin typeface="Arial" pitchFamily="34" charset="0"/>
                <a:ea typeface="Arial" pitchFamily="34" charset="-122"/>
                <a:cs typeface="Arial" pitchFamily="34" charset="-120"/>
              </a:rPr>
              <a:t>Retrieve field time</a:t>
            </a:r>
            <a:endParaRPr lang="en-US" sz="1600" dirty="0"/>
          </a:p>
        </p:txBody>
      </p:sp>
      <p:sp>
        <p:nvSpPr>
          <p:cNvPr id="14" name="Shape 11"/>
          <p:cNvSpPr/>
          <p:nvPr/>
        </p:nvSpPr>
        <p:spPr>
          <a:xfrm>
            <a:off x="2624328" y="2971800"/>
            <a:ext cx="192024" cy="0"/>
          </a:xfrm>
          <a:prstGeom prst="line">
            <a:avLst/>
          </a:prstGeom>
          <a:noFill/>
          <a:ln w="15240">
            <a:solidFill>
              <a:srgbClr val="69808A"/>
            </a:solidFill>
            <a:prstDash val="solid"/>
            <a:tailEnd type="triangle"/>
          </a:ln>
        </p:spPr>
      </p:sp>
      <p:sp>
        <p:nvSpPr>
          <p:cNvPr id="15" name="Shape 12"/>
          <p:cNvSpPr/>
          <p:nvPr/>
        </p:nvSpPr>
        <p:spPr>
          <a:xfrm>
            <a:off x="2862072" y="2313432"/>
            <a:ext cx="1975104" cy="1316736"/>
          </a:xfrm>
          <a:prstGeom prst="roundRect">
            <a:avLst>
              <a:gd name="adj" fmla="val 11111"/>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16" name="Text 13"/>
          <p:cNvSpPr/>
          <p:nvPr/>
        </p:nvSpPr>
        <p:spPr>
          <a:xfrm>
            <a:off x="3072384" y="2523744"/>
            <a:ext cx="1563624" cy="475488"/>
          </a:xfrm>
          <a:prstGeom prst="rect">
            <a:avLst/>
          </a:prstGeom>
          <a:noFill/>
          <a:ln/>
        </p:spPr>
        <p:txBody>
          <a:bodyPr wrap="square" lIns="0" tIns="0" rIns="0" bIns="0" rtlCol="0" anchor="t"/>
          <a:lstStyle/>
          <a:p>
            <a:pPr indent="0" marL="0">
              <a:buNone/>
            </a:pPr>
            <a:r>
              <a:rPr lang="en-US" sz="1800" b="1" dirty="0">
                <a:solidFill>
                  <a:srgbClr val="233F4C"/>
                </a:solidFill>
                <a:latin typeface="Arial" pitchFamily="34" charset="0"/>
                <a:ea typeface="Arial" pitchFamily="34" charset="-122"/>
                <a:cs typeface="Arial" pitchFamily="34" charset="-120"/>
              </a:rPr>
              <a:t>Spreadsheets</a:t>
            </a:r>
            <a:endParaRPr lang="en-US" sz="1800" dirty="0"/>
          </a:p>
        </p:txBody>
      </p:sp>
      <p:sp>
        <p:nvSpPr>
          <p:cNvPr id="17" name="Text 14"/>
          <p:cNvSpPr/>
          <p:nvPr/>
        </p:nvSpPr>
        <p:spPr>
          <a:xfrm>
            <a:off x="3072384" y="2916936"/>
            <a:ext cx="1554480" cy="548640"/>
          </a:xfrm>
          <a:prstGeom prst="rect">
            <a:avLst/>
          </a:prstGeom>
          <a:noFill/>
          <a:ln/>
        </p:spPr>
        <p:txBody>
          <a:bodyPr wrap="square" lIns="0" tIns="0" rIns="0" bIns="0" rtlCol="0" anchor="t"/>
          <a:lstStyle/>
          <a:p>
            <a:pPr indent="0" marL="0">
              <a:buNone/>
            </a:pPr>
            <a:r>
              <a:rPr lang="en-US" sz="1600" dirty="0">
                <a:solidFill>
                  <a:srgbClr val="465D68"/>
                </a:solidFill>
                <a:latin typeface="Arial" pitchFamily="34" charset="0"/>
                <a:ea typeface="Arial" pitchFamily="34" charset="-122"/>
                <a:cs typeface="Arial" pitchFamily="34" charset="-120"/>
              </a:rPr>
              <a:t>Clean, group and review</a:t>
            </a:r>
            <a:endParaRPr lang="en-US" sz="1600" dirty="0"/>
          </a:p>
        </p:txBody>
      </p:sp>
      <p:sp>
        <p:nvSpPr>
          <p:cNvPr id="18" name="Shape 15"/>
          <p:cNvSpPr/>
          <p:nvPr/>
        </p:nvSpPr>
        <p:spPr>
          <a:xfrm>
            <a:off x="4873752" y="2971800"/>
            <a:ext cx="192024" cy="0"/>
          </a:xfrm>
          <a:prstGeom prst="line">
            <a:avLst/>
          </a:prstGeom>
          <a:noFill/>
          <a:ln w="15240">
            <a:solidFill>
              <a:srgbClr val="69808A"/>
            </a:solidFill>
            <a:prstDash val="solid"/>
            <a:tailEnd type="triangle"/>
          </a:ln>
        </p:spPr>
      </p:sp>
      <p:sp>
        <p:nvSpPr>
          <p:cNvPr id="19" name="Shape 16"/>
          <p:cNvSpPr/>
          <p:nvPr/>
        </p:nvSpPr>
        <p:spPr>
          <a:xfrm>
            <a:off x="5111496" y="2313432"/>
            <a:ext cx="1975104" cy="1316736"/>
          </a:xfrm>
          <a:prstGeom prst="roundRect">
            <a:avLst>
              <a:gd name="adj" fmla="val 11111"/>
            </a:avLst>
          </a:prstGeom>
          <a:solidFill>
            <a:srgbClr val="EEF4FD"/>
          </a:solidFill>
          <a:ln w="9525">
            <a:solidFill>
              <a:srgbClr val="B3CDED"/>
            </a:solidFill>
            <a:prstDash val="solid"/>
          </a:ln>
          <a:effectLst>
            <a:outerShdw sx="100000" sy="100000" kx="0" ky="0" algn="bl" rotWithShape="0" blurRad="27940" dist="13970" dir="5400000">
              <a:srgbClr val="90A3AB">
                <a:alpha val="10000"/>
              </a:srgbClr>
            </a:outerShdw>
          </a:effectLst>
        </p:spPr>
      </p:sp>
      <p:sp>
        <p:nvSpPr>
          <p:cNvPr id="20" name="Text 17"/>
          <p:cNvSpPr/>
          <p:nvPr/>
        </p:nvSpPr>
        <p:spPr>
          <a:xfrm>
            <a:off x="5321808" y="2523744"/>
            <a:ext cx="1563624" cy="475488"/>
          </a:xfrm>
          <a:prstGeom prst="rect">
            <a:avLst/>
          </a:prstGeom>
          <a:noFill/>
          <a:ln/>
        </p:spPr>
        <p:txBody>
          <a:bodyPr wrap="square" lIns="0" tIns="0" rIns="0" bIns="0" rtlCol="0" anchor="t"/>
          <a:lstStyle/>
          <a:p>
            <a:pPr indent="0" marL="0">
              <a:buNone/>
            </a:pPr>
            <a:r>
              <a:rPr lang="en-US" sz="1800" b="1" dirty="0">
                <a:solidFill>
                  <a:srgbClr val="346DA9"/>
                </a:solidFill>
                <a:latin typeface="Arial" pitchFamily="34" charset="0"/>
                <a:ea typeface="Arial" pitchFamily="34" charset="-122"/>
                <a:cs typeface="Arial" pitchFamily="34" charset="-120"/>
              </a:rPr>
              <a:t>Jonas</a:t>
            </a:r>
            <a:endParaRPr lang="en-US" sz="1800" dirty="0"/>
          </a:p>
        </p:txBody>
      </p:sp>
      <p:sp>
        <p:nvSpPr>
          <p:cNvPr id="21" name="Text 18"/>
          <p:cNvSpPr/>
          <p:nvPr/>
        </p:nvSpPr>
        <p:spPr>
          <a:xfrm>
            <a:off x="5321808" y="2916936"/>
            <a:ext cx="1554480" cy="548640"/>
          </a:xfrm>
          <a:prstGeom prst="rect">
            <a:avLst/>
          </a:prstGeom>
          <a:noFill/>
          <a:ln/>
        </p:spPr>
        <p:txBody>
          <a:bodyPr wrap="square" lIns="0" tIns="0" rIns="0" bIns="0" rtlCol="0" anchor="t"/>
          <a:lstStyle/>
          <a:p>
            <a:pPr indent="0" marL="0">
              <a:buNone/>
            </a:pPr>
            <a:r>
              <a:rPr lang="en-US" sz="1600" dirty="0">
                <a:solidFill>
                  <a:srgbClr val="465D68"/>
                </a:solidFill>
                <a:latin typeface="Arial" pitchFamily="34" charset="0"/>
                <a:ea typeface="Arial" pitchFamily="34" charset="-122"/>
                <a:cs typeface="Arial" pitchFamily="34" charset="-120"/>
              </a:rPr>
              <a:t>Enter payroll; run reports</a:t>
            </a:r>
            <a:endParaRPr lang="en-US" sz="1600" dirty="0"/>
          </a:p>
        </p:txBody>
      </p:sp>
      <p:sp>
        <p:nvSpPr>
          <p:cNvPr id="22" name="Shape 19"/>
          <p:cNvSpPr/>
          <p:nvPr/>
        </p:nvSpPr>
        <p:spPr>
          <a:xfrm>
            <a:off x="7123176" y="2971800"/>
            <a:ext cx="192024" cy="0"/>
          </a:xfrm>
          <a:prstGeom prst="line">
            <a:avLst/>
          </a:prstGeom>
          <a:noFill/>
          <a:ln w="15240">
            <a:solidFill>
              <a:srgbClr val="69808A"/>
            </a:solidFill>
            <a:prstDash val="solid"/>
            <a:tailEnd type="triangle"/>
          </a:ln>
        </p:spPr>
      </p:sp>
      <p:sp>
        <p:nvSpPr>
          <p:cNvPr id="23" name="Shape 20"/>
          <p:cNvSpPr/>
          <p:nvPr/>
        </p:nvSpPr>
        <p:spPr>
          <a:xfrm>
            <a:off x="7360920" y="2313432"/>
            <a:ext cx="1975104" cy="1316736"/>
          </a:xfrm>
          <a:prstGeom prst="roundRect">
            <a:avLst>
              <a:gd name="adj" fmla="val 11111"/>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24" name="Text 21"/>
          <p:cNvSpPr/>
          <p:nvPr/>
        </p:nvSpPr>
        <p:spPr>
          <a:xfrm>
            <a:off x="7571232" y="2523744"/>
            <a:ext cx="1563624" cy="475488"/>
          </a:xfrm>
          <a:prstGeom prst="rect">
            <a:avLst/>
          </a:prstGeom>
          <a:noFill/>
          <a:ln/>
        </p:spPr>
        <p:txBody>
          <a:bodyPr wrap="square" lIns="0" tIns="0" rIns="0" bIns="0" rtlCol="0" anchor="t"/>
          <a:lstStyle/>
          <a:p>
            <a:pPr indent="0" marL="0">
              <a:buNone/>
            </a:pPr>
            <a:r>
              <a:rPr lang="en-US" sz="1800" b="1" dirty="0">
                <a:solidFill>
                  <a:srgbClr val="233F4C"/>
                </a:solidFill>
                <a:latin typeface="Arial" pitchFamily="34" charset="0"/>
                <a:ea typeface="Arial" pitchFamily="34" charset="-122"/>
                <a:cs typeface="Arial" pitchFamily="34" charset="-120"/>
              </a:rPr>
              <a:t>File handoff</a:t>
            </a:r>
            <a:endParaRPr lang="en-US" sz="1800" dirty="0"/>
          </a:p>
        </p:txBody>
      </p:sp>
      <p:sp>
        <p:nvSpPr>
          <p:cNvPr id="25" name="Text 22"/>
          <p:cNvSpPr/>
          <p:nvPr/>
        </p:nvSpPr>
        <p:spPr>
          <a:xfrm>
            <a:off x="7571232" y="2916936"/>
            <a:ext cx="1554480" cy="548640"/>
          </a:xfrm>
          <a:prstGeom prst="rect">
            <a:avLst/>
          </a:prstGeom>
          <a:noFill/>
          <a:ln/>
        </p:spPr>
        <p:txBody>
          <a:bodyPr wrap="square" lIns="0" tIns="0" rIns="0" bIns="0" rtlCol="0" anchor="t"/>
          <a:lstStyle/>
          <a:p>
            <a:pPr indent="0" marL="0">
              <a:buNone/>
            </a:pPr>
            <a:r>
              <a:rPr lang="en-US" sz="1600" dirty="0">
                <a:solidFill>
                  <a:srgbClr val="465D68"/>
                </a:solidFill>
                <a:latin typeface="Arial" pitchFamily="34" charset="0"/>
                <a:ea typeface="Arial" pitchFamily="34" charset="-122"/>
                <a:cs typeface="Arial" pitchFamily="34" charset="-120"/>
              </a:rPr>
              <a:t>Convert and import</a:t>
            </a:r>
            <a:endParaRPr lang="en-US" sz="1600" dirty="0"/>
          </a:p>
        </p:txBody>
      </p:sp>
      <p:sp>
        <p:nvSpPr>
          <p:cNvPr id="26" name="Shape 23"/>
          <p:cNvSpPr/>
          <p:nvPr/>
        </p:nvSpPr>
        <p:spPr>
          <a:xfrm>
            <a:off x="9372600" y="2971800"/>
            <a:ext cx="192024" cy="0"/>
          </a:xfrm>
          <a:prstGeom prst="line">
            <a:avLst/>
          </a:prstGeom>
          <a:noFill/>
          <a:ln w="15240">
            <a:solidFill>
              <a:srgbClr val="69808A"/>
            </a:solidFill>
            <a:prstDash val="solid"/>
            <a:tailEnd type="triangle"/>
          </a:ln>
        </p:spPr>
      </p:sp>
      <p:sp>
        <p:nvSpPr>
          <p:cNvPr id="27" name="Shape 24"/>
          <p:cNvSpPr/>
          <p:nvPr/>
        </p:nvSpPr>
        <p:spPr>
          <a:xfrm>
            <a:off x="9610344" y="2313432"/>
            <a:ext cx="1975104" cy="1316736"/>
          </a:xfrm>
          <a:prstGeom prst="roundRect">
            <a:avLst>
              <a:gd name="adj" fmla="val 11111"/>
            </a:avLst>
          </a:prstGeom>
          <a:solidFill>
            <a:srgbClr val="EDF8F1"/>
          </a:solidFill>
          <a:ln w="9525">
            <a:solidFill>
              <a:srgbClr val="A4CCB9"/>
            </a:solidFill>
            <a:prstDash val="solid"/>
          </a:ln>
          <a:effectLst>
            <a:outerShdw sx="100000" sy="100000" kx="0" ky="0" algn="bl" rotWithShape="0" blurRad="27940" dist="13970" dir="5400000">
              <a:srgbClr val="90A3AB">
                <a:alpha val="10000"/>
              </a:srgbClr>
            </a:outerShdw>
          </a:effectLst>
        </p:spPr>
      </p:sp>
      <p:sp>
        <p:nvSpPr>
          <p:cNvPr id="28" name="Text 25"/>
          <p:cNvSpPr/>
          <p:nvPr/>
        </p:nvSpPr>
        <p:spPr>
          <a:xfrm>
            <a:off x="9820656" y="2523744"/>
            <a:ext cx="1563624" cy="475488"/>
          </a:xfrm>
          <a:prstGeom prst="rect">
            <a:avLst/>
          </a:prstGeom>
          <a:noFill/>
          <a:ln/>
        </p:spPr>
        <p:txBody>
          <a:bodyPr wrap="square" lIns="0" tIns="0" rIns="0" bIns="0" rtlCol="0" anchor="t"/>
          <a:lstStyle/>
          <a:p>
            <a:pPr indent="0" marL="0">
              <a:buNone/>
            </a:pPr>
            <a:r>
              <a:rPr lang="en-US" sz="1800" b="1" dirty="0">
                <a:solidFill>
                  <a:srgbClr val="287B5B"/>
                </a:solidFill>
                <a:latin typeface="Arial" pitchFamily="34" charset="0"/>
                <a:ea typeface="Arial" pitchFamily="34" charset="-122"/>
                <a:cs typeface="Arial" pitchFamily="34" charset="-120"/>
              </a:rPr>
              <a:t>Paylocity</a:t>
            </a:r>
            <a:endParaRPr lang="en-US" sz="1800" dirty="0"/>
          </a:p>
        </p:txBody>
      </p:sp>
      <p:sp>
        <p:nvSpPr>
          <p:cNvPr id="29" name="Text 26"/>
          <p:cNvSpPr/>
          <p:nvPr/>
        </p:nvSpPr>
        <p:spPr>
          <a:xfrm>
            <a:off x="9820656" y="2916936"/>
            <a:ext cx="1554480" cy="548640"/>
          </a:xfrm>
          <a:prstGeom prst="rect">
            <a:avLst/>
          </a:prstGeom>
          <a:noFill/>
          <a:ln/>
        </p:spPr>
        <p:txBody>
          <a:bodyPr wrap="square" lIns="0" tIns="0" rIns="0" bIns="0" rtlCol="0" anchor="t"/>
          <a:lstStyle/>
          <a:p>
            <a:pPr indent="0" marL="0">
              <a:buNone/>
            </a:pPr>
            <a:r>
              <a:rPr lang="en-US" sz="1600" dirty="0">
                <a:solidFill>
                  <a:srgbClr val="465D68"/>
                </a:solidFill>
                <a:latin typeface="Arial" pitchFamily="34" charset="0"/>
                <a:ea typeface="Arial" pitchFamily="34" charset="-122"/>
                <a:cs typeface="Arial" pitchFamily="34" charset="-120"/>
              </a:rPr>
              <a:t>Review employee pay records</a:t>
            </a:r>
            <a:endParaRPr lang="en-US" sz="1600" dirty="0"/>
          </a:p>
        </p:txBody>
      </p:sp>
      <p:sp>
        <p:nvSpPr>
          <p:cNvPr id="30" name="Text 27"/>
          <p:cNvSpPr/>
          <p:nvPr/>
        </p:nvSpPr>
        <p:spPr>
          <a:xfrm>
            <a:off x="749808" y="3977640"/>
            <a:ext cx="10698480" cy="393192"/>
          </a:xfrm>
          <a:prstGeom prst="rect">
            <a:avLst/>
          </a:prstGeom>
          <a:noFill/>
          <a:ln/>
        </p:spPr>
        <p:txBody>
          <a:bodyPr wrap="square" lIns="0" tIns="0" rIns="0" bIns="0" rtlCol="0" anchor="t"/>
          <a:lstStyle/>
          <a:p>
            <a:pPr indent="0" marL="0">
              <a:buNone/>
            </a:pPr>
            <a:r>
              <a:rPr lang="en-US" sz="1850" b="1" dirty="0">
                <a:solidFill>
                  <a:srgbClr val="233F4C"/>
                </a:solidFill>
                <a:latin typeface="Arial" pitchFamily="34" charset="0"/>
                <a:ea typeface="Arial" pitchFamily="34" charset="-122"/>
                <a:cs typeface="Arial" pitchFamily="34" charset="-120"/>
              </a:rPr>
              <a:t>Then: compare reports → approve payroll → submit payroll → close in Jonas</a:t>
            </a:r>
            <a:endParaRPr lang="en-US" sz="1850" dirty="0"/>
          </a:p>
        </p:txBody>
      </p:sp>
      <p:sp>
        <p:nvSpPr>
          <p:cNvPr id="31" name="Shape 28"/>
          <p:cNvSpPr/>
          <p:nvPr/>
        </p:nvSpPr>
        <p:spPr>
          <a:xfrm>
            <a:off x="612648" y="4681728"/>
            <a:ext cx="5330952" cy="1325880"/>
          </a:xfrm>
          <a:prstGeom prst="roundRect">
            <a:avLst>
              <a:gd name="adj" fmla="val 11034"/>
            </a:avLst>
          </a:prstGeom>
          <a:solidFill>
            <a:srgbClr val="FFF8E4"/>
          </a:solidFill>
          <a:ln w="9525">
            <a:solidFill>
              <a:srgbClr val="DFCD9D"/>
            </a:solidFill>
            <a:prstDash val="solid"/>
          </a:ln>
          <a:effectLst>
            <a:outerShdw sx="100000" sy="100000" kx="0" ky="0" algn="bl" rotWithShape="0" blurRad="27940" dist="13970" dir="5400000">
              <a:srgbClr val="90A3AB">
                <a:alpha val="10000"/>
              </a:srgbClr>
            </a:outerShdw>
          </a:effectLst>
        </p:spPr>
      </p:sp>
      <p:sp>
        <p:nvSpPr>
          <p:cNvPr id="32" name="Text 29"/>
          <p:cNvSpPr/>
          <p:nvPr/>
        </p:nvSpPr>
        <p:spPr>
          <a:xfrm>
            <a:off x="822960" y="4892040"/>
            <a:ext cx="4919472" cy="475488"/>
          </a:xfrm>
          <a:prstGeom prst="rect">
            <a:avLst/>
          </a:prstGeom>
          <a:noFill/>
          <a:ln/>
        </p:spPr>
        <p:txBody>
          <a:bodyPr wrap="square" lIns="0" tIns="0" rIns="0" bIns="0" rtlCol="0" anchor="t"/>
          <a:lstStyle/>
          <a:p>
            <a:pPr indent="0" marL="0">
              <a:buNone/>
            </a:pPr>
            <a:r>
              <a:rPr lang="en-US" sz="1850" b="1" dirty="0">
                <a:solidFill>
                  <a:srgbClr val="92712F"/>
                </a:solidFill>
                <a:latin typeface="Arial" pitchFamily="34" charset="0"/>
                <a:ea typeface="Arial" pitchFamily="34" charset="-122"/>
                <a:cs typeface="Arial" pitchFamily="34" charset="-120"/>
              </a:rPr>
              <a:t>The work taking time</a:t>
            </a:r>
            <a:endParaRPr lang="en-US" sz="1850" dirty="0"/>
          </a:p>
        </p:txBody>
      </p:sp>
      <p:sp>
        <p:nvSpPr>
          <p:cNvPr id="33" name="Text 30"/>
          <p:cNvSpPr/>
          <p:nvPr/>
        </p:nvSpPr>
        <p:spPr>
          <a:xfrm>
            <a:off x="822960" y="5248656"/>
            <a:ext cx="4910328" cy="594360"/>
          </a:xfrm>
          <a:prstGeom prst="rect">
            <a:avLst/>
          </a:prstGeom>
          <a:noFill/>
          <a:ln/>
        </p:spPr>
        <p:txBody>
          <a:bodyPr wrap="square" lIns="0" tIns="0" rIns="0" bIns="0" rtlCol="0" anchor="t"/>
          <a:lstStyle/>
          <a:p>
            <a:pPr indent="0" marL="0">
              <a:buNone/>
            </a:pPr>
            <a:r>
              <a:rPr lang="en-US" sz="1640" dirty="0">
                <a:solidFill>
                  <a:srgbClr val="465D68"/>
                </a:solidFill>
                <a:latin typeface="Arial" pitchFamily="34" charset="0"/>
                <a:ea typeface="Arial" pitchFamily="34" charset="-122"/>
                <a:cs typeface="Arial" pitchFamily="34" charset="-120"/>
              </a:rPr>
              <a:t>Payroll gathers, reorganizes and compares the same information across several places.</a:t>
            </a:r>
            <a:endParaRPr lang="en-US" sz="1640" dirty="0"/>
          </a:p>
        </p:txBody>
      </p:sp>
      <p:sp>
        <p:nvSpPr>
          <p:cNvPr id="34" name="Shape 31"/>
          <p:cNvSpPr/>
          <p:nvPr/>
        </p:nvSpPr>
        <p:spPr>
          <a:xfrm>
            <a:off x="6199632" y="4681728"/>
            <a:ext cx="5330952" cy="1325880"/>
          </a:xfrm>
          <a:prstGeom prst="roundRect">
            <a:avLst>
              <a:gd name="adj" fmla="val 11034"/>
            </a:avLst>
          </a:prstGeom>
          <a:solidFill>
            <a:srgbClr val="EAF5F4"/>
          </a:solidFill>
          <a:ln w="9525">
            <a:solidFill>
              <a:srgbClr val="87B7B2"/>
            </a:solidFill>
            <a:prstDash val="solid"/>
          </a:ln>
          <a:effectLst>
            <a:outerShdw sx="100000" sy="100000" kx="0" ky="0" algn="bl" rotWithShape="0" blurRad="27940" dist="13970" dir="5400000">
              <a:srgbClr val="90A3AB">
                <a:alpha val="10000"/>
              </a:srgbClr>
            </a:outerShdw>
          </a:effectLst>
        </p:spPr>
      </p:sp>
      <p:sp>
        <p:nvSpPr>
          <p:cNvPr id="35" name="Text 32"/>
          <p:cNvSpPr/>
          <p:nvPr/>
        </p:nvSpPr>
        <p:spPr>
          <a:xfrm>
            <a:off x="6409944" y="4892040"/>
            <a:ext cx="4919472" cy="475488"/>
          </a:xfrm>
          <a:prstGeom prst="rect">
            <a:avLst/>
          </a:prstGeom>
          <a:noFill/>
          <a:ln/>
        </p:spPr>
        <p:txBody>
          <a:bodyPr wrap="square" lIns="0" tIns="0" rIns="0" bIns="0" rtlCol="0" anchor="t"/>
          <a:lstStyle/>
          <a:p>
            <a:pPr indent="0" marL="0">
              <a:buNone/>
            </a:pPr>
            <a:r>
              <a:rPr lang="en-US" sz="1850" b="1" dirty="0">
                <a:solidFill>
                  <a:srgbClr val="317F7B"/>
                </a:solidFill>
                <a:latin typeface="Arial" pitchFamily="34" charset="0"/>
                <a:ea typeface="Arial" pitchFamily="34" charset="-122"/>
                <a:cs typeface="Arial" pitchFamily="34" charset="-120"/>
              </a:rPr>
              <a:t>The opportunity</a:t>
            </a:r>
            <a:endParaRPr lang="en-US" sz="1850" dirty="0"/>
          </a:p>
        </p:txBody>
      </p:sp>
      <p:sp>
        <p:nvSpPr>
          <p:cNvPr id="36" name="Text 33"/>
          <p:cNvSpPr/>
          <p:nvPr/>
        </p:nvSpPr>
        <p:spPr>
          <a:xfrm>
            <a:off x="6409944" y="5248656"/>
            <a:ext cx="4910328" cy="594360"/>
          </a:xfrm>
          <a:prstGeom prst="rect">
            <a:avLst/>
          </a:prstGeom>
          <a:noFill/>
          <a:ln/>
        </p:spPr>
        <p:txBody>
          <a:bodyPr wrap="square" lIns="0" tIns="0" rIns="0" bIns="0" rtlCol="0" anchor="t"/>
          <a:lstStyle/>
          <a:p>
            <a:pPr indent="0" marL="0">
              <a:buNone/>
            </a:pPr>
            <a:r>
              <a:rPr lang="en-US" sz="1640" dirty="0">
                <a:solidFill>
                  <a:srgbClr val="465D68"/>
                </a:solidFill>
                <a:latin typeface="Arial" pitchFamily="34" charset="0"/>
                <a:ea typeface="Arial" pitchFamily="34" charset="-122"/>
                <a:cs typeface="Arial" pitchFamily="34" charset="-120"/>
              </a:rPr>
              <a:t>Let the tool find differences and assemble the evidence, while the team keeps its safeguards.</a:t>
            </a:r>
            <a:endParaRPr lang="en-US" sz="16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AFC"/>
        </a:solidFill>
      </p:bgPr>
    </p:bg>
    <p:spTree>
      <p:nvGrpSpPr>
        <p:cNvPr id="1" name=""/>
        <p:cNvGrpSpPr/>
        <p:nvPr/>
      </p:nvGrpSpPr>
      <p:grpSpPr>
        <a:xfrm>
          <a:off x="0" y="0"/>
          <a:ext cx="0" cy="0"/>
          <a:chOff x="0" y="0"/>
          <a:chExt cx="0" cy="0"/>
        </a:xfrm>
      </p:grpSpPr>
      <p:sp>
        <p:nvSpPr>
          <p:cNvPr id="2" name="Shape 0"/>
          <p:cNvSpPr/>
          <p:nvPr/>
        </p:nvSpPr>
        <p:spPr>
          <a:xfrm>
            <a:off x="0" y="0"/>
            <a:ext cx="12192000" cy="41148"/>
          </a:xfrm>
          <a:prstGeom prst="rect">
            <a:avLst/>
          </a:prstGeom>
          <a:solidFill>
            <a:srgbClr val="87B7B2"/>
          </a:solidFill>
          <a:ln w="12700">
            <a:solidFill>
              <a:srgbClr val="87B7B2">
                <a:alpha val="0"/>
              </a:srgbClr>
            </a:solidFill>
            <a:prstDash val="solid"/>
          </a:ln>
        </p:spPr>
      </p:sp>
      <p:sp>
        <p:nvSpPr>
          <p:cNvPr id="3" name="Text 1"/>
          <p:cNvSpPr/>
          <p:nvPr/>
        </p:nvSpPr>
        <p:spPr>
          <a:xfrm>
            <a:off x="585216" y="246888"/>
            <a:ext cx="10972800" cy="201168"/>
          </a:xfrm>
          <a:prstGeom prst="rect">
            <a:avLst/>
          </a:prstGeom>
          <a:noFill/>
          <a:ln/>
        </p:spPr>
        <p:txBody>
          <a:bodyPr wrap="square" lIns="0" tIns="0" rIns="0" bIns="0" rtlCol="0" anchor="t"/>
          <a:lstStyle/>
          <a:p>
            <a:pPr indent="0" marL="0">
              <a:buNone/>
            </a:pPr>
            <a:r>
              <a:rPr lang="en-US" sz="1000" b="1" dirty="0">
                <a:solidFill>
                  <a:srgbClr val="317F7B"/>
                </a:solidFill>
                <a:latin typeface="Arial" pitchFamily="34" charset="0"/>
                <a:ea typeface="Arial" pitchFamily="34" charset="-122"/>
                <a:cs typeface="Arial" pitchFamily="34" charset="-120"/>
              </a:rPr>
              <a:t>How the tool would help</a:t>
            </a:r>
            <a:endParaRPr lang="en-US" sz="1000" dirty="0"/>
          </a:p>
        </p:txBody>
      </p:sp>
      <p:sp>
        <p:nvSpPr>
          <p:cNvPr id="4" name="Text 2"/>
          <p:cNvSpPr/>
          <p:nvPr/>
        </p:nvSpPr>
        <p:spPr>
          <a:xfrm>
            <a:off x="585216" y="658368"/>
            <a:ext cx="11027664" cy="594360"/>
          </a:xfrm>
          <a:prstGeom prst="rect">
            <a:avLst/>
          </a:prstGeom>
          <a:noFill/>
          <a:ln/>
        </p:spPr>
        <p:txBody>
          <a:bodyPr wrap="square" lIns="0" tIns="0" rIns="0" bIns="0" rtlCol="0" anchor="t"/>
          <a:lstStyle/>
          <a:p>
            <a:pPr indent="0" marL="0">
              <a:buNone/>
            </a:pPr>
            <a:r>
              <a:rPr lang="en-US" sz="2800" b="1" dirty="0">
                <a:solidFill>
                  <a:srgbClr val="233F4C"/>
                </a:solidFill>
                <a:latin typeface="Arial" pitchFamily="34" charset="0"/>
                <a:ea typeface="Arial" pitchFamily="34" charset="-122"/>
                <a:cs typeface="Arial" pitchFamily="34" charset="-120"/>
              </a:rPr>
              <a:t>First, bring the records together. Then check them.</a:t>
            </a:r>
            <a:endParaRPr lang="en-US" sz="2800" dirty="0"/>
          </a:p>
        </p:txBody>
      </p:sp>
      <p:sp>
        <p:nvSpPr>
          <p:cNvPr id="5" name="Text 3"/>
          <p:cNvSpPr/>
          <p:nvPr/>
        </p:nvSpPr>
        <p:spPr>
          <a:xfrm>
            <a:off x="594360" y="1307592"/>
            <a:ext cx="10945368" cy="530352"/>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Payroll gets a clear starting point instead of piecing the same information together each time.</a:t>
            </a:r>
            <a:endParaRPr lang="en-US" sz="1660" dirty="0"/>
          </a:p>
        </p:txBody>
      </p:sp>
      <p:sp>
        <p:nvSpPr>
          <p:cNvPr id="6" name="Shape 4"/>
          <p:cNvSpPr/>
          <p:nvPr/>
        </p:nvSpPr>
        <p:spPr>
          <a:xfrm>
            <a:off x="585216" y="6510528"/>
            <a:ext cx="11018520" cy="0"/>
          </a:xfrm>
          <a:prstGeom prst="line">
            <a:avLst/>
          </a:prstGeom>
          <a:noFill/>
          <a:ln w="10160">
            <a:solidFill>
              <a:srgbClr val="DCE6E9"/>
            </a:solidFill>
            <a:prstDash val="solid"/>
          </a:ln>
        </p:spPr>
      </p:sp>
      <p:sp>
        <p:nvSpPr>
          <p:cNvPr id="7" name="Text 5"/>
          <p:cNvSpPr/>
          <p:nvPr/>
        </p:nvSpPr>
        <p:spPr>
          <a:xfrm>
            <a:off x="594360" y="6611112"/>
            <a:ext cx="3749040" cy="164592"/>
          </a:xfrm>
          <a:prstGeom prst="rect">
            <a:avLst/>
          </a:prstGeom>
          <a:noFill/>
          <a:ln/>
        </p:spPr>
        <p:txBody>
          <a:bodyPr wrap="square" lIns="0" tIns="0" rIns="0" bIns="0" rtlCol="0" anchor="t"/>
          <a:lstStyle/>
          <a:p>
            <a:pPr indent="0" marL="0">
              <a:buNone/>
            </a:pPr>
            <a:r>
              <a:rPr lang="en-US" sz="820" dirty="0">
                <a:solidFill>
                  <a:srgbClr val="69808A"/>
                </a:solidFill>
                <a:latin typeface="Arial" pitchFamily="34" charset="0"/>
                <a:ea typeface="Arial" pitchFamily="34" charset="-122"/>
                <a:cs typeface="Arial" pitchFamily="34" charset="-120"/>
              </a:rPr>
              <a:t>Komlan Kouhiko  /  B&amp;S payroll proposal</a:t>
            </a:r>
            <a:endParaRPr lang="en-US" sz="820" dirty="0"/>
          </a:p>
        </p:txBody>
      </p:sp>
      <p:sp>
        <p:nvSpPr>
          <p:cNvPr id="8" name="Text 6"/>
          <p:cNvSpPr/>
          <p:nvPr/>
        </p:nvSpPr>
        <p:spPr>
          <a:xfrm>
            <a:off x="4023360" y="6611112"/>
            <a:ext cx="6903720" cy="164592"/>
          </a:xfrm>
          <a:prstGeom prst="rect">
            <a:avLst/>
          </a:prstGeom>
          <a:noFill/>
          <a:ln/>
        </p:spPr>
        <p:txBody>
          <a:bodyPr wrap="square" lIns="0" tIns="0" rIns="0" bIns="0" rtlCol="0" anchor="t"/>
          <a:lstStyle/>
          <a:p>
            <a:pPr algn="r" indent="0" marL="0">
              <a:buNone/>
            </a:pPr>
            <a:r>
              <a:rPr lang="en-US" sz="805" dirty="0">
                <a:solidFill>
                  <a:srgbClr val="69808A"/>
                </a:solidFill>
                <a:latin typeface="Arial" pitchFamily="34" charset="0"/>
                <a:ea typeface="Arial" pitchFamily="34" charset="-122"/>
                <a:cs typeface="Arial" pitchFamily="34" charset="-120"/>
              </a:rPr>
              <a:t>Proposed first-release behavior • [S1] pp. 52–54</a:t>
            </a:r>
            <a:endParaRPr lang="en-US" sz="805" dirty="0"/>
          </a:p>
        </p:txBody>
      </p:sp>
      <p:sp>
        <p:nvSpPr>
          <p:cNvPr id="9" name="Text 7"/>
          <p:cNvSpPr/>
          <p:nvPr/>
        </p:nvSpPr>
        <p:spPr>
          <a:xfrm>
            <a:off x="11100816" y="6592824"/>
            <a:ext cx="502920" cy="201168"/>
          </a:xfrm>
          <a:prstGeom prst="rect">
            <a:avLst/>
          </a:prstGeom>
          <a:noFill/>
          <a:ln/>
        </p:spPr>
        <p:txBody>
          <a:bodyPr wrap="square" lIns="0" tIns="0" rIns="0" bIns="0" rtlCol="0" anchor="t"/>
          <a:lstStyle/>
          <a:p>
            <a:pPr algn="r" indent="0" marL="0">
              <a:buNone/>
            </a:pPr>
            <a:r>
              <a:rPr lang="en-US" sz="920" dirty="0">
                <a:solidFill>
                  <a:srgbClr val="69808A"/>
                </a:solidFill>
                <a:latin typeface="Arial" pitchFamily="34" charset="0"/>
                <a:ea typeface="Arial" pitchFamily="34" charset="-122"/>
                <a:cs typeface="Arial" pitchFamily="34" charset="-120"/>
              </a:rPr>
              <a:t>03 / 19</a:t>
            </a:r>
            <a:endParaRPr lang="en-US" sz="920" dirty="0"/>
          </a:p>
        </p:txBody>
      </p:sp>
      <p:sp>
        <p:nvSpPr>
          <p:cNvPr id="11" name="Shape 8"/>
          <p:cNvSpPr/>
          <p:nvPr/>
        </p:nvSpPr>
        <p:spPr>
          <a:xfrm>
            <a:off x="594360" y="2212848"/>
            <a:ext cx="2578608" cy="2606040"/>
          </a:xfrm>
          <a:prstGeom prst="roundRect">
            <a:avLst>
              <a:gd name="adj" fmla="val 5674"/>
            </a:avLst>
          </a:prstGeom>
          <a:solidFill>
            <a:srgbClr val="EAF5F4"/>
          </a:solidFill>
          <a:ln w="9525">
            <a:solidFill>
              <a:srgbClr val="87B7B2"/>
            </a:solidFill>
            <a:prstDash val="solid"/>
          </a:ln>
          <a:effectLst>
            <a:outerShdw sx="100000" sy="100000" kx="0" ky="0" algn="bl" rotWithShape="0" blurRad="27940" dist="13970" dir="5400000">
              <a:srgbClr val="90A3AB">
                <a:alpha val="10000"/>
              </a:srgbClr>
            </a:outerShdw>
          </a:effectLst>
        </p:spPr>
      </p:sp>
      <p:sp>
        <p:nvSpPr>
          <p:cNvPr id="12" name="Shape 9"/>
          <p:cNvSpPr/>
          <p:nvPr/>
        </p:nvSpPr>
        <p:spPr>
          <a:xfrm>
            <a:off x="804672" y="2409444"/>
            <a:ext cx="310896" cy="310896"/>
          </a:xfrm>
          <a:prstGeom prst="ellipse">
            <a:avLst/>
          </a:prstGeom>
          <a:solidFill>
            <a:srgbClr val="FFFFFF"/>
          </a:solidFill>
          <a:ln w="12700">
            <a:solidFill>
              <a:srgbClr val="FFFFFF"/>
            </a:solidFill>
            <a:prstDash val="solid"/>
          </a:ln>
        </p:spPr>
      </p:sp>
      <p:sp>
        <p:nvSpPr>
          <p:cNvPr id="13" name="Text 10"/>
          <p:cNvSpPr/>
          <p:nvPr/>
        </p:nvSpPr>
        <p:spPr>
          <a:xfrm>
            <a:off x="804672" y="2446020"/>
            <a:ext cx="310896" cy="292608"/>
          </a:xfrm>
          <a:prstGeom prst="rect">
            <a:avLst/>
          </a:prstGeom>
          <a:noFill/>
          <a:ln/>
        </p:spPr>
        <p:txBody>
          <a:bodyPr wrap="square" lIns="0" tIns="0" rIns="0" bIns="0" rtlCol="0" anchor="t"/>
          <a:lstStyle/>
          <a:p>
            <a:pPr algn="ctr" indent="0" marL="0">
              <a:buNone/>
            </a:pPr>
            <a:r>
              <a:rPr lang="en-US" sz="1320" b="1" dirty="0">
                <a:solidFill>
                  <a:srgbClr val="317F7B"/>
                </a:solidFill>
                <a:latin typeface="Arial" pitchFamily="34" charset="0"/>
                <a:ea typeface="Arial" pitchFamily="34" charset="-122"/>
                <a:cs typeface="Arial" pitchFamily="34" charset="-120"/>
              </a:rPr>
              <a:t>1</a:t>
            </a:r>
            <a:endParaRPr lang="en-US" sz="1320" dirty="0"/>
          </a:p>
        </p:txBody>
      </p:sp>
      <p:sp>
        <p:nvSpPr>
          <p:cNvPr id="14" name="Text 11"/>
          <p:cNvSpPr/>
          <p:nvPr/>
        </p:nvSpPr>
        <p:spPr>
          <a:xfrm>
            <a:off x="1243584" y="2423160"/>
            <a:ext cx="1728216" cy="475488"/>
          </a:xfrm>
          <a:prstGeom prst="rect">
            <a:avLst/>
          </a:prstGeom>
          <a:noFill/>
          <a:ln/>
        </p:spPr>
        <p:txBody>
          <a:bodyPr wrap="square" lIns="0" tIns="0" rIns="0" bIns="0" rtlCol="0" anchor="t"/>
          <a:lstStyle/>
          <a:p>
            <a:pPr indent="0" marL="0">
              <a:buNone/>
            </a:pPr>
            <a:r>
              <a:rPr lang="en-US" sz="1840" b="1" dirty="0">
                <a:solidFill>
                  <a:srgbClr val="317F7B"/>
                </a:solidFill>
                <a:latin typeface="Arial" pitchFamily="34" charset="0"/>
                <a:ea typeface="Arial" pitchFamily="34" charset="-122"/>
                <a:cs typeface="Arial" pitchFamily="34" charset="-120"/>
              </a:rPr>
              <a:t>Bring records together</a:t>
            </a:r>
            <a:endParaRPr lang="en-US" sz="1840" dirty="0"/>
          </a:p>
        </p:txBody>
      </p:sp>
      <p:sp>
        <p:nvSpPr>
          <p:cNvPr id="15" name="Text 12"/>
          <p:cNvSpPr/>
          <p:nvPr/>
        </p:nvSpPr>
        <p:spPr>
          <a:xfrm>
            <a:off x="804672" y="3273552"/>
            <a:ext cx="2157984" cy="1380744"/>
          </a:xfrm>
          <a:prstGeom prst="rect">
            <a:avLst/>
          </a:prstGeom>
          <a:noFill/>
          <a:ln/>
        </p:spPr>
        <p:txBody>
          <a:bodyPr wrap="square" lIns="0" tIns="0" rIns="0" bIns="0" rtlCol="0" anchor="t"/>
          <a:lstStyle/>
          <a:p>
            <a:pPr indent="0" marL="0">
              <a:buNone/>
            </a:pPr>
            <a:r>
              <a:rPr lang="en-US" sz="1720" dirty="0">
                <a:solidFill>
                  <a:srgbClr val="465D68"/>
                </a:solidFill>
                <a:latin typeface="Arial" pitchFamily="34" charset="0"/>
                <a:ea typeface="Arial" pitchFamily="34" charset="-122"/>
                <a:cs typeface="Arial" pitchFamily="34" charset="-120"/>
              </a:rPr>
              <a:t>Load the available records for the same employee and payroll period.</a:t>
            </a:r>
            <a:endParaRPr lang="en-US" sz="1720" dirty="0"/>
          </a:p>
        </p:txBody>
      </p:sp>
      <p:sp>
        <p:nvSpPr>
          <p:cNvPr id="16" name="Shape 13"/>
          <p:cNvSpPr/>
          <p:nvPr/>
        </p:nvSpPr>
        <p:spPr>
          <a:xfrm>
            <a:off x="3406140" y="2212848"/>
            <a:ext cx="2578608" cy="2606040"/>
          </a:xfrm>
          <a:prstGeom prst="roundRect">
            <a:avLst>
              <a:gd name="adj" fmla="val 5674"/>
            </a:avLst>
          </a:prstGeom>
          <a:solidFill>
            <a:srgbClr val="EEF4FD"/>
          </a:solidFill>
          <a:ln w="9525">
            <a:solidFill>
              <a:srgbClr val="B3CDED"/>
            </a:solidFill>
            <a:prstDash val="solid"/>
          </a:ln>
          <a:effectLst>
            <a:outerShdw sx="100000" sy="100000" kx="0" ky="0" algn="bl" rotWithShape="0" blurRad="27940" dist="13970" dir="5400000">
              <a:srgbClr val="90A3AB">
                <a:alpha val="10000"/>
              </a:srgbClr>
            </a:outerShdw>
          </a:effectLst>
        </p:spPr>
      </p:sp>
      <p:sp>
        <p:nvSpPr>
          <p:cNvPr id="17" name="Shape 14"/>
          <p:cNvSpPr/>
          <p:nvPr/>
        </p:nvSpPr>
        <p:spPr>
          <a:xfrm>
            <a:off x="3616452" y="2409444"/>
            <a:ext cx="310896" cy="310896"/>
          </a:xfrm>
          <a:prstGeom prst="ellipse">
            <a:avLst/>
          </a:prstGeom>
          <a:solidFill>
            <a:srgbClr val="FFFFFF"/>
          </a:solidFill>
          <a:ln w="12700">
            <a:solidFill>
              <a:srgbClr val="FFFFFF"/>
            </a:solidFill>
            <a:prstDash val="solid"/>
          </a:ln>
        </p:spPr>
      </p:sp>
      <p:sp>
        <p:nvSpPr>
          <p:cNvPr id="18" name="Text 15"/>
          <p:cNvSpPr/>
          <p:nvPr/>
        </p:nvSpPr>
        <p:spPr>
          <a:xfrm>
            <a:off x="3616452" y="2446020"/>
            <a:ext cx="310896" cy="292608"/>
          </a:xfrm>
          <a:prstGeom prst="rect">
            <a:avLst/>
          </a:prstGeom>
          <a:noFill/>
          <a:ln/>
        </p:spPr>
        <p:txBody>
          <a:bodyPr wrap="square" lIns="0" tIns="0" rIns="0" bIns="0" rtlCol="0" anchor="t"/>
          <a:lstStyle/>
          <a:p>
            <a:pPr algn="ctr" indent="0" marL="0">
              <a:buNone/>
            </a:pPr>
            <a:r>
              <a:rPr lang="en-US" sz="1320" b="1" dirty="0">
                <a:solidFill>
                  <a:srgbClr val="346DA9"/>
                </a:solidFill>
                <a:latin typeface="Arial" pitchFamily="34" charset="0"/>
                <a:ea typeface="Arial" pitchFamily="34" charset="-122"/>
                <a:cs typeface="Arial" pitchFamily="34" charset="-120"/>
              </a:rPr>
              <a:t>2</a:t>
            </a:r>
            <a:endParaRPr lang="en-US" sz="1320" dirty="0"/>
          </a:p>
        </p:txBody>
      </p:sp>
      <p:sp>
        <p:nvSpPr>
          <p:cNvPr id="19" name="Text 16"/>
          <p:cNvSpPr/>
          <p:nvPr/>
        </p:nvSpPr>
        <p:spPr>
          <a:xfrm>
            <a:off x="4055364" y="2423160"/>
            <a:ext cx="1728216" cy="475488"/>
          </a:xfrm>
          <a:prstGeom prst="rect">
            <a:avLst/>
          </a:prstGeom>
          <a:noFill/>
          <a:ln/>
        </p:spPr>
        <p:txBody>
          <a:bodyPr wrap="square" lIns="0" tIns="0" rIns="0" bIns="0" rtlCol="0" anchor="t"/>
          <a:lstStyle/>
          <a:p>
            <a:pPr indent="0" marL="0">
              <a:buNone/>
            </a:pPr>
            <a:r>
              <a:rPr lang="en-US" sz="1840" b="1" dirty="0">
                <a:solidFill>
                  <a:srgbClr val="346DA9"/>
                </a:solidFill>
                <a:latin typeface="Arial" pitchFamily="34" charset="0"/>
                <a:ea typeface="Arial" pitchFamily="34" charset="-122"/>
                <a:cs typeface="Arial" pitchFamily="34" charset="-120"/>
              </a:rPr>
              <a:t>Compare the values</a:t>
            </a:r>
            <a:endParaRPr lang="en-US" sz="1840" dirty="0"/>
          </a:p>
        </p:txBody>
      </p:sp>
      <p:sp>
        <p:nvSpPr>
          <p:cNvPr id="20" name="Text 17"/>
          <p:cNvSpPr/>
          <p:nvPr/>
        </p:nvSpPr>
        <p:spPr>
          <a:xfrm>
            <a:off x="3616452" y="3273552"/>
            <a:ext cx="2157984" cy="1380744"/>
          </a:xfrm>
          <a:prstGeom prst="rect">
            <a:avLst/>
          </a:prstGeom>
          <a:noFill/>
          <a:ln/>
        </p:spPr>
        <p:txBody>
          <a:bodyPr wrap="square" lIns="0" tIns="0" rIns="0" bIns="0" rtlCol="0" anchor="t"/>
          <a:lstStyle/>
          <a:p>
            <a:pPr indent="0" marL="0">
              <a:buNone/>
            </a:pPr>
            <a:r>
              <a:rPr lang="en-US" sz="1720" dirty="0">
                <a:solidFill>
                  <a:srgbClr val="465D68"/>
                </a:solidFill>
                <a:latin typeface="Arial" pitchFamily="34" charset="0"/>
                <a:ea typeface="Arial" pitchFamily="34" charset="-122"/>
                <a:cs typeface="Arial" pitchFamily="34" charset="-120"/>
              </a:rPr>
              <a:t>Automatically check the payroll information that should agree.</a:t>
            </a:r>
            <a:endParaRPr lang="en-US" sz="1720" dirty="0"/>
          </a:p>
        </p:txBody>
      </p:sp>
      <p:sp>
        <p:nvSpPr>
          <p:cNvPr id="21" name="Shape 18"/>
          <p:cNvSpPr/>
          <p:nvPr/>
        </p:nvSpPr>
        <p:spPr>
          <a:xfrm>
            <a:off x="6217920" y="2212848"/>
            <a:ext cx="2578608" cy="2606040"/>
          </a:xfrm>
          <a:prstGeom prst="roundRect">
            <a:avLst>
              <a:gd name="adj" fmla="val 5674"/>
            </a:avLst>
          </a:prstGeom>
          <a:solidFill>
            <a:srgbClr val="FFF8E4"/>
          </a:solidFill>
          <a:ln w="9525">
            <a:solidFill>
              <a:srgbClr val="DFCD9D"/>
            </a:solidFill>
            <a:prstDash val="solid"/>
          </a:ln>
          <a:effectLst>
            <a:outerShdw sx="100000" sy="100000" kx="0" ky="0" algn="bl" rotWithShape="0" blurRad="27940" dist="13970" dir="5400000">
              <a:srgbClr val="90A3AB">
                <a:alpha val="10000"/>
              </a:srgbClr>
            </a:outerShdw>
          </a:effectLst>
        </p:spPr>
      </p:sp>
      <p:sp>
        <p:nvSpPr>
          <p:cNvPr id="22" name="Shape 19"/>
          <p:cNvSpPr/>
          <p:nvPr/>
        </p:nvSpPr>
        <p:spPr>
          <a:xfrm>
            <a:off x="6428232" y="2409444"/>
            <a:ext cx="310896" cy="310896"/>
          </a:xfrm>
          <a:prstGeom prst="ellipse">
            <a:avLst/>
          </a:prstGeom>
          <a:solidFill>
            <a:srgbClr val="FFFFFF"/>
          </a:solidFill>
          <a:ln w="12700">
            <a:solidFill>
              <a:srgbClr val="FFFFFF"/>
            </a:solidFill>
            <a:prstDash val="solid"/>
          </a:ln>
        </p:spPr>
      </p:sp>
      <p:sp>
        <p:nvSpPr>
          <p:cNvPr id="23" name="Text 20"/>
          <p:cNvSpPr/>
          <p:nvPr/>
        </p:nvSpPr>
        <p:spPr>
          <a:xfrm>
            <a:off x="6428232" y="2446020"/>
            <a:ext cx="310896" cy="292608"/>
          </a:xfrm>
          <a:prstGeom prst="rect">
            <a:avLst/>
          </a:prstGeom>
          <a:noFill/>
          <a:ln/>
        </p:spPr>
        <p:txBody>
          <a:bodyPr wrap="square" lIns="0" tIns="0" rIns="0" bIns="0" rtlCol="0" anchor="t"/>
          <a:lstStyle/>
          <a:p>
            <a:pPr algn="ctr" indent="0" marL="0">
              <a:buNone/>
            </a:pPr>
            <a:r>
              <a:rPr lang="en-US" sz="1320" b="1" dirty="0">
                <a:solidFill>
                  <a:srgbClr val="92712F"/>
                </a:solidFill>
                <a:latin typeface="Arial" pitchFamily="34" charset="0"/>
                <a:ea typeface="Arial" pitchFamily="34" charset="-122"/>
                <a:cs typeface="Arial" pitchFamily="34" charset="-120"/>
              </a:rPr>
              <a:t>3</a:t>
            </a:r>
            <a:endParaRPr lang="en-US" sz="1320" dirty="0"/>
          </a:p>
        </p:txBody>
      </p:sp>
      <p:sp>
        <p:nvSpPr>
          <p:cNvPr id="24" name="Text 21"/>
          <p:cNvSpPr/>
          <p:nvPr/>
        </p:nvSpPr>
        <p:spPr>
          <a:xfrm>
            <a:off x="6867144" y="2423160"/>
            <a:ext cx="1728216" cy="475488"/>
          </a:xfrm>
          <a:prstGeom prst="rect">
            <a:avLst/>
          </a:prstGeom>
          <a:noFill/>
          <a:ln/>
        </p:spPr>
        <p:txBody>
          <a:bodyPr wrap="square" lIns="0" tIns="0" rIns="0" bIns="0" rtlCol="0" anchor="t"/>
          <a:lstStyle/>
          <a:p>
            <a:pPr indent="0" marL="0">
              <a:buNone/>
            </a:pPr>
            <a:r>
              <a:rPr lang="en-US" sz="1840" b="1" dirty="0">
                <a:solidFill>
                  <a:srgbClr val="92712F"/>
                </a:solidFill>
                <a:latin typeface="Arial" pitchFamily="34" charset="0"/>
                <a:ea typeface="Arial" pitchFamily="34" charset="-122"/>
                <a:cs typeface="Arial" pitchFamily="34" charset="-120"/>
              </a:rPr>
              <a:t>Show what needs review</a:t>
            </a:r>
            <a:endParaRPr lang="en-US" sz="1840" dirty="0"/>
          </a:p>
        </p:txBody>
      </p:sp>
      <p:sp>
        <p:nvSpPr>
          <p:cNvPr id="25" name="Text 22"/>
          <p:cNvSpPr/>
          <p:nvPr/>
        </p:nvSpPr>
        <p:spPr>
          <a:xfrm>
            <a:off x="6428232" y="3273552"/>
            <a:ext cx="2157984" cy="1380744"/>
          </a:xfrm>
          <a:prstGeom prst="rect">
            <a:avLst/>
          </a:prstGeom>
          <a:noFill/>
          <a:ln/>
        </p:spPr>
        <p:txBody>
          <a:bodyPr wrap="square" lIns="0" tIns="0" rIns="0" bIns="0" rtlCol="0" anchor="t"/>
          <a:lstStyle/>
          <a:p>
            <a:pPr indent="0" marL="0">
              <a:buNone/>
            </a:pPr>
            <a:r>
              <a:rPr lang="en-US" sz="1720" dirty="0">
                <a:solidFill>
                  <a:srgbClr val="465D68"/>
                </a:solidFill>
                <a:latin typeface="Arial" pitchFamily="34" charset="0"/>
                <a:ea typeface="Arial" pitchFamily="34" charset="-122"/>
                <a:cs typeface="Arial" pitchFamily="34" charset="-120"/>
              </a:rPr>
              <a:t>Point Payroll to missing records or differences that need a person.</a:t>
            </a:r>
            <a:endParaRPr lang="en-US" sz="1720" dirty="0"/>
          </a:p>
        </p:txBody>
      </p:sp>
      <p:sp>
        <p:nvSpPr>
          <p:cNvPr id="26" name="Shape 23"/>
          <p:cNvSpPr/>
          <p:nvPr/>
        </p:nvSpPr>
        <p:spPr>
          <a:xfrm>
            <a:off x="9029700" y="2212848"/>
            <a:ext cx="2578608" cy="2606040"/>
          </a:xfrm>
          <a:prstGeom prst="roundRect">
            <a:avLst>
              <a:gd name="adj" fmla="val 5674"/>
            </a:avLst>
          </a:prstGeom>
          <a:solidFill>
            <a:srgbClr val="EDF8F1"/>
          </a:solidFill>
          <a:ln w="9525">
            <a:solidFill>
              <a:srgbClr val="A4CCB9"/>
            </a:solidFill>
            <a:prstDash val="solid"/>
          </a:ln>
          <a:effectLst>
            <a:outerShdw sx="100000" sy="100000" kx="0" ky="0" algn="bl" rotWithShape="0" blurRad="27940" dist="13970" dir="5400000">
              <a:srgbClr val="90A3AB">
                <a:alpha val="10000"/>
              </a:srgbClr>
            </a:outerShdw>
          </a:effectLst>
        </p:spPr>
      </p:sp>
      <p:sp>
        <p:nvSpPr>
          <p:cNvPr id="27" name="Shape 24"/>
          <p:cNvSpPr/>
          <p:nvPr/>
        </p:nvSpPr>
        <p:spPr>
          <a:xfrm>
            <a:off x="9240012" y="2409444"/>
            <a:ext cx="310896" cy="310896"/>
          </a:xfrm>
          <a:prstGeom prst="ellipse">
            <a:avLst/>
          </a:prstGeom>
          <a:solidFill>
            <a:srgbClr val="FFFFFF"/>
          </a:solidFill>
          <a:ln w="12700">
            <a:solidFill>
              <a:srgbClr val="FFFFFF"/>
            </a:solidFill>
            <a:prstDash val="solid"/>
          </a:ln>
        </p:spPr>
      </p:sp>
      <p:sp>
        <p:nvSpPr>
          <p:cNvPr id="28" name="Text 25"/>
          <p:cNvSpPr/>
          <p:nvPr/>
        </p:nvSpPr>
        <p:spPr>
          <a:xfrm>
            <a:off x="9240012" y="2446020"/>
            <a:ext cx="310896" cy="292608"/>
          </a:xfrm>
          <a:prstGeom prst="rect">
            <a:avLst/>
          </a:prstGeom>
          <a:noFill/>
          <a:ln/>
        </p:spPr>
        <p:txBody>
          <a:bodyPr wrap="square" lIns="0" tIns="0" rIns="0" bIns="0" rtlCol="0" anchor="t"/>
          <a:lstStyle/>
          <a:p>
            <a:pPr algn="ctr" indent="0" marL="0">
              <a:buNone/>
            </a:pPr>
            <a:r>
              <a:rPr lang="en-US" sz="1320" b="1" dirty="0">
                <a:solidFill>
                  <a:srgbClr val="287B5B"/>
                </a:solidFill>
                <a:latin typeface="Arial" pitchFamily="34" charset="0"/>
                <a:ea typeface="Arial" pitchFamily="34" charset="-122"/>
                <a:cs typeface="Arial" pitchFamily="34" charset="-120"/>
              </a:rPr>
              <a:t>4</a:t>
            </a:r>
            <a:endParaRPr lang="en-US" sz="1320" dirty="0"/>
          </a:p>
        </p:txBody>
      </p:sp>
      <p:sp>
        <p:nvSpPr>
          <p:cNvPr id="29" name="Text 26"/>
          <p:cNvSpPr/>
          <p:nvPr/>
        </p:nvSpPr>
        <p:spPr>
          <a:xfrm>
            <a:off x="9678924" y="2423160"/>
            <a:ext cx="1728216" cy="475488"/>
          </a:xfrm>
          <a:prstGeom prst="rect">
            <a:avLst/>
          </a:prstGeom>
          <a:noFill/>
          <a:ln/>
        </p:spPr>
        <p:txBody>
          <a:bodyPr wrap="square" lIns="0" tIns="0" rIns="0" bIns="0" rtlCol="0" anchor="t"/>
          <a:lstStyle/>
          <a:p>
            <a:pPr indent="0" marL="0">
              <a:buNone/>
            </a:pPr>
            <a:r>
              <a:rPr lang="en-US" sz="1840" b="1" dirty="0">
                <a:solidFill>
                  <a:srgbClr val="287B5B"/>
                </a:solidFill>
                <a:latin typeface="Arial" pitchFamily="34" charset="0"/>
                <a:ea typeface="Arial" pitchFamily="34" charset="-122"/>
                <a:cs typeface="Arial" pitchFamily="34" charset="-120"/>
              </a:rPr>
              <a:t>Explain the result</a:t>
            </a:r>
            <a:endParaRPr lang="en-US" sz="1840" dirty="0"/>
          </a:p>
        </p:txBody>
      </p:sp>
      <p:sp>
        <p:nvSpPr>
          <p:cNvPr id="30" name="Text 27"/>
          <p:cNvSpPr/>
          <p:nvPr/>
        </p:nvSpPr>
        <p:spPr>
          <a:xfrm>
            <a:off x="9240012" y="3273552"/>
            <a:ext cx="2157984" cy="1380744"/>
          </a:xfrm>
          <a:prstGeom prst="rect">
            <a:avLst/>
          </a:prstGeom>
          <a:noFill/>
          <a:ln/>
        </p:spPr>
        <p:txBody>
          <a:bodyPr wrap="square" lIns="0" tIns="0" rIns="0" bIns="0" rtlCol="0" anchor="t"/>
          <a:lstStyle/>
          <a:p>
            <a:pPr indent="0" marL="0">
              <a:buNone/>
            </a:pPr>
            <a:r>
              <a:rPr lang="en-US" sz="1720" dirty="0">
                <a:solidFill>
                  <a:srgbClr val="465D68"/>
                </a:solidFill>
                <a:latin typeface="Arial" pitchFamily="34" charset="0"/>
                <a:ea typeface="Arial" pitchFamily="34" charset="-122"/>
                <a:cs typeface="Arial" pitchFamily="34" charset="-120"/>
              </a:rPr>
              <a:t>Keep the source values and the path between systems visible.</a:t>
            </a:r>
            <a:endParaRPr lang="en-US" sz="1720" dirty="0"/>
          </a:p>
        </p:txBody>
      </p:sp>
      <p:sp>
        <p:nvSpPr>
          <p:cNvPr id="31" name="Text 28"/>
          <p:cNvSpPr/>
          <p:nvPr/>
        </p:nvSpPr>
        <p:spPr>
          <a:xfrm>
            <a:off x="804672" y="5166360"/>
            <a:ext cx="10607040" cy="384048"/>
          </a:xfrm>
          <a:prstGeom prst="rect">
            <a:avLst/>
          </a:prstGeom>
          <a:noFill/>
          <a:ln/>
        </p:spPr>
        <p:txBody>
          <a:bodyPr wrap="square" lIns="0" tIns="0" rIns="0" bIns="0" rtlCol="0" anchor="t"/>
          <a:lstStyle/>
          <a:p>
            <a:pPr indent="0" marL="0">
              <a:buNone/>
            </a:pPr>
            <a:r>
              <a:rPr lang="en-US" sz="2200" b="1" dirty="0">
                <a:solidFill>
                  <a:srgbClr val="233F4C"/>
                </a:solidFill>
                <a:latin typeface="Arial" pitchFamily="34" charset="0"/>
                <a:ea typeface="Arial" pitchFamily="34" charset="-122"/>
                <a:cs typeface="Arial" pitchFamily="34" charset="-120"/>
              </a:rPr>
              <a:t>This checking process is called reconciliation.</a:t>
            </a:r>
            <a:endParaRPr lang="en-US" sz="2200" dirty="0"/>
          </a:p>
        </p:txBody>
      </p:sp>
      <p:sp>
        <p:nvSpPr>
          <p:cNvPr id="32" name="Shape 29"/>
          <p:cNvSpPr/>
          <p:nvPr/>
        </p:nvSpPr>
        <p:spPr>
          <a:xfrm>
            <a:off x="585216" y="5769864"/>
            <a:ext cx="11018520" cy="512064"/>
          </a:xfrm>
          <a:prstGeom prst="roundRect">
            <a:avLst>
              <a:gd name="adj" fmla="val 19643"/>
            </a:avLst>
          </a:prstGeom>
          <a:solidFill>
            <a:srgbClr val="EAF5F4"/>
          </a:solidFill>
          <a:ln w="9525">
            <a:solidFill>
              <a:srgbClr val="87B7B2"/>
            </a:solidFill>
            <a:prstDash val="solid"/>
          </a:ln>
        </p:spPr>
      </p:sp>
      <p:sp>
        <p:nvSpPr>
          <p:cNvPr id="33" name="Text 30"/>
          <p:cNvSpPr/>
          <p:nvPr/>
        </p:nvSpPr>
        <p:spPr>
          <a:xfrm>
            <a:off x="786384" y="5907024"/>
            <a:ext cx="1115568" cy="347472"/>
          </a:xfrm>
          <a:prstGeom prst="rect">
            <a:avLst/>
          </a:prstGeom>
          <a:noFill/>
          <a:ln/>
        </p:spPr>
        <p:txBody>
          <a:bodyPr wrap="square" lIns="0" tIns="0" rIns="0" bIns="0" rtlCol="0" anchor="t"/>
          <a:lstStyle/>
          <a:p>
            <a:pPr indent="0" marL="0">
              <a:buNone/>
            </a:pPr>
            <a:r>
              <a:rPr lang="en-US" sz="1500" b="1" dirty="0">
                <a:solidFill>
                  <a:srgbClr val="317F7B"/>
                </a:solidFill>
                <a:latin typeface="Arial" pitchFamily="34" charset="0"/>
                <a:ea typeface="Arial" pitchFamily="34" charset="-122"/>
                <a:cs typeface="Arial" pitchFamily="34" charset="-120"/>
              </a:rPr>
              <a:t>To begin</a:t>
            </a:r>
            <a:endParaRPr lang="en-US" sz="1500" dirty="0"/>
          </a:p>
        </p:txBody>
      </p:sp>
      <p:sp>
        <p:nvSpPr>
          <p:cNvPr id="34" name="Text 31"/>
          <p:cNvSpPr/>
          <p:nvPr/>
        </p:nvSpPr>
        <p:spPr>
          <a:xfrm>
            <a:off x="1993392" y="5907024"/>
            <a:ext cx="9390888" cy="347472"/>
          </a:xfrm>
          <a:prstGeom prst="rect">
            <a:avLst/>
          </a:prstGeom>
          <a:noFill/>
          <a:ln/>
        </p:spPr>
        <p:txBody>
          <a:bodyPr wrap="square" lIns="0" tIns="0" rIns="0" bIns="0" rtlCol="0" anchor="t"/>
          <a:lstStyle/>
          <a:p>
            <a:pPr indent="0" marL="0">
              <a:buNone/>
            </a:pPr>
            <a:r>
              <a:rPr lang="en-US" sz="1500" dirty="0">
                <a:solidFill>
                  <a:srgbClr val="465D68"/>
                </a:solidFill>
                <a:latin typeface="Arial" pitchFamily="34" charset="0"/>
                <a:ea typeface="Arial" pitchFamily="34" charset="-122"/>
                <a:cs typeface="Arial" pitchFamily="34" charset="-120"/>
              </a:rPr>
              <a:t>Approved files can be uploaded first; automatic collection needs verified connections.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AFC"/>
        </a:solidFill>
      </p:bgPr>
    </p:bg>
    <p:spTree>
      <p:nvGrpSpPr>
        <p:cNvPr id="1" name=""/>
        <p:cNvGrpSpPr/>
        <p:nvPr/>
      </p:nvGrpSpPr>
      <p:grpSpPr>
        <a:xfrm>
          <a:off x="0" y="0"/>
          <a:ext cx="0" cy="0"/>
          <a:chOff x="0" y="0"/>
          <a:chExt cx="0" cy="0"/>
        </a:xfrm>
      </p:grpSpPr>
      <p:sp>
        <p:nvSpPr>
          <p:cNvPr id="2" name="Shape 0"/>
          <p:cNvSpPr/>
          <p:nvPr/>
        </p:nvSpPr>
        <p:spPr>
          <a:xfrm>
            <a:off x="0" y="0"/>
            <a:ext cx="12192000" cy="41148"/>
          </a:xfrm>
          <a:prstGeom prst="rect">
            <a:avLst/>
          </a:prstGeom>
          <a:solidFill>
            <a:srgbClr val="87B7B2"/>
          </a:solidFill>
          <a:ln w="12700">
            <a:solidFill>
              <a:srgbClr val="87B7B2">
                <a:alpha val="0"/>
              </a:srgbClr>
            </a:solidFill>
            <a:prstDash val="solid"/>
          </a:ln>
        </p:spPr>
      </p:sp>
      <p:sp>
        <p:nvSpPr>
          <p:cNvPr id="3" name="Text 1"/>
          <p:cNvSpPr/>
          <p:nvPr/>
        </p:nvSpPr>
        <p:spPr>
          <a:xfrm>
            <a:off x="585216" y="246888"/>
            <a:ext cx="10972800" cy="201168"/>
          </a:xfrm>
          <a:prstGeom prst="rect">
            <a:avLst/>
          </a:prstGeom>
          <a:noFill/>
          <a:ln/>
        </p:spPr>
        <p:txBody>
          <a:bodyPr wrap="square" lIns="0" tIns="0" rIns="0" bIns="0" rtlCol="0" anchor="t"/>
          <a:lstStyle/>
          <a:p>
            <a:pPr indent="0" marL="0">
              <a:buNone/>
            </a:pPr>
            <a:r>
              <a:rPr lang="en-US" sz="1000" b="1" dirty="0">
                <a:solidFill>
                  <a:srgbClr val="317F7B"/>
                </a:solidFill>
                <a:latin typeface="Arial" pitchFamily="34" charset="0"/>
                <a:ea typeface="Arial" pitchFamily="34" charset="-122"/>
                <a:cs typeface="Arial" pitchFamily="34" charset="-120"/>
              </a:rPr>
              <a:t>Give the checking process a name</a:t>
            </a:r>
            <a:endParaRPr lang="en-US" sz="1000" dirty="0"/>
          </a:p>
        </p:txBody>
      </p:sp>
      <p:sp>
        <p:nvSpPr>
          <p:cNvPr id="4" name="Text 2"/>
          <p:cNvSpPr/>
          <p:nvPr/>
        </p:nvSpPr>
        <p:spPr>
          <a:xfrm>
            <a:off x="585216" y="658368"/>
            <a:ext cx="11027664" cy="594360"/>
          </a:xfrm>
          <a:prstGeom prst="rect">
            <a:avLst/>
          </a:prstGeom>
          <a:noFill/>
          <a:ln/>
        </p:spPr>
        <p:txBody>
          <a:bodyPr wrap="square" lIns="0" tIns="0" rIns="0" bIns="0" rtlCol="0" anchor="t"/>
          <a:lstStyle/>
          <a:p>
            <a:pPr indent="0" marL="0">
              <a:buNone/>
            </a:pPr>
            <a:r>
              <a:rPr lang="en-US" sz="2800" b="1" dirty="0">
                <a:solidFill>
                  <a:srgbClr val="233F4C"/>
                </a:solidFill>
                <a:latin typeface="Arial" pitchFamily="34" charset="0"/>
                <a:ea typeface="Arial" pitchFamily="34" charset="-122"/>
                <a:cs typeface="Arial" pitchFamily="34" charset="-120"/>
              </a:rPr>
              <a:t>What does “reconciliation” mean?</a:t>
            </a:r>
            <a:endParaRPr lang="en-US" sz="2800" dirty="0"/>
          </a:p>
        </p:txBody>
      </p:sp>
      <p:sp>
        <p:nvSpPr>
          <p:cNvPr id="5" name="Text 3"/>
          <p:cNvSpPr/>
          <p:nvPr/>
        </p:nvSpPr>
        <p:spPr>
          <a:xfrm>
            <a:off x="594360" y="1307592"/>
            <a:ext cx="10945368" cy="530352"/>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It means comparing the payroll records, investigating differences and checking the result again.</a:t>
            </a:r>
            <a:endParaRPr lang="en-US" sz="1660" dirty="0"/>
          </a:p>
        </p:txBody>
      </p:sp>
      <p:sp>
        <p:nvSpPr>
          <p:cNvPr id="6" name="Shape 4"/>
          <p:cNvSpPr/>
          <p:nvPr/>
        </p:nvSpPr>
        <p:spPr>
          <a:xfrm>
            <a:off x="585216" y="6510528"/>
            <a:ext cx="11018520" cy="0"/>
          </a:xfrm>
          <a:prstGeom prst="line">
            <a:avLst/>
          </a:prstGeom>
          <a:noFill/>
          <a:ln w="10160">
            <a:solidFill>
              <a:srgbClr val="DCE6E9"/>
            </a:solidFill>
            <a:prstDash val="solid"/>
          </a:ln>
        </p:spPr>
      </p:sp>
      <p:sp>
        <p:nvSpPr>
          <p:cNvPr id="7" name="Text 5"/>
          <p:cNvSpPr/>
          <p:nvPr/>
        </p:nvSpPr>
        <p:spPr>
          <a:xfrm>
            <a:off x="594360" y="6611112"/>
            <a:ext cx="3749040" cy="164592"/>
          </a:xfrm>
          <a:prstGeom prst="rect">
            <a:avLst/>
          </a:prstGeom>
          <a:noFill/>
          <a:ln/>
        </p:spPr>
        <p:txBody>
          <a:bodyPr wrap="square" lIns="0" tIns="0" rIns="0" bIns="0" rtlCol="0" anchor="t"/>
          <a:lstStyle/>
          <a:p>
            <a:pPr indent="0" marL="0">
              <a:buNone/>
            </a:pPr>
            <a:r>
              <a:rPr lang="en-US" sz="820" dirty="0">
                <a:solidFill>
                  <a:srgbClr val="69808A"/>
                </a:solidFill>
                <a:latin typeface="Arial" pitchFamily="34" charset="0"/>
                <a:ea typeface="Arial" pitchFamily="34" charset="-122"/>
                <a:cs typeface="Arial" pitchFamily="34" charset="-120"/>
              </a:rPr>
              <a:t>Komlan Kouhiko  /  B&amp;S payroll proposal</a:t>
            </a:r>
            <a:endParaRPr lang="en-US" sz="820" dirty="0"/>
          </a:p>
        </p:txBody>
      </p:sp>
      <p:sp>
        <p:nvSpPr>
          <p:cNvPr id="8" name="Text 6"/>
          <p:cNvSpPr/>
          <p:nvPr/>
        </p:nvSpPr>
        <p:spPr>
          <a:xfrm>
            <a:off x="4023360" y="6611112"/>
            <a:ext cx="6903720" cy="164592"/>
          </a:xfrm>
          <a:prstGeom prst="rect">
            <a:avLst/>
          </a:prstGeom>
          <a:noFill/>
          <a:ln/>
        </p:spPr>
        <p:txBody>
          <a:bodyPr wrap="square" lIns="0" tIns="0" rIns="0" bIns="0" rtlCol="0" anchor="t"/>
          <a:lstStyle/>
          <a:p>
            <a:pPr algn="r" indent="0" marL="0">
              <a:buNone/>
            </a:pPr>
            <a:r>
              <a:rPr lang="en-US" sz="805" dirty="0">
                <a:solidFill>
                  <a:srgbClr val="69808A"/>
                </a:solidFill>
                <a:latin typeface="Arial" pitchFamily="34" charset="0"/>
                <a:ea typeface="Arial" pitchFamily="34" charset="-122"/>
                <a:cs typeface="Arial" pitchFamily="34" charset="-120"/>
              </a:rPr>
              <a:t>[S1] pp. 52–54 • Plain-language explanation</a:t>
            </a:r>
            <a:endParaRPr lang="en-US" sz="805" dirty="0"/>
          </a:p>
        </p:txBody>
      </p:sp>
      <p:sp>
        <p:nvSpPr>
          <p:cNvPr id="9" name="Text 7"/>
          <p:cNvSpPr/>
          <p:nvPr/>
        </p:nvSpPr>
        <p:spPr>
          <a:xfrm>
            <a:off x="11100816" y="6592824"/>
            <a:ext cx="502920" cy="201168"/>
          </a:xfrm>
          <a:prstGeom prst="rect">
            <a:avLst/>
          </a:prstGeom>
          <a:noFill/>
          <a:ln/>
        </p:spPr>
        <p:txBody>
          <a:bodyPr wrap="square" lIns="0" tIns="0" rIns="0" bIns="0" rtlCol="0" anchor="t"/>
          <a:lstStyle/>
          <a:p>
            <a:pPr algn="r" indent="0" marL="0">
              <a:buNone/>
            </a:pPr>
            <a:r>
              <a:rPr lang="en-US" sz="920" dirty="0">
                <a:solidFill>
                  <a:srgbClr val="69808A"/>
                </a:solidFill>
                <a:latin typeface="Arial" pitchFamily="34" charset="0"/>
                <a:ea typeface="Arial" pitchFamily="34" charset="-122"/>
                <a:cs typeface="Arial" pitchFamily="34" charset="-120"/>
              </a:rPr>
              <a:t>04 / 19</a:t>
            </a:r>
            <a:endParaRPr lang="en-US" sz="920" dirty="0"/>
          </a:p>
        </p:txBody>
      </p:sp>
      <p:sp>
        <p:nvSpPr>
          <p:cNvPr id="11" name="Shape 8"/>
          <p:cNvSpPr/>
          <p:nvPr/>
        </p:nvSpPr>
        <p:spPr>
          <a:xfrm>
            <a:off x="594360" y="2075688"/>
            <a:ext cx="3502152" cy="2286000"/>
          </a:xfrm>
          <a:prstGeom prst="roundRect">
            <a:avLst>
              <a:gd name="adj" fmla="val 6400"/>
            </a:avLst>
          </a:prstGeom>
          <a:solidFill>
            <a:srgbClr val="EEF4FD"/>
          </a:solidFill>
          <a:ln w="9525">
            <a:solidFill>
              <a:srgbClr val="B3CDED"/>
            </a:solidFill>
            <a:prstDash val="solid"/>
          </a:ln>
          <a:effectLst>
            <a:outerShdw sx="100000" sy="100000" kx="0" ky="0" algn="bl" rotWithShape="0" blurRad="27940" dist="13970" dir="5400000">
              <a:srgbClr val="90A3AB">
                <a:alpha val="10000"/>
              </a:srgbClr>
            </a:outerShdw>
          </a:effectLst>
        </p:spPr>
      </p:sp>
      <p:sp>
        <p:nvSpPr>
          <p:cNvPr id="12" name="Shape 9"/>
          <p:cNvSpPr/>
          <p:nvPr/>
        </p:nvSpPr>
        <p:spPr>
          <a:xfrm>
            <a:off x="804672" y="2272284"/>
            <a:ext cx="310896" cy="310896"/>
          </a:xfrm>
          <a:prstGeom prst="ellipse">
            <a:avLst/>
          </a:prstGeom>
          <a:solidFill>
            <a:srgbClr val="FFFFFF"/>
          </a:solidFill>
          <a:ln w="12700">
            <a:solidFill>
              <a:srgbClr val="FFFFFF"/>
            </a:solidFill>
            <a:prstDash val="solid"/>
          </a:ln>
        </p:spPr>
      </p:sp>
      <p:sp>
        <p:nvSpPr>
          <p:cNvPr id="13" name="Text 10"/>
          <p:cNvSpPr/>
          <p:nvPr/>
        </p:nvSpPr>
        <p:spPr>
          <a:xfrm>
            <a:off x="804672" y="2308860"/>
            <a:ext cx="310896" cy="292608"/>
          </a:xfrm>
          <a:prstGeom prst="rect">
            <a:avLst/>
          </a:prstGeom>
          <a:noFill/>
          <a:ln/>
        </p:spPr>
        <p:txBody>
          <a:bodyPr wrap="square" lIns="0" tIns="0" rIns="0" bIns="0" rtlCol="0" anchor="t"/>
          <a:lstStyle/>
          <a:p>
            <a:pPr algn="ctr" indent="0" marL="0">
              <a:buNone/>
            </a:pPr>
            <a:r>
              <a:rPr lang="en-US" sz="1320" b="1" dirty="0">
                <a:solidFill>
                  <a:srgbClr val="346DA9"/>
                </a:solidFill>
                <a:latin typeface="Arial" pitchFamily="34" charset="0"/>
                <a:ea typeface="Arial" pitchFamily="34" charset="-122"/>
                <a:cs typeface="Arial" pitchFamily="34" charset="-120"/>
              </a:rPr>
              <a:t>1</a:t>
            </a:r>
            <a:endParaRPr lang="en-US" sz="1320" dirty="0"/>
          </a:p>
        </p:txBody>
      </p:sp>
      <p:sp>
        <p:nvSpPr>
          <p:cNvPr id="14" name="Text 11"/>
          <p:cNvSpPr/>
          <p:nvPr/>
        </p:nvSpPr>
        <p:spPr>
          <a:xfrm>
            <a:off x="1243584" y="2286000"/>
            <a:ext cx="2651760" cy="475488"/>
          </a:xfrm>
          <a:prstGeom prst="rect">
            <a:avLst/>
          </a:prstGeom>
          <a:noFill/>
          <a:ln/>
        </p:spPr>
        <p:txBody>
          <a:bodyPr wrap="square" lIns="0" tIns="0" rIns="0" bIns="0" rtlCol="0" anchor="t"/>
          <a:lstStyle/>
          <a:p>
            <a:pPr indent="0" marL="0">
              <a:buNone/>
            </a:pPr>
            <a:r>
              <a:rPr lang="en-US" sz="2000" b="1" dirty="0">
                <a:solidFill>
                  <a:srgbClr val="346DA9"/>
                </a:solidFill>
                <a:latin typeface="Arial" pitchFamily="34" charset="0"/>
                <a:ea typeface="Arial" pitchFamily="34" charset="-122"/>
                <a:cs typeface="Arial" pitchFamily="34" charset="-120"/>
              </a:rPr>
              <a:t>Compare</a:t>
            </a:r>
            <a:endParaRPr lang="en-US" sz="2000" dirty="0"/>
          </a:p>
        </p:txBody>
      </p:sp>
      <p:sp>
        <p:nvSpPr>
          <p:cNvPr id="15" name="Text 12"/>
          <p:cNvSpPr/>
          <p:nvPr/>
        </p:nvSpPr>
        <p:spPr>
          <a:xfrm>
            <a:off x="804672" y="2843784"/>
            <a:ext cx="3081528" cy="1353312"/>
          </a:xfrm>
          <a:prstGeom prst="rect">
            <a:avLst/>
          </a:prstGeom>
          <a:noFill/>
          <a:ln/>
        </p:spPr>
        <p:txBody>
          <a:bodyPr wrap="square" lIns="0" tIns="0" rIns="0" bIns="0" rtlCol="0" anchor="t"/>
          <a:lstStyle/>
          <a:p>
            <a:pPr indent="0" marL="0">
              <a:buNone/>
            </a:pPr>
            <a:r>
              <a:rPr lang="en-US" sz="1800" dirty="0">
                <a:solidFill>
                  <a:srgbClr val="465D68"/>
                </a:solidFill>
                <a:latin typeface="Arial" pitchFamily="34" charset="0"/>
                <a:ea typeface="Arial" pitchFamily="34" charset="-122"/>
                <a:cs typeface="Arial" pitchFamily="34" charset="-120"/>
              </a:rPr>
              <a:t>For the same employee and period, compare the Jonas payroll report with the Paylocity pay record.</a:t>
            </a:r>
            <a:endParaRPr lang="en-US" sz="1800" dirty="0"/>
          </a:p>
        </p:txBody>
      </p:sp>
      <p:sp>
        <p:nvSpPr>
          <p:cNvPr id="16" name="Shape 13"/>
          <p:cNvSpPr/>
          <p:nvPr/>
        </p:nvSpPr>
        <p:spPr>
          <a:xfrm>
            <a:off x="4343400" y="2075688"/>
            <a:ext cx="3502152" cy="2286000"/>
          </a:xfrm>
          <a:prstGeom prst="roundRect">
            <a:avLst>
              <a:gd name="adj" fmla="val 6400"/>
            </a:avLst>
          </a:prstGeom>
          <a:solidFill>
            <a:srgbClr val="FFF8E4"/>
          </a:solidFill>
          <a:ln w="9525">
            <a:solidFill>
              <a:srgbClr val="DFCD9D"/>
            </a:solidFill>
            <a:prstDash val="solid"/>
          </a:ln>
          <a:effectLst>
            <a:outerShdw sx="100000" sy="100000" kx="0" ky="0" algn="bl" rotWithShape="0" blurRad="27940" dist="13970" dir="5400000">
              <a:srgbClr val="90A3AB">
                <a:alpha val="10000"/>
              </a:srgbClr>
            </a:outerShdw>
          </a:effectLst>
        </p:spPr>
      </p:sp>
      <p:sp>
        <p:nvSpPr>
          <p:cNvPr id="17" name="Shape 14"/>
          <p:cNvSpPr/>
          <p:nvPr/>
        </p:nvSpPr>
        <p:spPr>
          <a:xfrm>
            <a:off x="4553712" y="2272284"/>
            <a:ext cx="310896" cy="310896"/>
          </a:xfrm>
          <a:prstGeom prst="ellipse">
            <a:avLst/>
          </a:prstGeom>
          <a:solidFill>
            <a:srgbClr val="FFFFFF"/>
          </a:solidFill>
          <a:ln w="12700">
            <a:solidFill>
              <a:srgbClr val="FFFFFF"/>
            </a:solidFill>
            <a:prstDash val="solid"/>
          </a:ln>
        </p:spPr>
      </p:sp>
      <p:sp>
        <p:nvSpPr>
          <p:cNvPr id="18" name="Text 15"/>
          <p:cNvSpPr/>
          <p:nvPr/>
        </p:nvSpPr>
        <p:spPr>
          <a:xfrm>
            <a:off x="4553712" y="2308860"/>
            <a:ext cx="310896" cy="292608"/>
          </a:xfrm>
          <a:prstGeom prst="rect">
            <a:avLst/>
          </a:prstGeom>
          <a:noFill/>
          <a:ln/>
        </p:spPr>
        <p:txBody>
          <a:bodyPr wrap="square" lIns="0" tIns="0" rIns="0" bIns="0" rtlCol="0" anchor="t"/>
          <a:lstStyle/>
          <a:p>
            <a:pPr algn="ctr" indent="0" marL="0">
              <a:buNone/>
            </a:pPr>
            <a:r>
              <a:rPr lang="en-US" sz="1320" b="1" dirty="0">
                <a:solidFill>
                  <a:srgbClr val="92712F"/>
                </a:solidFill>
                <a:latin typeface="Arial" pitchFamily="34" charset="0"/>
                <a:ea typeface="Arial" pitchFamily="34" charset="-122"/>
                <a:cs typeface="Arial" pitchFamily="34" charset="-120"/>
              </a:rPr>
              <a:t>2</a:t>
            </a:r>
            <a:endParaRPr lang="en-US" sz="1320" dirty="0"/>
          </a:p>
        </p:txBody>
      </p:sp>
      <p:sp>
        <p:nvSpPr>
          <p:cNvPr id="19" name="Text 16"/>
          <p:cNvSpPr/>
          <p:nvPr/>
        </p:nvSpPr>
        <p:spPr>
          <a:xfrm>
            <a:off x="4992624" y="2286000"/>
            <a:ext cx="2651760" cy="475488"/>
          </a:xfrm>
          <a:prstGeom prst="rect">
            <a:avLst/>
          </a:prstGeom>
          <a:noFill/>
          <a:ln/>
        </p:spPr>
        <p:txBody>
          <a:bodyPr wrap="square" lIns="0" tIns="0" rIns="0" bIns="0" rtlCol="0" anchor="t"/>
          <a:lstStyle/>
          <a:p>
            <a:pPr indent="0" marL="0">
              <a:buNone/>
            </a:pPr>
            <a:r>
              <a:rPr lang="en-US" sz="2000" b="1" dirty="0">
                <a:solidFill>
                  <a:srgbClr val="92712F"/>
                </a:solidFill>
                <a:latin typeface="Arial" pitchFamily="34" charset="0"/>
                <a:ea typeface="Arial" pitchFamily="34" charset="-122"/>
                <a:cs typeface="Arial" pitchFamily="34" charset="-120"/>
              </a:rPr>
              <a:t>Investigate</a:t>
            </a:r>
            <a:endParaRPr lang="en-US" sz="2000" dirty="0"/>
          </a:p>
        </p:txBody>
      </p:sp>
      <p:sp>
        <p:nvSpPr>
          <p:cNvPr id="20" name="Text 17"/>
          <p:cNvSpPr/>
          <p:nvPr/>
        </p:nvSpPr>
        <p:spPr>
          <a:xfrm>
            <a:off x="4553712" y="2843784"/>
            <a:ext cx="3081528" cy="1353312"/>
          </a:xfrm>
          <a:prstGeom prst="rect">
            <a:avLst/>
          </a:prstGeom>
          <a:noFill/>
          <a:ln/>
        </p:spPr>
        <p:txBody>
          <a:bodyPr wrap="square" lIns="0" tIns="0" rIns="0" bIns="0" rtlCol="0" anchor="t"/>
          <a:lstStyle/>
          <a:p>
            <a:pPr indent="0" marL="0">
              <a:buNone/>
            </a:pPr>
            <a:r>
              <a:rPr lang="en-US" sz="1800" dirty="0">
                <a:solidFill>
                  <a:srgbClr val="465D68"/>
                </a:solidFill>
                <a:latin typeface="Arial" pitchFamily="34" charset="0"/>
                <a:ea typeface="Arial" pitchFamily="34" charset="-122"/>
                <a:cs typeface="Arial" pitchFamily="34" charset="-120"/>
              </a:rPr>
              <a:t>A difference is an exception: something Payroll needs to review and decide how to resolve.</a:t>
            </a:r>
            <a:endParaRPr lang="en-US" sz="1800" dirty="0"/>
          </a:p>
        </p:txBody>
      </p:sp>
      <p:sp>
        <p:nvSpPr>
          <p:cNvPr id="21" name="Shape 18"/>
          <p:cNvSpPr/>
          <p:nvPr/>
        </p:nvSpPr>
        <p:spPr>
          <a:xfrm>
            <a:off x="8092440" y="2075688"/>
            <a:ext cx="3502152" cy="2286000"/>
          </a:xfrm>
          <a:prstGeom prst="roundRect">
            <a:avLst>
              <a:gd name="adj" fmla="val 6400"/>
            </a:avLst>
          </a:prstGeom>
          <a:solidFill>
            <a:srgbClr val="EDF8F1"/>
          </a:solidFill>
          <a:ln w="9525">
            <a:solidFill>
              <a:srgbClr val="A4CCB9"/>
            </a:solidFill>
            <a:prstDash val="solid"/>
          </a:ln>
          <a:effectLst>
            <a:outerShdw sx="100000" sy="100000" kx="0" ky="0" algn="bl" rotWithShape="0" blurRad="27940" dist="13970" dir="5400000">
              <a:srgbClr val="90A3AB">
                <a:alpha val="10000"/>
              </a:srgbClr>
            </a:outerShdw>
          </a:effectLst>
        </p:spPr>
      </p:sp>
      <p:sp>
        <p:nvSpPr>
          <p:cNvPr id="22" name="Shape 19"/>
          <p:cNvSpPr/>
          <p:nvPr/>
        </p:nvSpPr>
        <p:spPr>
          <a:xfrm>
            <a:off x="8302752" y="2272284"/>
            <a:ext cx="310896" cy="310896"/>
          </a:xfrm>
          <a:prstGeom prst="ellipse">
            <a:avLst/>
          </a:prstGeom>
          <a:solidFill>
            <a:srgbClr val="FFFFFF"/>
          </a:solidFill>
          <a:ln w="12700">
            <a:solidFill>
              <a:srgbClr val="FFFFFF"/>
            </a:solidFill>
            <a:prstDash val="solid"/>
          </a:ln>
        </p:spPr>
      </p:sp>
      <p:sp>
        <p:nvSpPr>
          <p:cNvPr id="23" name="Text 20"/>
          <p:cNvSpPr/>
          <p:nvPr/>
        </p:nvSpPr>
        <p:spPr>
          <a:xfrm>
            <a:off x="8302752" y="2308860"/>
            <a:ext cx="310896" cy="292608"/>
          </a:xfrm>
          <a:prstGeom prst="rect">
            <a:avLst/>
          </a:prstGeom>
          <a:noFill/>
          <a:ln/>
        </p:spPr>
        <p:txBody>
          <a:bodyPr wrap="square" lIns="0" tIns="0" rIns="0" bIns="0" rtlCol="0" anchor="t"/>
          <a:lstStyle/>
          <a:p>
            <a:pPr algn="ctr" indent="0" marL="0">
              <a:buNone/>
            </a:pPr>
            <a:r>
              <a:rPr lang="en-US" sz="1320" b="1" dirty="0">
                <a:solidFill>
                  <a:srgbClr val="287B5B"/>
                </a:solidFill>
                <a:latin typeface="Arial" pitchFamily="34" charset="0"/>
                <a:ea typeface="Arial" pitchFamily="34" charset="-122"/>
                <a:cs typeface="Arial" pitchFamily="34" charset="-120"/>
              </a:rPr>
              <a:t>3</a:t>
            </a:r>
            <a:endParaRPr lang="en-US" sz="1320" dirty="0"/>
          </a:p>
        </p:txBody>
      </p:sp>
      <p:sp>
        <p:nvSpPr>
          <p:cNvPr id="24" name="Text 21"/>
          <p:cNvSpPr/>
          <p:nvPr/>
        </p:nvSpPr>
        <p:spPr>
          <a:xfrm>
            <a:off x="8741664" y="2286000"/>
            <a:ext cx="2651760" cy="475488"/>
          </a:xfrm>
          <a:prstGeom prst="rect">
            <a:avLst/>
          </a:prstGeom>
          <a:noFill/>
          <a:ln/>
        </p:spPr>
        <p:txBody>
          <a:bodyPr wrap="square" lIns="0" tIns="0" rIns="0" bIns="0" rtlCol="0" anchor="t"/>
          <a:lstStyle/>
          <a:p>
            <a:pPr indent="0" marL="0">
              <a:buNone/>
            </a:pPr>
            <a:r>
              <a:rPr lang="en-US" sz="2000" b="1" dirty="0">
                <a:solidFill>
                  <a:srgbClr val="287B5B"/>
                </a:solidFill>
                <a:latin typeface="Arial" pitchFamily="34" charset="0"/>
                <a:ea typeface="Arial" pitchFamily="34" charset="-122"/>
                <a:cs typeface="Arial" pitchFamily="34" charset="-120"/>
              </a:rPr>
              <a:t>Verify again</a:t>
            </a:r>
            <a:endParaRPr lang="en-US" sz="2000" dirty="0"/>
          </a:p>
        </p:txBody>
      </p:sp>
      <p:sp>
        <p:nvSpPr>
          <p:cNvPr id="25" name="Text 22"/>
          <p:cNvSpPr/>
          <p:nvPr/>
        </p:nvSpPr>
        <p:spPr>
          <a:xfrm>
            <a:off x="8302752" y="2843784"/>
            <a:ext cx="3081528" cy="1353312"/>
          </a:xfrm>
          <a:prstGeom prst="rect">
            <a:avLst/>
          </a:prstGeom>
          <a:noFill/>
          <a:ln/>
        </p:spPr>
        <p:txBody>
          <a:bodyPr wrap="square" lIns="0" tIns="0" rIns="0" bIns="0" rtlCol="0" anchor="t"/>
          <a:lstStyle/>
          <a:p>
            <a:pPr indent="0" marL="0">
              <a:buNone/>
            </a:pPr>
            <a:r>
              <a:rPr lang="en-US" sz="1800" dirty="0">
                <a:solidFill>
                  <a:srgbClr val="465D68"/>
                </a:solidFill>
                <a:latin typeface="Arial" pitchFamily="34" charset="0"/>
                <a:ea typeface="Arial" pitchFamily="34" charset="-122"/>
                <a:cs typeface="Arial" pitchFamily="34" charset="-120"/>
              </a:rPr>
              <a:t>After the right system is corrected, obtain the updated record and run the checks again.</a:t>
            </a:r>
            <a:endParaRPr lang="en-US" sz="1800" dirty="0"/>
          </a:p>
        </p:txBody>
      </p:sp>
      <p:sp>
        <p:nvSpPr>
          <p:cNvPr id="26" name="Text 23"/>
          <p:cNvSpPr/>
          <p:nvPr/>
        </p:nvSpPr>
        <p:spPr>
          <a:xfrm>
            <a:off x="804672" y="4626864"/>
            <a:ext cx="10533888" cy="713232"/>
          </a:xfrm>
          <a:prstGeom prst="rect">
            <a:avLst/>
          </a:prstGeom>
          <a:noFill/>
          <a:ln/>
        </p:spPr>
        <p:txBody>
          <a:bodyPr wrap="square" lIns="0" tIns="0" rIns="0" bIns="0" rtlCol="0" anchor="t"/>
          <a:lstStyle/>
          <a:p>
            <a:pPr indent="0" marL="0">
              <a:buNone/>
            </a:pPr>
            <a:r>
              <a:rPr lang="en-US" sz="1690" dirty="0">
                <a:solidFill>
                  <a:srgbClr val="465D68"/>
                </a:solidFill>
                <a:latin typeface="Arial" pitchFamily="34" charset="0"/>
                <a:ea typeface="Arial" pitchFamily="34" charset="-122"/>
                <a:cs typeface="Arial" pitchFamily="34" charset="-120"/>
              </a:rPr>
              <a:t>Here, a check is an employee’s pay record; a batch groups those records. We compare hours, overtime, leave, rates, per diem (daily allowances), deductions and missing pay.</a:t>
            </a:r>
            <a:endParaRPr lang="en-US" sz="1690" dirty="0"/>
          </a:p>
        </p:txBody>
      </p:sp>
      <p:sp>
        <p:nvSpPr>
          <p:cNvPr id="27" name="Shape 24"/>
          <p:cNvSpPr/>
          <p:nvPr/>
        </p:nvSpPr>
        <p:spPr>
          <a:xfrm>
            <a:off x="585216" y="5696712"/>
            <a:ext cx="11018520" cy="576072"/>
          </a:xfrm>
          <a:prstGeom prst="roundRect">
            <a:avLst>
              <a:gd name="adj" fmla="val 17460"/>
            </a:avLst>
          </a:prstGeom>
          <a:solidFill>
            <a:srgbClr val="EAF5F4"/>
          </a:solidFill>
          <a:ln w="9525">
            <a:solidFill>
              <a:srgbClr val="87B7B2"/>
            </a:solidFill>
            <a:prstDash val="solid"/>
          </a:ln>
        </p:spPr>
      </p:sp>
      <p:sp>
        <p:nvSpPr>
          <p:cNvPr id="28" name="Text 25"/>
          <p:cNvSpPr/>
          <p:nvPr/>
        </p:nvSpPr>
        <p:spPr>
          <a:xfrm>
            <a:off x="786384" y="5833872"/>
            <a:ext cx="1828800" cy="411480"/>
          </a:xfrm>
          <a:prstGeom prst="rect">
            <a:avLst/>
          </a:prstGeom>
          <a:noFill/>
          <a:ln/>
        </p:spPr>
        <p:txBody>
          <a:bodyPr wrap="square" lIns="0" tIns="0" rIns="0" bIns="0" rtlCol="0" anchor="t"/>
          <a:lstStyle/>
          <a:p>
            <a:pPr indent="0" marL="0">
              <a:buNone/>
            </a:pPr>
            <a:r>
              <a:rPr lang="en-US" sz="1570" b="1" dirty="0">
                <a:solidFill>
                  <a:srgbClr val="317F7B"/>
                </a:solidFill>
                <a:latin typeface="Arial" pitchFamily="34" charset="0"/>
                <a:ea typeface="Arial" pitchFamily="34" charset="-122"/>
                <a:cs typeface="Arial" pitchFamily="34" charset="-120"/>
              </a:rPr>
              <a:t>What green means</a:t>
            </a:r>
            <a:endParaRPr lang="en-US" sz="1570" dirty="0"/>
          </a:p>
        </p:txBody>
      </p:sp>
      <p:sp>
        <p:nvSpPr>
          <p:cNvPr id="29" name="Text 26"/>
          <p:cNvSpPr/>
          <p:nvPr/>
        </p:nvSpPr>
        <p:spPr>
          <a:xfrm>
            <a:off x="2706624" y="5833872"/>
            <a:ext cx="8677656" cy="411480"/>
          </a:xfrm>
          <a:prstGeom prst="rect">
            <a:avLst/>
          </a:prstGeom>
          <a:noFill/>
          <a:ln/>
        </p:spPr>
        <p:txBody>
          <a:bodyPr wrap="square" lIns="0" tIns="0" rIns="0" bIns="0" rtlCol="0" anchor="t"/>
          <a:lstStyle/>
          <a:p>
            <a:pPr indent="0" marL="0">
              <a:buNone/>
            </a:pPr>
            <a:r>
              <a:rPr lang="en-US" sz="1570" dirty="0">
                <a:solidFill>
                  <a:srgbClr val="465D68"/>
                </a:solidFill>
                <a:latin typeface="Arial" pitchFamily="34" charset="0"/>
                <a:ea typeface="Arial" pitchFamily="34" charset="-122"/>
                <a:cs typeface="Arial" pitchFamily="34" charset="-120"/>
              </a:rPr>
              <a:t>The required checks passed. Payroll has not been approved, submitted or paid.</a:t>
            </a:r>
            <a:endParaRPr lang="en-US" sz="157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AFC"/>
        </a:solidFill>
      </p:bgPr>
    </p:bg>
    <p:spTree>
      <p:nvGrpSpPr>
        <p:cNvPr id="1" name=""/>
        <p:cNvGrpSpPr/>
        <p:nvPr/>
      </p:nvGrpSpPr>
      <p:grpSpPr>
        <a:xfrm>
          <a:off x="0" y="0"/>
          <a:ext cx="0" cy="0"/>
          <a:chOff x="0" y="0"/>
          <a:chExt cx="0" cy="0"/>
        </a:xfrm>
      </p:grpSpPr>
      <p:sp>
        <p:nvSpPr>
          <p:cNvPr id="2" name="Shape 0"/>
          <p:cNvSpPr/>
          <p:nvPr/>
        </p:nvSpPr>
        <p:spPr>
          <a:xfrm>
            <a:off x="0" y="0"/>
            <a:ext cx="12192000" cy="41148"/>
          </a:xfrm>
          <a:prstGeom prst="rect">
            <a:avLst/>
          </a:prstGeom>
          <a:solidFill>
            <a:srgbClr val="87B7B2"/>
          </a:solidFill>
          <a:ln w="12700">
            <a:solidFill>
              <a:srgbClr val="87B7B2">
                <a:alpha val="0"/>
              </a:srgbClr>
            </a:solidFill>
            <a:prstDash val="solid"/>
          </a:ln>
        </p:spPr>
      </p:sp>
      <p:sp>
        <p:nvSpPr>
          <p:cNvPr id="3" name="Text 1"/>
          <p:cNvSpPr/>
          <p:nvPr/>
        </p:nvSpPr>
        <p:spPr>
          <a:xfrm>
            <a:off x="585216" y="246888"/>
            <a:ext cx="10972800" cy="201168"/>
          </a:xfrm>
          <a:prstGeom prst="rect">
            <a:avLst/>
          </a:prstGeom>
          <a:noFill/>
          <a:ln/>
        </p:spPr>
        <p:txBody>
          <a:bodyPr wrap="square" lIns="0" tIns="0" rIns="0" bIns="0" rtlCol="0" anchor="t"/>
          <a:lstStyle/>
          <a:p>
            <a:pPr indent="0" marL="0">
              <a:buNone/>
            </a:pPr>
            <a:r>
              <a:rPr lang="en-US" sz="1000" b="1" dirty="0">
                <a:solidFill>
                  <a:srgbClr val="317F7B"/>
                </a:solidFill>
                <a:latin typeface="Arial" pitchFamily="34" charset="0"/>
                <a:ea typeface="Arial" pitchFamily="34" charset="-122"/>
                <a:cs typeface="Arial" pitchFamily="34" charset="-120"/>
              </a:rPr>
              <a:t>Follow one simple example</a:t>
            </a:r>
            <a:endParaRPr lang="en-US" sz="1000" dirty="0"/>
          </a:p>
        </p:txBody>
      </p:sp>
      <p:sp>
        <p:nvSpPr>
          <p:cNvPr id="4" name="Text 2"/>
          <p:cNvSpPr/>
          <p:nvPr/>
        </p:nvSpPr>
        <p:spPr>
          <a:xfrm>
            <a:off x="585216" y="658368"/>
            <a:ext cx="11027664" cy="594360"/>
          </a:xfrm>
          <a:prstGeom prst="rect">
            <a:avLst/>
          </a:prstGeom>
          <a:noFill/>
          <a:ln/>
        </p:spPr>
        <p:txBody>
          <a:bodyPr wrap="square" lIns="0" tIns="0" rIns="0" bIns="0" rtlCol="0" anchor="t"/>
          <a:lstStyle/>
          <a:p>
            <a:pPr indent="0" marL="0">
              <a:buNone/>
            </a:pPr>
            <a:r>
              <a:rPr lang="en-US" sz="2800" b="1" dirty="0">
                <a:solidFill>
                  <a:srgbClr val="233F4C"/>
                </a:solidFill>
                <a:latin typeface="Arial" pitchFamily="34" charset="0"/>
                <a:ea typeface="Arial" pitchFamily="34" charset="-122"/>
                <a:cs typeface="Arial" pitchFamily="34" charset="-120"/>
              </a:rPr>
              <a:t>Where does a two-hour difference go?</a:t>
            </a:r>
            <a:endParaRPr lang="en-US" sz="2800" dirty="0"/>
          </a:p>
        </p:txBody>
      </p:sp>
      <p:sp>
        <p:nvSpPr>
          <p:cNvPr id="5" name="Text 3"/>
          <p:cNvSpPr/>
          <p:nvPr/>
        </p:nvSpPr>
        <p:spPr>
          <a:xfrm>
            <a:off x="594360" y="1307592"/>
            <a:ext cx="10945368" cy="530352"/>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It must be corrected in the system containing the error—not simply changed on the review screen.</a:t>
            </a:r>
            <a:endParaRPr lang="en-US" sz="1660" dirty="0"/>
          </a:p>
        </p:txBody>
      </p:sp>
      <p:sp>
        <p:nvSpPr>
          <p:cNvPr id="6" name="Shape 4"/>
          <p:cNvSpPr/>
          <p:nvPr/>
        </p:nvSpPr>
        <p:spPr>
          <a:xfrm>
            <a:off x="585216" y="6510528"/>
            <a:ext cx="11018520" cy="0"/>
          </a:xfrm>
          <a:prstGeom prst="line">
            <a:avLst/>
          </a:prstGeom>
          <a:noFill/>
          <a:ln w="10160">
            <a:solidFill>
              <a:srgbClr val="DCE6E9"/>
            </a:solidFill>
            <a:prstDash val="solid"/>
          </a:ln>
        </p:spPr>
      </p:sp>
      <p:sp>
        <p:nvSpPr>
          <p:cNvPr id="7" name="Text 5"/>
          <p:cNvSpPr/>
          <p:nvPr/>
        </p:nvSpPr>
        <p:spPr>
          <a:xfrm>
            <a:off x="594360" y="6611112"/>
            <a:ext cx="3749040" cy="164592"/>
          </a:xfrm>
          <a:prstGeom prst="rect">
            <a:avLst/>
          </a:prstGeom>
          <a:noFill/>
          <a:ln/>
        </p:spPr>
        <p:txBody>
          <a:bodyPr wrap="square" lIns="0" tIns="0" rIns="0" bIns="0" rtlCol="0" anchor="t"/>
          <a:lstStyle/>
          <a:p>
            <a:pPr indent="0" marL="0">
              <a:buNone/>
            </a:pPr>
            <a:r>
              <a:rPr lang="en-US" sz="820" dirty="0">
                <a:solidFill>
                  <a:srgbClr val="69808A"/>
                </a:solidFill>
                <a:latin typeface="Arial" pitchFamily="34" charset="0"/>
                <a:ea typeface="Arial" pitchFamily="34" charset="-122"/>
                <a:cs typeface="Arial" pitchFamily="34" charset="-120"/>
              </a:rPr>
              <a:t>Komlan Kouhiko  /  B&amp;S payroll proposal</a:t>
            </a:r>
            <a:endParaRPr lang="en-US" sz="820" dirty="0"/>
          </a:p>
        </p:txBody>
      </p:sp>
      <p:sp>
        <p:nvSpPr>
          <p:cNvPr id="8" name="Text 6"/>
          <p:cNvSpPr/>
          <p:nvPr/>
        </p:nvSpPr>
        <p:spPr>
          <a:xfrm>
            <a:off x="4023360" y="6611112"/>
            <a:ext cx="6903720" cy="164592"/>
          </a:xfrm>
          <a:prstGeom prst="rect">
            <a:avLst/>
          </a:prstGeom>
          <a:noFill/>
          <a:ln/>
        </p:spPr>
        <p:txBody>
          <a:bodyPr wrap="square" lIns="0" tIns="0" rIns="0" bIns="0" rtlCol="0" anchor="t"/>
          <a:lstStyle/>
          <a:p>
            <a:pPr algn="r" indent="0" marL="0">
              <a:buNone/>
            </a:pPr>
            <a:r>
              <a:rPr lang="en-US" sz="805" dirty="0">
                <a:solidFill>
                  <a:srgbClr val="69808A"/>
                </a:solidFill>
                <a:latin typeface="Arial" pitchFamily="34" charset="0"/>
                <a:ea typeface="Arial" pitchFamily="34" charset="-122"/>
                <a:cs typeface="Arial" pitchFamily="34" charset="-120"/>
              </a:rPr>
              <a:t>[S1] p. 53 • Illustrative values</a:t>
            </a:r>
            <a:endParaRPr lang="en-US" sz="805" dirty="0"/>
          </a:p>
        </p:txBody>
      </p:sp>
      <p:sp>
        <p:nvSpPr>
          <p:cNvPr id="9" name="Text 7"/>
          <p:cNvSpPr/>
          <p:nvPr/>
        </p:nvSpPr>
        <p:spPr>
          <a:xfrm>
            <a:off x="11100816" y="6592824"/>
            <a:ext cx="502920" cy="201168"/>
          </a:xfrm>
          <a:prstGeom prst="rect">
            <a:avLst/>
          </a:prstGeom>
          <a:noFill/>
          <a:ln/>
        </p:spPr>
        <p:txBody>
          <a:bodyPr wrap="square" lIns="0" tIns="0" rIns="0" bIns="0" rtlCol="0" anchor="t"/>
          <a:lstStyle/>
          <a:p>
            <a:pPr algn="r" indent="0" marL="0">
              <a:buNone/>
            </a:pPr>
            <a:r>
              <a:rPr lang="en-US" sz="920" dirty="0">
                <a:solidFill>
                  <a:srgbClr val="69808A"/>
                </a:solidFill>
                <a:latin typeface="Arial" pitchFamily="34" charset="0"/>
                <a:ea typeface="Arial" pitchFamily="34" charset="-122"/>
                <a:cs typeface="Arial" pitchFamily="34" charset="-120"/>
              </a:rPr>
              <a:t>05 / 19</a:t>
            </a:r>
            <a:endParaRPr lang="en-US" sz="920" dirty="0"/>
          </a:p>
        </p:txBody>
      </p:sp>
      <p:sp>
        <p:nvSpPr>
          <p:cNvPr id="11" name="Shape 8"/>
          <p:cNvSpPr/>
          <p:nvPr/>
        </p:nvSpPr>
        <p:spPr>
          <a:xfrm>
            <a:off x="868680" y="2148840"/>
            <a:ext cx="2926080" cy="1161288"/>
          </a:xfrm>
          <a:prstGeom prst="roundRect">
            <a:avLst>
              <a:gd name="adj" fmla="val 12598"/>
            </a:avLst>
          </a:prstGeom>
          <a:solidFill>
            <a:srgbClr val="EEF4FD"/>
          </a:solidFill>
          <a:ln w="9525">
            <a:solidFill>
              <a:srgbClr val="B3CDED"/>
            </a:solidFill>
            <a:prstDash val="solid"/>
          </a:ln>
          <a:effectLst>
            <a:outerShdw sx="100000" sy="100000" kx="0" ky="0" algn="bl" rotWithShape="0" blurRad="27940" dist="13970" dir="5400000">
              <a:srgbClr val="90A3AB">
                <a:alpha val="10000"/>
              </a:srgbClr>
            </a:outerShdw>
          </a:effectLst>
        </p:spPr>
      </p:sp>
      <p:sp>
        <p:nvSpPr>
          <p:cNvPr id="12" name="Text 9"/>
          <p:cNvSpPr/>
          <p:nvPr/>
        </p:nvSpPr>
        <p:spPr>
          <a:xfrm>
            <a:off x="1078992" y="2359152"/>
            <a:ext cx="2514600" cy="475488"/>
          </a:xfrm>
          <a:prstGeom prst="rect">
            <a:avLst/>
          </a:prstGeom>
          <a:noFill/>
          <a:ln/>
        </p:spPr>
        <p:txBody>
          <a:bodyPr wrap="square" lIns="0" tIns="0" rIns="0" bIns="0" rtlCol="0" anchor="t"/>
          <a:lstStyle/>
          <a:p>
            <a:pPr indent="0" marL="0">
              <a:buNone/>
            </a:pPr>
            <a:r>
              <a:rPr lang="en-US" sz="1720" b="1" dirty="0">
                <a:solidFill>
                  <a:srgbClr val="346DA9"/>
                </a:solidFill>
                <a:latin typeface="Arial" pitchFamily="34" charset="0"/>
                <a:ea typeface="Arial" pitchFamily="34" charset="-122"/>
                <a:cs typeface="Arial" pitchFamily="34" charset="-120"/>
              </a:rPr>
              <a:t>Jonas report</a:t>
            </a:r>
            <a:endParaRPr lang="en-US" sz="1720" dirty="0"/>
          </a:p>
        </p:txBody>
      </p:sp>
      <p:sp>
        <p:nvSpPr>
          <p:cNvPr id="13" name="Text 10"/>
          <p:cNvSpPr/>
          <p:nvPr/>
        </p:nvSpPr>
        <p:spPr>
          <a:xfrm>
            <a:off x="1078992" y="2779776"/>
            <a:ext cx="2505456" cy="365760"/>
          </a:xfrm>
          <a:prstGeom prst="rect">
            <a:avLst/>
          </a:prstGeom>
          <a:noFill/>
          <a:ln/>
        </p:spPr>
        <p:txBody>
          <a:bodyPr wrap="square" lIns="0" tIns="0" rIns="0" bIns="0" rtlCol="0" anchor="t"/>
          <a:lstStyle/>
          <a:p>
            <a:pPr indent="0" marL="0">
              <a:buNone/>
            </a:pPr>
            <a:r>
              <a:rPr lang="en-US" sz="2400" dirty="0">
                <a:solidFill>
                  <a:srgbClr val="465D68"/>
                </a:solidFill>
                <a:latin typeface="Arial" pitchFamily="34" charset="0"/>
                <a:ea typeface="Arial" pitchFamily="34" charset="-122"/>
                <a:cs typeface="Arial" pitchFamily="34" charset="-120"/>
              </a:rPr>
              <a:t>40 regular hours</a:t>
            </a:r>
            <a:endParaRPr lang="en-US" sz="2400" dirty="0"/>
          </a:p>
        </p:txBody>
      </p:sp>
      <p:sp>
        <p:nvSpPr>
          <p:cNvPr id="14" name="Shape 11"/>
          <p:cNvSpPr/>
          <p:nvPr/>
        </p:nvSpPr>
        <p:spPr>
          <a:xfrm>
            <a:off x="4645152" y="2148840"/>
            <a:ext cx="2926080" cy="1161288"/>
          </a:xfrm>
          <a:prstGeom prst="roundRect">
            <a:avLst>
              <a:gd name="adj" fmla="val 12598"/>
            </a:avLst>
          </a:prstGeom>
          <a:solidFill>
            <a:srgbClr val="EDF8F1"/>
          </a:solidFill>
          <a:ln w="9525">
            <a:solidFill>
              <a:srgbClr val="A4CCB9"/>
            </a:solidFill>
            <a:prstDash val="solid"/>
          </a:ln>
          <a:effectLst>
            <a:outerShdw sx="100000" sy="100000" kx="0" ky="0" algn="bl" rotWithShape="0" blurRad="27940" dist="13970" dir="5400000">
              <a:srgbClr val="90A3AB">
                <a:alpha val="10000"/>
              </a:srgbClr>
            </a:outerShdw>
          </a:effectLst>
        </p:spPr>
      </p:sp>
      <p:sp>
        <p:nvSpPr>
          <p:cNvPr id="15" name="Text 12"/>
          <p:cNvSpPr/>
          <p:nvPr/>
        </p:nvSpPr>
        <p:spPr>
          <a:xfrm>
            <a:off x="4855464" y="2359152"/>
            <a:ext cx="2514600" cy="475488"/>
          </a:xfrm>
          <a:prstGeom prst="rect">
            <a:avLst/>
          </a:prstGeom>
          <a:noFill/>
          <a:ln/>
        </p:spPr>
        <p:txBody>
          <a:bodyPr wrap="square" lIns="0" tIns="0" rIns="0" bIns="0" rtlCol="0" anchor="t"/>
          <a:lstStyle/>
          <a:p>
            <a:pPr indent="0" marL="0">
              <a:buNone/>
            </a:pPr>
            <a:r>
              <a:rPr lang="en-US" sz="1720" b="1" dirty="0">
                <a:solidFill>
                  <a:srgbClr val="287B5B"/>
                </a:solidFill>
                <a:latin typeface="Arial" pitchFamily="34" charset="0"/>
                <a:ea typeface="Arial" pitchFamily="34" charset="-122"/>
                <a:cs typeface="Arial" pitchFamily="34" charset="-120"/>
              </a:rPr>
              <a:t>Paylocity record</a:t>
            </a:r>
            <a:endParaRPr lang="en-US" sz="1720" dirty="0"/>
          </a:p>
        </p:txBody>
      </p:sp>
      <p:sp>
        <p:nvSpPr>
          <p:cNvPr id="16" name="Text 13"/>
          <p:cNvSpPr/>
          <p:nvPr/>
        </p:nvSpPr>
        <p:spPr>
          <a:xfrm>
            <a:off x="4855464" y="2779776"/>
            <a:ext cx="2505456" cy="365760"/>
          </a:xfrm>
          <a:prstGeom prst="rect">
            <a:avLst/>
          </a:prstGeom>
          <a:noFill/>
          <a:ln/>
        </p:spPr>
        <p:txBody>
          <a:bodyPr wrap="square" lIns="0" tIns="0" rIns="0" bIns="0" rtlCol="0" anchor="t"/>
          <a:lstStyle/>
          <a:p>
            <a:pPr indent="0" marL="0">
              <a:buNone/>
            </a:pPr>
            <a:r>
              <a:rPr lang="en-US" sz="2400" dirty="0">
                <a:solidFill>
                  <a:srgbClr val="465D68"/>
                </a:solidFill>
                <a:latin typeface="Arial" pitchFamily="34" charset="0"/>
                <a:ea typeface="Arial" pitchFamily="34" charset="-122"/>
                <a:cs typeface="Arial" pitchFamily="34" charset="-120"/>
              </a:rPr>
              <a:t>38 regular hours</a:t>
            </a:r>
            <a:endParaRPr lang="en-US" sz="2400" dirty="0"/>
          </a:p>
        </p:txBody>
      </p:sp>
      <p:sp>
        <p:nvSpPr>
          <p:cNvPr id="17" name="Shape 14"/>
          <p:cNvSpPr/>
          <p:nvPr/>
        </p:nvSpPr>
        <p:spPr>
          <a:xfrm>
            <a:off x="8421624" y="2148840"/>
            <a:ext cx="2926080" cy="1161288"/>
          </a:xfrm>
          <a:prstGeom prst="roundRect">
            <a:avLst>
              <a:gd name="adj" fmla="val 12598"/>
            </a:avLst>
          </a:prstGeom>
          <a:solidFill>
            <a:srgbClr val="FFF8E4"/>
          </a:solidFill>
          <a:ln w="9525">
            <a:solidFill>
              <a:srgbClr val="DFCD9D"/>
            </a:solidFill>
            <a:prstDash val="solid"/>
          </a:ln>
          <a:effectLst>
            <a:outerShdw sx="100000" sy="100000" kx="0" ky="0" algn="bl" rotWithShape="0" blurRad="27940" dist="13970" dir="5400000">
              <a:srgbClr val="90A3AB">
                <a:alpha val="10000"/>
              </a:srgbClr>
            </a:outerShdw>
          </a:effectLst>
        </p:spPr>
      </p:sp>
      <p:sp>
        <p:nvSpPr>
          <p:cNvPr id="18" name="Text 15"/>
          <p:cNvSpPr/>
          <p:nvPr/>
        </p:nvSpPr>
        <p:spPr>
          <a:xfrm>
            <a:off x="8631936" y="2359152"/>
            <a:ext cx="2514600" cy="475488"/>
          </a:xfrm>
          <a:prstGeom prst="rect">
            <a:avLst/>
          </a:prstGeom>
          <a:noFill/>
          <a:ln/>
        </p:spPr>
        <p:txBody>
          <a:bodyPr wrap="square" lIns="0" tIns="0" rIns="0" bIns="0" rtlCol="0" anchor="t"/>
          <a:lstStyle/>
          <a:p>
            <a:pPr indent="0" marL="0">
              <a:buNone/>
            </a:pPr>
            <a:r>
              <a:rPr lang="en-US" sz="1720" b="1" dirty="0">
                <a:solidFill>
                  <a:srgbClr val="92712F"/>
                </a:solidFill>
                <a:latin typeface="Arial" pitchFamily="34" charset="0"/>
                <a:ea typeface="Arial" pitchFamily="34" charset="-122"/>
                <a:cs typeface="Arial" pitchFamily="34" charset="-120"/>
              </a:rPr>
              <a:t>Difference to review</a:t>
            </a:r>
            <a:endParaRPr lang="en-US" sz="1720" dirty="0"/>
          </a:p>
        </p:txBody>
      </p:sp>
      <p:sp>
        <p:nvSpPr>
          <p:cNvPr id="19" name="Text 16"/>
          <p:cNvSpPr/>
          <p:nvPr/>
        </p:nvSpPr>
        <p:spPr>
          <a:xfrm>
            <a:off x="8631936" y="2779776"/>
            <a:ext cx="2505456" cy="365760"/>
          </a:xfrm>
          <a:prstGeom prst="rect">
            <a:avLst/>
          </a:prstGeom>
          <a:noFill/>
          <a:ln/>
        </p:spPr>
        <p:txBody>
          <a:bodyPr wrap="square" lIns="0" tIns="0" rIns="0" bIns="0" rtlCol="0" anchor="t"/>
          <a:lstStyle/>
          <a:p>
            <a:pPr indent="0" marL="0">
              <a:buNone/>
            </a:pPr>
            <a:r>
              <a:rPr lang="en-US" sz="2400" dirty="0">
                <a:solidFill>
                  <a:srgbClr val="465D68"/>
                </a:solidFill>
                <a:latin typeface="Arial" pitchFamily="34" charset="0"/>
                <a:ea typeface="Arial" pitchFamily="34" charset="-122"/>
                <a:cs typeface="Arial" pitchFamily="34" charset="-120"/>
              </a:rPr>
              <a:t>2 hours</a:t>
            </a:r>
            <a:endParaRPr lang="en-US" sz="2400" dirty="0"/>
          </a:p>
        </p:txBody>
      </p:sp>
      <p:sp>
        <p:nvSpPr>
          <p:cNvPr id="20" name="Shape 17"/>
          <p:cNvSpPr/>
          <p:nvPr/>
        </p:nvSpPr>
        <p:spPr>
          <a:xfrm>
            <a:off x="594360" y="3730752"/>
            <a:ext cx="3502152" cy="1517904"/>
          </a:xfrm>
          <a:prstGeom prst="roundRect">
            <a:avLst>
              <a:gd name="adj" fmla="val 9639"/>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21" name="Shape 18"/>
          <p:cNvSpPr/>
          <p:nvPr/>
        </p:nvSpPr>
        <p:spPr>
          <a:xfrm>
            <a:off x="804672" y="3927348"/>
            <a:ext cx="310896" cy="310896"/>
          </a:xfrm>
          <a:prstGeom prst="ellipse">
            <a:avLst/>
          </a:prstGeom>
          <a:solidFill>
            <a:srgbClr val="EAF5F4"/>
          </a:solidFill>
          <a:ln w="12700">
            <a:solidFill>
              <a:srgbClr val="EAF5F4"/>
            </a:solidFill>
            <a:prstDash val="solid"/>
          </a:ln>
        </p:spPr>
      </p:sp>
      <p:sp>
        <p:nvSpPr>
          <p:cNvPr id="22" name="Text 19"/>
          <p:cNvSpPr/>
          <p:nvPr/>
        </p:nvSpPr>
        <p:spPr>
          <a:xfrm>
            <a:off x="804672" y="3963924"/>
            <a:ext cx="310896" cy="292608"/>
          </a:xfrm>
          <a:prstGeom prst="rect">
            <a:avLst/>
          </a:prstGeom>
          <a:noFill/>
          <a:ln/>
        </p:spPr>
        <p:txBody>
          <a:bodyPr wrap="square" lIns="0" tIns="0" rIns="0" bIns="0" rtlCol="0" anchor="t"/>
          <a:lstStyle/>
          <a:p>
            <a:pPr algn="ctr" indent="0" marL="0">
              <a:buNone/>
            </a:pPr>
            <a:r>
              <a:rPr lang="en-US" sz="1320" b="1" dirty="0">
                <a:solidFill>
                  <a:srgbClr val="465D68"/>
                </a:solidFill>
                <a:latin typeface="Arial" pitchFamily="34" charset="0"/>
                <a:ea typeface="Arial" pitchFamily="34" charset="-122"/>
                <a:cs typeface="Arial" pitchFamily="34" charset="-120"/>
              </a:rPr>
              <a:t>1</a:t>
            </a:r>
            <a:endParaRPr lang="en-US" sz="1320" dirty="0"/>
          </a:p>
        </p:txBody>
      </p:sp>
      <p:sp>
        <p:nvSpPr>
          <p:cNvPr id="23" name="Text 20"/>
          <p:cNvSpPr/>
          <p:nvPr/>
        </p:nvSpPr>
        <p:spPr>
          <a:xfrm>
            <a:off x="1243584" y="3941064"/>
            <a:ext cx="2651760" cy="475488"/>
          </a:xfrm>
          <a:prstGeom prst="rect">
            <a:avLst/>
          </a:prstGeom>
          <a:noFill/>
          <a:ln/>
        </p:spPr>
        <p:txBody>
          <a:bodyPr wrap="square" lIns="0" tIns="0" rIns="0" bIns="0" rtlCol="0" anchor="t"/>
          <a:lstStyle/>
          <a:p>
            <a:pPr indent="0" marL="0">
              <a:buNone/>
            </a:pPr>
            <a:r>
              <a:rPr lang="en-US" sz="1900" b="1" dirty="0">
                <a:solidFill>
                  <a:srgbClr val="233F4C"/>
                </a:solidFill>
                <a:latin typeface="Arial" pitchFamily="34" charset="0"/>
                <a:ea typeface="Arial" pitchFamily="34" charset="-122"/>
                <a:cs typeface="Arial" pitchFamily="34" charset="-120"/>
              </a:rPr>
              <a:t>Decide</a:t>
            </a:r>
            <a:endParaRPr lang="en-US" sz="1900" dirty="0"/>
          </a:p>
        </p:txBody>
      </p:sp>
      <p:sp>
        <p:nvSpPr>
          <p:cNvPr id="24" name="Text 21"/>
          <p:cNvSpPr/>
          <p:nvPr/>
        </p:nvSpPr>
        <p:spPr>
          <a:xfrm>
            <a:off x="804672" y="4389120"/>
            <a:ext cx="3081528" cy="694944"/>
          </a:xfrm>
          <a:prstGeom prst="rect">
            <a:avLst/>
          </a:prstGeom>
          <a:noFill/>
          <a:ln/>
        </p:spPr>
        <p:txBody>
          <a:bodyPr wrap="square" lIns="0" tIns="0" rIns="0" bIns="0" rtlCol="0" anchor="t"/>
          <a:lstStyle/>
          <a:p>
            <a:pPr indent="0" marL="0">
              <a:buNone/>
            </a:pPr>
            <a:r>
              <a:rPr lang="en-US" sz="1680" dirty="0">
                <a:solidFill>
                  <a:srgbClr val="465D68"/>
                </a:solidFill>
                <a:latin typeface="Arial" pitchFamily="34" charset="0"/>
                <a:ea typeface="Arial" pitchFamily="34" charset="-122"/>
                <a:cs typeface="Arial" pitchFamily="34" charset="-120"/>
              </a:rPr>
              <a:t>In this example, Payroll confirms that 40 hours is correct.</a:t>
            </a:r>
            <a:endParaRPr lang="en-US" sz="1680" dirty="0"/>
          </a:p>
        </p:txBody>
      </p:sp>
      <p:sp>
        <p:nvSpPr>
          <p:cNvPr id="25" name="Shape 22"/>
          <p:cNvSpPr/>
          <p:nvPr/>
        </p:nvSpPr>
        <p:spPr>
          <a:xfrm>
            <a:off x="4343400" y="3730752"/>
            <a:ext cx="3502152" cy="1517904"/>
          </a:xfrm>
          <a:prstGeom prst="roundRect">
            <a:avLst>
              <a:gd name="adj" fmla="val 9639"/>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26" name="Shape 23"/>
          <p:cNvSpPr/>
          <p:nvPr/>
        </p:nvSpPr>
        <p:spPr>
          <a:xfrm>
            <a:off x="4553712" y="3927348"/>
            <a:ext cx="310896" cy="310896"/>
          </a:xfrm>
          <a:prstGeom prst="ellipse">
            <a:avLst/>
          </a:prstGeom>
          <a:solidFill>
            <a:srgbClr val="EAF5F4"/>
          </a:solidFill>
          <a:ln w="12700">
            <a:solidFill>
              <a:srgbClr val="EAF5F4"/>
            </a:solidFill>
            <a:prstDash val="solid"/>
          </a:ln>
        </p:spPr>
      </p:sp>
      <p:sp>
        <p:nvSpPr>
          <p:cNvPr id="27" name="Text 24"/>
          <p:cNvSpPr/>
          <p:nvPr/>
        </p:nvSpPr>
        <p:spPr>
          <a:xfrm>
            <a:off x="4553712" y="3963924"/>
            <a:ext cx="310896" cy="292608"/>
          </a:xfrm>
          <a:prstGeom prst="rect">
            <a:avLst/>
          </a:prstGeom>
          <a:noFill/>
          <a:ln/>
        </p:spPr>
        <p:txBody>
          <a:bodyPr wrap="square" lIns="0" tIns="0" rIns="0" bIns="0" rtlCol="0" anchor="t"/>
          <a:lstStyle/>
          <a:p>
            <a:pPr algn="ctr" indent="0" marL="0">
              <a:buNone/>
            </a:pPr>
            <a:r>
              <a:rPr lang="en-US" sz="1320" b="1" dirty="0">
                <a:solidFill>
                  <a:srgbClr val="465D68"/>
                </a:solidFill>
                <a:latin typeface="Arial" pitchFamily="34" charset="0"/>
                <a:ea typeface="Arial" pitchFamily="34" charset="-122"/>
                <a:cs typeface="Arial" pitchFamily="34" charset="-120"/>
              </a:rPr>
              <a:t>2</a:t>
            </a:r>
            <a:endParaRPr lang="en-US" sz="1320" dirty="0"/>
          </a:p>
        </p:txBody>
      </p:sp>
      <p:sp>
        <p:nvSpPr>
          <p:cNvPr id="28" name="Text 25"/>
          <p:cNvSpPr/>
          <p:nvPr/>
        </p:nvSpPr>
        <p:spPr>
          <a:xfrm>
            <a:off x="4992624" y="3941064"/>
            <a:ext cx="2651760" cy="475488"/>
          </a:xfrm>
          <a:prstGeom prst="rect">
            <a:avLst/>
          </a:prstGeom>
          <a:noFill/>
          <a:ln/>
        </p:spPr>
        <p:txBody>
          <a:bodyPr wrap="square" lIns="0" tIns="0" rIns="0" bIns="0" rtlCol="0" anchor="t"/>
          <a:lstStyle/>
          <a:p>
            <a:pPr indent="0" marL="0">
              <a:buNone/>
            </a:pPr>
            <a:r>
              <a:rPr lang="en-US" sz="1900" b="1" dirty="0">
                <a:solidFill>
                  <a:srgbClr val="233F4C"/>
                </a:solidFill>
                <a:latin typeface="Arial" pitchFamily="34" charset="0"/>
                <a:ea typeface="Arial" pitchFamily="34" charset="-122"/>
                <a:cs typeface="Arial" pitchFamily="34" charset="-120"/>
              </a:rPr>
              <a:t>Correct</a:t>
            </a:r>
            <a:endParaRPr lang="en-US" sz="1900" dirty="0"/>
          </a:p>
        </p:txBody>
      </p:sp>
      <p:sp>
        <p:nvSpPr>
          <p:cNvPr id="29" name="Text 26"/>
          <p:cNvSpPr/>
          <p:nvPr/>
        </p:nvSpPr>
        <p:spPr>
          <a:xfrm>
            <a:off x="4553712" y="4389120"/>
            <a:ext cx="3081528" cy="694944"/>
          </a:xfrm>
          <a:prstGeom prst="rect">
            <a:avLst/>
          </a:prstGeom>
          <a:noFill/>
          <a:ln/>
        </p:spPr>
        <p:txBody>
          <a:bodyPr wrap="square" lIns="0" tIns="0" rIns="0" bIns="0" rtlCol="0" anchor="t"/>
          <a:lstStyle/>
          <a:p>
            <a:pPr indent="0" marL="0">
              <a:buNone/>
            </a:pPr>
            <a:r>
              <a:rPr lang="en-US" sz="1680" dirty="0">
                <a:solidFill>
                  <a:srgbClr val="465D68"/>
                </a:solidFill>
                <a:latin typeface="Arial" pitchFamily="34" charset="0"/>
                <a:ea typeface="Arial" pitchFamily="34" charset="-122"/>
                <a:cs typeface="Arial" pitchFamily="34" charset="-120"/>
              </a:rPr>
              <a:t>Payroll changes 38 to 40 inside Paylocity in the first release.</a:t>
            </a:r>
            <a:endParaRPr lang="en-US" sz="1680" dirty="0"/>
          </a:p>
        </p:txBody>
      </p:sp>
      <p:sp>
        <p:nvSpPr>
          <p:cNvPr id="30" name="Shape 27"/>
          <p:cNvSpPr/>
          <p:nvPr/>
        </p:nvSpPr>
        <p:spPr>
          <a:xfrm>
            <a:off x="8092440" y="3730752"/>
            <a:ext cx="3502152" cy="1517904"/>
          </a:xfrm>
          <a:prstGeom prst="roundRect">
            <a:avLst>
              <a:gd name="adj" fmla="val 9639"/>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31" name="Shape 28"/>
          <p:cNvSpPr/>
          <p:nvPr/>
        </p:nvSpPr>
        <p:spPr>
          <a:xfrm>
            <a:off x="8302752" y="3927348"/>
            <a:ext cx="310896" cy="310896"/>
          </a:xfrm>
          <a:prstGeom prst="ellipse">
            <a:avLst/>
          </a:prstGeom>
          <a:solidFill>
            <a:srgbClr val="EAF5F4"/>
          </a:solidFill>
          <a:ln w="12700">
            <a:solidFill>
              <a:srgbClr val="EAF5F4"/>
            </a:solidFill>
            <a:prstDash val="solid"/>
          </a:ln>
        </p:spPr>
      </p:sp>
      <p:sp>
        <p:nvSpPr>
          <p:cNvPr id="32" name="Text 29"/>
          <p:cNvSpPr/>
          <p:nvPr/>
        </p:nvSpPr>
        <p:spPr>
          <a:xfrm>
            <a:off x="8302752" y="3963924"/>
            <a:ext cx="310896" cy="292608"/>
          </a:xfrm>
          <a:prstGeom prst="rect">
            <a:avLst/>
          </a:prstGeom>
          <a:noFill/>
          <a:ln/>
        </p:spPr>
        <p:txBody>
          <a:bodyPr wrap="square" lIns="0" tIns="0" rIns="0" bIns="0" rtlCol="0" anchor="t"/>
          <a:lstStyle/>
          <a:p>
            <a:pPr algn="ctr" indent="0" marL="0">
              <a:buNone/>
            </a:pPr>
            <a:r>
              <a:rPr lang="en-US" sz="1320" b="1" dirty="0">
                <a:solidFill>
                  <a:srgbClr val="465D68"/>
                </a:solidFill>
                <a:latin typeface="Arial" pitchFamily="34" charset="0"/>
                <a:ea typeface="Arial" pitchFamily="34" charset="-122"/>
                <a:cs typeface="Arial" pitchFamily="34" charset="-120"/>
              </a:rPr>
              <a:t>3</a:t>
            </a:r>
            <a:endParaRPr lang="en-US" sz="1320" dirty="0"/>
          </a:p>
        </p:txBody>
      </p:sp>
      <p:sp>
        <p:nvSpPr>
          <p:cNvPr id="33" name="Text 30"/>
          <p:cNvSpPr/>
          <p:nvPr/>
        </p:nvSpPr>
        <p:spPr>
          <a:xfrm>
            <a:off x="8741664" y="3941064"/>
            <a:ext cx="2651760" cy="475488"/>
          </a:xfrm>
          <a:prstGeom prst="rect">
            <a:avLst/>
          </a:prstGeom>
          <a:noFill/>
          <a:ln/>
        </p:spPr>
        <p:txBody>
          <a:bodyPr wrap="square" lIns="0" tIns="0" rIns="0" bIns="0" rtlCol="0" anchor="t"/>
          <a:lstStyle/>
          <a:p>
            <a:pPr indent="0" marL="0">
              <a:buNone/>
            </a:pPr>
            <a:r>
              <a:rPr lang="en-US" sz="1900" b="1" dirty="0">
                <a:solidFill>
                  <a:srgbClr val="233F4C"/>
                </a:solidFill>
                <a:latin typeface="Arial" pitchFamily="34" charset="0"/>
                <a:ea typeface="Arial" pitchFamily="34" charset="-122"/>
                <a:cs typeface="Arial" pitchFamily="34" charset="-120"/>
              </a:rPr>
              <a:t>Check again</a:t>
            </a:r>
            <a:endParaRPr lang="en-US" sz="1900" dirty="0"/>
          </a:p>
        </p:txBody>
      </p:sp>
      <p:sp>
        <p:nvSpPr>
          <p:cNvPr id="34" name="Text 31"/>
          <p:cNvSpPr/>
          <p:nvPr/>
        </p:nvSpPr>
        <p:spPr>
          <a:xfrm>
            <a:off x="8302752" y="4389120"/>
            <a:ext cx="3081528" cy="694944"/>
          </a:xfrm>
          <a:prstGeom prst="rect">
            <a:avLst/>
          </a:prstGeom>
          <a:noFill/>
          <a:ln/>
        </p:spPr>
        <p:txBody>
          <a:bodyPr wrap="square" lIns="0" tIns="0" rIns="0" bIns="0" rtlCol="0" anchor="t"/>
          <a:lstStyle/>
          <a:p>
            <a:pPr indent="0" marL="0">
              <a:buNone/>
            </a:pPr>
            <a:r>
              <a:rPr lang="en-US" sz="1680" dirty="0">
                <a:solidFill>
                  <a:srgbClr val="465D68"/>
                </a:solidFill>
                <a:latin typeface="Arial" pitchFamily="34" charset="0"/>
                <a:ea typeface="Arial" pitchFamily="34" charset="-122"/>
                <a:cs typeface="Arial" pitchFamily="34" charset="-120"/>
              </a:rPr>
              <a:t>The tool receives the updated record and compares it again.</a:t>
            </a:r>
            <a:endParaRPr lang="en-US" sz="1680" dirty="0"/>
          </a:p>
        </p:txBody>
      </p:sp>
      <p:sp>
        <p:nvSpPr>
          <p:cNvPr id="35" name="Shape 32"/>
          <p:cNvSpPr/>
          <p:nvPr/>
        </p:nvSpPr>
        <p:spPr>
          <a:xfrm>
            <a:off x="585216" y="5733288"/>
            <a:ext cx="11018520" cy="585216"/>
          </a:xfrm>
          <a:prstGeom prst="roundRect">
            <a:avLst>
              <a:gd name="adj" fmla="val 17188"/>
            </a:avLst>
          </a:prstGeom>
          <a:solidFill>
            <a:srgbClr val="EAF5F4"/>
          </a:solidFill>
          <a:ln w="9525">
            <a:solidFill>
              <a:srgbClr val="87B7B2"/>
            </a:solidFill>
            <a:prstDash val="solid"/>
          </a:ln>
        </p:spPr>
      </p:sp>
      <p:sp>
        <p:nvSpPr>
          <p:cNvPr id="36" name="Text 33"/>
          <p:cNvSpPr/>
          <p:nvPr/>
        </p:nvSpPr>
        <p:spPr>
          <a:xfrm>
            <a:off x="786384" y="5870448"/>
            <a:ext cx="1508760" cy="420624"/>
          </a:xfrm>
          <a:prstGeom prst="rect">
            <a:avLst/>
          </a:prstGeom>
          <a:noFill/>
          <a:ln/>
        </p:spPr>
        <p:txBody>
          <a:bodyPr wrap="square" lIns="0" tIns="0" rIns="0" bIns="0" rtlCol="0" anchor="t"/>
          <a:lstStyle/>
          <a:p>
            <a:pPr indent="0" marL="0">
              <a:buNone/>
            </a:pPr>
            <a:r>
              <a:rPr lang="en-US" sz="1500" b="1" dirty="0">
                <a:solidFill>
                  <a:srgbClr val="317F7B"/>
                </a:solidFill>
                <a:latin typeface="Arial" pitchFamily="34" charset="0"/>
                <a:ea typeface="Arial" pitchFamily="34" charset="-122"/>
                <a:cs typeface="Arial" pitchFamily="34" charset="-120"/>
              </a:rPr>
              <a:t>Payroll decides</a:t>
            </a:r>
            <a:endParaRPr lang="en-US" sz="1500" dirty="0"/>
          </a:p>
        </p:txBody>
      </p:sp>
      <p:sp>
        <p:nvSpPr>
          <p:cNvPr id="37" name="Text 34"/>
          <p:cNvSpPr/>
          <p:nvPr/>
        </p:nvSpPr>
        <p:spPr>
          <a:xfrm>
            <a:off x="2386584" y="5870448"/>
            <a:ext cx="8997696" cy="420624"/>
          </a:xfrm>
          <a:prstGeom prst="rect">
            <a:avLst/>
          </a:prstGeom>
          <a:noFill/>
          <a:ln/>
        </p:spPr>
        <p:txBody>
          <a:bodyPr wrap="square" lIns="0" tIns="0" rIns="0" bIns="0" rtlCol="0" anchor="t"/>
          <a:lstStyle/>
          <a:p>
            <a:pPr indent="0" marL="0">
              <a:buNone/>
            </a:pPr>
            <a:r>
              <a:rPr lang="en-US" sz="1500" dirty="0">
                <a:solidFill>
                  <a:srgbClr val="465D68"/>
                </a:solidFill>
                <a:latin typeface="Arial" pitchFamily="34" charset="0"/>
                <a:ea typeface="Arial" pitchFamily="34" charset="-122"/>
                <a:cs typeface="Arial" pitchFamily="34" charset="-120"/>
              </a:rPr>
              <a:t>If Paylocity is correct instead, the correction belongs in Jonas. The tool does not choose a winner.</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AFC"/>
        </a:solidFill>
      </p:bgPr>
    </p:bg>
    <p:spTree>
      <p:nvGrpSpPr>
        <p:cNvPr id="1" name=""/>
        <p:cNvGrpSpPr/>
        <p:nvPr/>
      </p:nvGrpSpPr>
      <p:grpSpPr>
        <a:xfrm>
          <a:off x="0" y="0"/>
          <a:ext cx="0" cy="0"/>
          <a:chOff x="0" y="0"/>
          <a:chExt cx="0" cy="0"/>
        </a:xfrm>
      </p:grpSpPr>
      <p:sp>
        <p:nvSpPr>
          <p:cNvPr id="2" name="Shape 0"/>
          <p:cNvSpPr/>
          <p:nvPr/>
        </p:nvSpPr>
        <p:spPr>
          <a:xfrm>
            <a:off x="0" y="0"/>
            <a:ext cx="12192000" cy="41148"/>
          </a:xfrm>
          <a:prstGeom prst="rect">
            <a:avLst/>
          </a:prstGeom>
          <a:solidFill>
            <a:srgbClr val="87B7B2"/>
          </a:solidFill>
          <a:ln w="12700">
            <a:solidFill>
              <a:srgbClr val="87B7B2">
                <a:alpha val="0"/>
              </a:srgbClr>
            </a:solidFill>
            <a:prstDash val="solid"/>
          </a:ln>
        </p:spPr>
      </p:sp>
      <p:sp>
        <p:nvSpPr>
          <p:cNvPr id="3" name="Text 1"/>
          <p:cNvSpPr/>
          <p:nvPr/>
        </p:nvSpPr>
        <p:spPr>
          <a:xfrm>
            <a:off x="585216" y="246888"/>
            <a:ext cx="10972800" cy="201168"/>
          </a:xfrm>
          <a:prstGeom prst="rect">
            <a:avLst/>
          </a:prstGeom>
          <a:noFill/>
          <a:ln/>
        </p:spPr>
        <p:txBody>
          <a:bodyPr wrap="square" lIns="0" tIns="0" rIns="0" bIns="0" rtlCol="0" anchor="t"/>
          <a:lstStyle/>
          <a:p>
            <a:pPr indent="0" marL="0">
              <a:buNone/>
            </a:pPr>
            <a:r>
              <a:rPr lang="en-US" sz="1000" b="1" dirty="0">
                <a:solidFill>
                  <a:srgbClr val="317F7B"/>
                </a:solidFill>
                <a:latin typeface="Arial" pitchFamily="34" charset="0"/>
                <a:ea typeface="Arial" pitchFamily="34" charset="-122"/>
                <a:cs typeface="Arial" pitchFamily="34" charset="-120"/>
              </a:rPr>
              <a:t>Understand a valid difference</a:t>
            </a:r>
            <a:endParaRPr lang="en-US" sz="1000" dirty="0"/>
          </a:p>
        </p:txBody>
      </p:sp>
      <p:sp>
        <p:nvSpPr>
          <p:cNvPr id="4" name="Text 2"/>
          <p:cNvSpPr/>
          <p:nvPr/>
        </p:nvSpPr>
        <p:spPr>
          <a:xfrm>
            <a:off x="585216" y="658368"/>
            <a:ext cx="11027664" cy="594360"/>
          </a:xfrm>
          <a:prstGeom prst="rect">
            <a:avLst/>
          </a:prstGeom>
          <a:noFill/>
          <a:ln/>
        </p:spPr>
        <p:txBody>
          <a:bodyPr wrap="square" lIns="0" tIns="0" rIns="0" bIns="0" rtlCol="0" anchor="t"/>
          <a:lstStyle/>
          <a:p>
            <a:pPr indent="0" marL="0">
              <a:buNone/>
            </a:pPr>
            <a:r>
              <a:rPr lang="en-US" sz="2800" b="1" dirty="0">
                <a:solidFill>
                  <a:srgbClr val="233F4C"/>
                </a:solidFill>
                <a:latin typeface="Arial" pitchFamily="34" charset="0"/>
                <a:ea typeface="Arial" pitchFamily="34" charset="-122"/>
                <a:cs typeface="Arial" pitchFamily="34" charset="-120"/>
              </a:rPr>
              <a:t>Some differences are expected—and should stay visible</a:t>
            </a:r>
            <a:endParaRPr lang="en-US" sz="2800" dirty="0"/>
          </a:p>
        </p:txBody>
      </p:sp>
      <p:sp>
        <p:nvSpPr>
          <p:cNvPr id="5" name="Text 3"/>
          <p:cNvSpPr/>
          <p:nvPr/>
        </p:nvSpPr>
        <p:spPr>
          <a:xfrm>
            <a:off x="594360" y="1307592"/>
            <a:ext cx="10945368" cy="530352"/>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Original field time and payroll-ready hours do not always have to be identical.</a:t>
            </a:r>
            <a:endParaRPr lang="en-US" sz="1660" dirty="0"/>
          </a:p>
        </p:txBody>
      </p:sp>
      <p:sp>
        <p:nvSpPr>
          <p:cNvPr id="6" name="Shape 4"/>
          <p:cNvSpPr/>
          <p:nvPr/>
        </p:nvSpPr>
        <p:spPr>
          <a:xfrm>
            <a:off x="585216" y="6510528"/>
            <a:ext cx="11018520" cy="0"/>
          </a:xfrm>
          <a:prstGeom prst="line">
            <a:avLst/>
          </a:prstGeom>
          <a:noFill/>
          <a:ln w="10160">
            <a:solidFill>
              <a:srgbClr val="DCE6E9"/>
            </a:solidFill>
            <a:prstDash val="solid"/>
          </a:ln>
        </p:spPr>
      </p:sp>
      <p:sp>
        <p:nvSpPr>
          <p:cNvPr id="7" name="Text 5"/>
          <p:cNvSpPr/>
          <p:nvPr/>
        </p:nvSpPr>
        <p:spPr>
          <a:xfrm>
            <a:off x="594360" y="6611112"/>
            <a:ext cx="3749040" cy="164592"/>
          </a:xfrm>
          <a:prstGeom prst="rect">
            <a:avLst/>
          </a:prstGeom>
          <a:noFill/>
          <a:ln/>
        </p:spPr>
        <p:txBody>
          <a:bodyPr wrap="square" lIns="0" tIns="0" rIns="0" bIns="0" rtlCol="0" anchor="t"/>
          <a:lstStyle/>
          <a:p>
            <a:pPr indent="0" marL="0">
              <a:buNone/>
            </a:pPr>
            <a:r>
              <a:rPr lang="en-US" sz="820" dirty="0">
                <a:solidFill>
                  <a:srgbClr val="69808A"/>
                </a:solidFill>
                <a:latin typeface="Arial" pitchFamily="34" charset="0"/>
                <a:ea typeface="Arial" pitchFamily="34" charset="-122"/>
                <a:cs typeface="Arial" pitchFamily="34" charset="-120"/>
              </a:rPr>
              <a:t>Komlan Kouhiko  /  B&amp;S payroll proposal</a:t>
            </a:r>
            <a:endParaRPr lang="en-US" sz="820" dirty="0"/>
          </a:p>
        </p:txBody>
      </p:sp>
      <p:sp>
        <p:nvSpPr>
          <p:cNvPr id="8" name="Text 6"/>
          <p:cNvSpPr/>
          <p:nvPr/>
        </p:nvSpPr>
        <p:spPr>
          <a:xfrm>
            <a:off x="4023360" y="6611112"/>
            <a:ext cx="6903720" cy="164592"/>
          </a:xfrm>
          <a:prstGeom prst="rect">
            <a:avLst/>
          </a:prstGeom>
          <a:noFill/>
          <a:ln/>
        </p:spPr>
        <p:txBody>
          <a:bodyPr wrap="square" lIns="0" tIns="0" rIns="0" bIns="0" rtlCol="0" anchor="t"/>
          <a:lstStyle/>
          <a:p>
            <a:pPr algn="r" indent="0" marL="0">
              <a:buNone/>
            </a:pPr>
            <a:r>
              <a:rPr lang="en-US" sz="805" dirty="0">
                <a:solidFill>
                  <a:srgbClr val="69808A"/>
                </a:solidFill>
                <a:latin typeface="Arial" pitchFamily="34" charset="0"/>
                <a:ea typeface="Arial" pitchFamily="34" charset="-122"/>
                <a:cs typeface="Arial" pitchFamily="34" charset="-120"/>
              </a:rPr>
              <a:t>[S1] p. 22 • [D1] Synthetic foreman example</a:t>
            </a:r>
            <a:endParaRPr lang="en-US" sz="805" dirty="0"/>
          </a:p>
        </p:txBody>
      </p:sp>
      <p:sp>
        <p:nvSpPr>
          <p:cNvPr id="9" name="Text 7"/>
          <p:cNvSpPr/>
          <p:nvPr/>
        </p:nvSpPr>
        <p:spPr>
          <a:xfrm>
            <a:off x="11100816" y="6592824"/>
            <a:ext cx="502920" cy="201168"/>
          </a:xfrm>
          <a:prstGeom prst="rect">
            <a:avLst/>
          </a:prstGeom>
          <a:noFill/>
          <a:ln/>
        </p:spPr>
        <p:txBody>
          <a:bodyPr wrap="square" lIns="0" tIns="0" rIns="0" bIns="0" rtlCol="0" anchor="t"/>
          <a:lstStyle/>
          <a:p>
            <a:pPr algn="r" indent="0" marL="0">
              <a:buNone/>
            </a:pPr>
            <a:r>
              <a:rPr lang="en-US" sz="920" dirty="0">
                <a:solidFill>
                  <a:srgbClr val="69808A"/>
                </a:solidFill>
                <a:latin typeface="Arial" pitchFamily="34" charset="0"/>
                <a:ea typeface="Arial" pitchFamily="34" charset="-122"/>
                <a:cs typeface="Arial" pitchFamily="34" charset="-120"/>
              </a:rPr>
              <a:t>06 / 19</a:t>
            </a:r>
            <a:endParaRPr lang="en-US" sz="920" dirty="0"/>
          </a:p>
        </p:txBody>
      </p:sp>
      <p:sp>
        <p:nvSpPr>
          <p:cNvPr id="11" name="Shape 8"/>
          <p:cNvSpPr/>
          <p:nvPr/>
        </p:nvSpPr>
        <p:spPr>
          <a:xfrm>
            <a:off x="658368" y="2313432"/>
            <a:ext cx="2514600" cy="1828800"/>
          </a:xfrm>
          <a:prstGeom prst="roundRect">
            <a:avLst>
              <a:gd name="adj" fmla="val 8000"/>
            </a:avLst>
          </a:prstGeom>
          <a:solidFill>
            <a:srgbClr val="FFF3E8"/>
          </a:solidFill>
          <a:ln w="9525">
            <a:solidFill>
              <a:srgbClr val="E4BD97"/>
            </a:solidFill>
            <a:prstDash val="solid"/>
          </a:ln>
          <a:effectLst>
            <a:outerShdw sx="100000" sy="100000" kx="0" ky="0" algn="bl" rotWithShape="0" blurRad="27940" dist="13970" dir="5400000">
              <a:srgbClr val="90A3AB">
                <a:alpha val="10000"/>
              </a:srgbClr>
            </a:outerShdw>
          </a:effectLst>
        </p:spPr>
      </p:sp>
      <p:sp>
        <p:nvSpPr>
          <p:cNvPr id="12" name="Text 9"/>
          <p:cNvSpPr/>
          <p:nvPr/>
        </p:nvSpPr>
        <p:spPr>
          <a:xfrm>
            <a:off x="850392" y="2523744"/>
            <a:ext cx="2121408" cy="292608"/>
          </a:xfrm>
          <a:prstGeom prst="rect">
            <a:avLst/>
          </a:prstGeom>
          <a:noFill/>
          <a:ln/>
        </p:spPr>
        <p:txBody>
          <a:bodyPr wrap="square" lIns="0" tIns="0" rIns="0" bIns="0" rtlCol="0" anchor="t"/>
          <a:lstStyle/>
          <a:p>
            <a:pPr indent="0" marL="0">
              <a:buNone/>
            </a:pPr>
            <a:r>
              <a:rPr lang="en-US" sz="1750" b="1" dirty="0">
                <a:solidFill>
                  <a:srgbClr val="AA642D"/>
                </a:solidFill>
                <a:latin typeface="Arial" pitchFamily="34" charset="0"/>
                <a:ea typeface="Arial" pitchFamily="34" charset="-122"/>
                <a:cs typeface="Arial" pitchFamily="34" charset="-120"/>
              </a:rPr>
              <a:t>Raken time</a:t>
            </a:r>
            <a:endParaRPr lang="en-US" sz="1750" dirty="0"/>
          </a:p>
        </p:txBody>
      </p:sp>
      <p:sp>
        <p:nvSpPr>
          <p:cNvPr id="13" name="Text 10"/>
          <p:cNvSpPr/>
          <p:nvPr/>
        </p:nvSpPr>
        <p:spPr>
          <a:xfrm>
            <a:off x="850392" y="3008376"/>
            <a:ext cx="2103120" cy="466344"/>
          </a:xfrm>
          <a:prstGeom prst="rect">
            <a:avLst/>
          </a:prstGeom>
          <a:noFill/>
          <a:ln/>
        </p:spPr>
        <p:txBody>
          <a:bodyPr wrap="square" lIns="0" tIns="0" rIns="0" bIns="0" rtlCol="0" anchor="t"/>
          <a:lstStyle/>
          <a:p>
            <a:pPr indent="0" marL="0">
              <a:buNone/>
            </a:pPr>
            <a:r>
              <a:rPr lang="en-US" sz="3100" b="1" dirty="0">
                <a:solidFill>
                  <a:srgbClr val="233F4C"/>
                </a:solidFill>
                <a:latin typeface="Arial" pitchFamily="34" charset="0"/>
                <a:ea typeface="Arial" pitchFamily="34" charset="-122"/>
                <a:cs typeface="Arial" pitchFamily="34" charset="-120"/>
              </a:rPr>
              <a:t>38 h</a:t>
            </a:r>
            <a:endParaRPr lang="en-US" sz="3100" dirty="0"/>
          </a:p>
        </p:txBody>
      </p:sp>
      <p:sp>
        <p:nvSpPr>
          <p:cNvPr id="14" name="Text 11"/>
          <p:cNvSpPr/>
          <p:nvPr/>
        </p:nvSpPr>
        <p:spPr>
          <a:xfrm>
            <a:off x="850392" y="3648456"/>
            <a:ext cx="2121408" cy="265176"/>
          </a:xfrm>
          <a:prstGeom prst="rect">
            <a:avLst/>
          </a:prstGeom>
          <a:noFill/>
          <a:ln/>
        </p:spPr>
        <p:txBody>
          <a:bodyPr wrap="square" lIns="0" tIns="0" rIns="0" bIns="0" rtlCol="0" anchor="t"/>
          <a:lstStyle/>
          <a:p>
            <a:pPr indent="0" marL="0">
              <a:buNone/>
            </a:pPr>
            <a:r>
              <a:rPr lang="en-US" sz="1480" dirty="0">
                <a:solidFill>
                  <a:srgbClr val="465D68"/>
                </a:solidFill>
                <a:latin typeface="Arial" pitchFamily="34" charset="0"/>
                <a:ea typeface="Arial" pitchFamily="34" charset="-122"/>
                <a:cs typeface="Arial" pitchFamily="34" charset="-120"/>
              </a:rPr>
              <a:t>Original field record</a:t>
            </a:r>
            <a:endParaRPr lang="en-US" sz="1480" dirty="0"/>
          </a:p>
        </p:txBody>
      </p:sp>
      <p:sp>
        <p:nvSpPr>
          <p:cNvPr id="15" name="Shape 12"/>
          <p:cNvSpPr/>
          <p:nvPr/>
        </p:nvSpPr>
        <p:spPr>
          <a:xfrm>
            <a:off x="3218688" y="3209544"/>
            <a:ext cx="205740" cy="0"/>
          </a:xfrm>
          <a:prstGeom prst="line">
            <a:avLst/>
          </a:prstGeom>
          <a:noFill/>
          <a:ln w="15240">
            <a:solidFill>
              <a:srgbClr val="69808A"/>
            </a:solidFill>
            <a:prstDash val="solid"/>
            <a:tailEnd type="triangle"/>
          </a:ln>
        </p:spPr>
      </p:sp>
      <p:sp>
        <p:nvSpPr>
          <p:cNvPr id="16" name="Shape 13"/>
          <p:cNvSpPr/>
          <p:nvPr/>
        </p:nvSpPr>
        <p:spPr>
          <a:xfrm>
            <a:off x="3483864" y="2313432"/>
            <a:ext cx="2514600" cy="1828800"/>
          </a:xfrm>
          <a:prstGeom prst="roundRect">
            <a:avLst>
              <a:gd name="adj" fmla="val 8000"/>
            </a:avLst>
          </a:prstGeom>
          <a:solidFill>
            <a:srgbClr val="FFF8E4"/>
          </a:solidFill>
          <a:ln w="9525">
            <a:solidFill>
              <a:srgbClr val="DFCD9D"/>
            </a:solidFill>
            <a:prstDash val="solid"/>
          </a:ln>
          <a:effectLst>
            <a:outerShdw sx="100000" sy="100000" kx="0" ky="0" algn="bl" rotWithShape="0" blurRad="27940" dist="13970" dir="5400000">
              <a:srgbClr val="90A3AB">
                <a:alpha val="10000"/>
              </a:srgbClr>
            </a:outerShdw>
          </a:effectLst>
        </p:spPr>
      </p:sp>
      <p:sp>
        <p:nvSpPr>
          <p:cNvPr id="17" name="Text 14"/>
          <p:cNvSpPr/>
          <p:nvPr/>
        </p:nvSpPr>
        <p:spPr>
          <a:xfrm>
            <a:off x="3675888" y="2523744"/>
            <a:ext cx="2121408" cy="292608"/>
          </a:xfrm>
          <a:prstGeom prst="rect">
            <a:avLst/>
          </a:prstGeom>
          <a:noFill/>
          <a:ln/>
        </p:spPr>
        <p:txBody>
          <a:bodyPr wrap="square" lIns="0" tIns="0" rIns="0" bIns="0" rtlCol="0" anchor="t"/>
          <a:lstStyle/>
          <a:p>
            <a:pPr indent="0" marL="0">
              <a:buNone/>
            </a:pPr>
            <a:r>
              <a:rPr lang="en-US" sz="1750" b="1" dirty="0">
                <a:solidFill>
                  <a:srgbClr val="92712F"/>
                </a:solidFill>
                <a:latin typeface="Arial" pitchFamily="34" charset="0"/>
                <a:ea typeface="Arial" pitchFamily="34" charset="-122"/>
                <a:cs typeface="Arial" pitchFamily="34" charset="-120"/>
              </a:rPr>
              <a:t>Approved rule</a:t>
            </a:r>
            <a:endParaRPr lang="en-US" sz="1750" dirty="0"/>
          </a:p>
        </p:txBody>
      </p:sp>
      <p:sp>
        <p:nvSpPr>
          <p:cNvPr id="18" name="Text 15"/>
          <p:cNvSpPr/>
          <p:nvPr/>
        </p:nvSpPr>
        <p:spPr>
          <a:xfrm>
            <a:off x="3675888" y="3008376"/>
            <a:ext cx="2103120" cy="466344"/>
          </a:xfrm>
          <a:prstGeom prst="rect">
            <a:avLst/>
          </a:prstGeom>
          <a:noFill/>
          <a:ln/>
        </p:spPr>
        <p:txBody>
          <a:bodyPr wrap="square" lIns="0" tIns="0" rIns="0" bIns="0" rtlCol="0" anchor="t"/>
          <a:lstStyle/>
          <a:p>
            <a:pPr indent="0" marL="0">
              <a:buNone/>
            </a:pPr>
            <a:r>
              <a:rPr lang="en-US" sz="3100" b="1" dirty="0">
                <a:solidFill>
                  <a:srgbClr val="233F4C"/>
                </a:solidFill>
                <a:latin typeface="Arial" pitchFamily="34" charset="0"/>
                <a:ea typeface="Arial" pitchFamily="34" charset="-122"/>
                <a:cs typeface="Arial" pitchFamily="34" charset="-120"/>
              </a:rPr>
              <a:t>+2 h</a:t>
            </a:r>
            <a:endParaRPr lang="en-US" sz="3100" dirty="0"/>
          </a:p>
        </p:txBody>
      </p:sp>
      <p:sp>
        <p:nvSpPr>
          <p:cNvPr id="19" name="Text 16"/>
          <p:cNvSpPr/>
          <p:nvPr/>
        </p:nvSpPr>
        <p:spPr>
          <a:xfrm>
            <a:off x="3675888" y="3648456"/>
            <a:ext cx="2121408" cy="265176"/>
          </a:xfrm>
          <a:prstGeom prst="rect">
            <a:avLst/>
          </a:prstGeom>
          <a:noFill/>
          <a:ln/>
        </p:spPr>
        <p:txBody>
          <a:bodyPr wrap="square" lIns="0" tIns="0" rIns="0" bIns="0" rtlCol="0" anchor="t"/>
          <a:lstStyle/>
          <a:p>
            <a:pPr indent="0" marL="0">
              <a:buNone/>
            </a:pPr>
            <a:r>
              <a:rPr lang="en-US" sz="1480" dirty="0">
                <a:solidFill>
                  <a:srgbClr val="465D68"/>
                </a:solidFill>
                <a:latin typeface="Arial" pitchFamily="34" charset="0"/>
                <a:ea typeface="Arial" pitchFamily="34" charset="-122"/>
                <a:cs typeface="Arial" pitchFamily="34" charset="-120"/>
              </a:rPr>
              <a:t>Documented adjustment</a:t>
            </a:r>
            <a:endParaRPr lang="en-US" sz="1480" dirty="0"/>
          </a:p>
        </p:txBody>
      </p:sp>
      <p:sp>
        <p:nvSpPr>
          <p:cNvPr id="20" name="Shape 17"/>
          <p:cNvSpPr/>
          <p:nvPr/>
        </p:nvSpPr>
        <p:spPr>
          <a:xfrm>
            <a:off x="6044184" y="3209544"/>
            <a:ext cx="205740" cy="0"/>
          </a:xfrm>
          <a:prstGeom prst="line">
            <a:avLst/>
          </a:prstGeom>
          <a:noFill/>
          <a:ln w="15240">
            <a:solidFill>
              <a:srgbClr val="69808A"/>
            </a:solidFill>
            <a:prstDash val="solid"/>
            <a:tailEnd type="triangle"/>
          </a:ln>
        </p:spPr>
      </p:sp>
      <p:sp>
        <p:nvSpPr>
          <p:cNvPr id="21" name="Shape 18"/>
          <p:cNvSpPr/>
          <p:nvPr/>
        </p:nvSpPr>
        <p:spPr>
          <a:xfrm>
            <a:off x="6309360" y="2313432"/>
            <a:ext cx="2514600" cy="1828800"/>
          </a:xfrm>
          <a:prstGeom prst="roundRect">
            <a:avLst>
              <a:gd name="adj" fmla="val 8000"/>
            </a:avLst>
          </a:prstGeom>
          <a:solidFill>
            <a:srgbClr val="EEF4FD"/>
          </a:solidFill>
          <a:ln w="9525">
            <a:solidFill>
              <a:srgbClr val="B3CDED"/>
            </a:solidFill>
            <a:prstDash val="solid"/>
          </a:ln>
          <a:effectLst>
            <a:outerShdw sx="100000" sy="100000" kx="0" ky="0" algn="bl" rotWithShape="0" blurRad="27940" dist="13970" dir="5400000">
              <a:srgbClr val="90A3AB">
                <a:alpha val="10000"/>
              </a:srgbClr>
            </a:outerShdw>
          </a:effectLst>
        </p:spPr>
      </p:sp>
      <p:sp>
        <p:nvSpPr>
          <p:cNvPr id="22" name="Text 19"/>
          <p:cNvSpPr/>
          <p:nvPr/>
        </p:nvSpPr>
        <p:spPr>
          <a:xfrm>
            <a:off x="6501384" y="2523744"/>
            <a:ext cx="2121408" cy="292608"/>
          </a:xfrm>
          <a:prstGeom prst="rect">
            <a:avLst/>
          </a:prstGeom>
          <a:noFill/>
          <a:ln/>
        </p:spPr>
        <p:txBody>
          <a:bodyPr wrap="square" lIns="0" tIns="0" rIns="0" bIns="0" rtlCol="0" anchor="t"/>
          <a:lstStyle/>
          <a:p>
            <a:pPr indent="0" marL="0">
              <a:buNone/>
            </a:pPr>
            <a:r>
              <a:rPr lang="en-US" sz="1750" b="1" dirty="0">
                <a:solidFill>
                  <a:srgbClr val="346DA9"/>
                </a:solidFill>
                <a:latin typeface="Arial" pitchFamily="34" charset="0"/>
                <a:ea typeface="Arial" pitchFamily="34" charset="-122"/>
                <a:cs typeface="Arial" pitchFamily="34" charset="-120"/>
              </a:rPr>
              <a:t>Jonas payroll</a:t>
            </a:r>
            <a:endParaRPr lang="en-US" sz="1750" dirty="0"/>
          </a:p>
        </p:txBody>
      </p:sp>
      <p:sp>
        <p:nvSpPr>
          <p:cNvPr id="23" name="Text 20"/>
          <p:cNvSpPr/>
          <p:nvPr/>
        </p:nvSpPr>
        <p:spPr>
          <a:xfrm>
            <a:off x="6501384" y="3008376"/>
            <a:ext cx="2103120" cy="466344"/>
          </a:xfrm>
          <a:prstGeom prst="rect">
            <a:avLst/>
          </a:prstGeom>
          <a:noFill/>
          <a:ln/>
        </p:spPr>
        <p:txBody>
          <a:bodyPr wrap="square" lIns="0" tIns="0" rIns="0" bIns="0" rtlCol="0" anchor="t"/>
          <a:lstStyle/>
          <a:p>
            <a:pPr indent="0" marL="0">
              <a:buNone/>
            </a:pPr>
            <a:r>
              <a:rPr lang="en-US" sz="3100" b="1" dirty="0">
                <a:solidFill>
                  <a:srgbClr val="233F4C"/>
                </a:solidFill>
                <a:latin typeface="Arial" pitchFamily="34" charset="0"/>
                <a:ea typeface="Arial" pitchFamily="34" charset="-122"/>
                <a:cs typeface="Arial" pitchFamily="34" charset="-120"/>
              </a:rPr>
              <a:t>40 h</a:t>
            </a:r>
            <a:endParaRPr lang="en-US" sz="3100" dirty="0"/>
          </a:p>
        </p:txBody>
      </p:sp>
      <p:sp>
        <p:nvSpPr>
          <p:cNvPr id="24" name="Text 21"/>
          <p:cNvSpPr/>
          <p:nvPr/>
        </p:nvSpPr>
        <p:spPr>
          <a:xfrm>
            <a:off x="6501384" y="3648456"/>
            <a:ext cx="2121408" cy="265176"/>
          </a:xfrm>
          <a:prstGeom prst="rect">
            <a:avLst/>
          </a:prstGeom>
          <a:noFill/>
          <a:ln/>
        </p:spPr>
        <p:txBody>
          <a:bodyPr wrap="square" lIns="0" tIns="0" rIns="0" bIns="0" rtlCol="0" anchor="t"/>
          <a:lstStyle/>
          <a:p>
            <a:pPr indent="0" marL="0">
              <a:buNone/>
            </a:pPr>
            <a:r>
              <a:rPr lang="en-US" sz="1480" dirty="0">
                <a:solidFill>
                  <a:srgbClr val="465D68"/>
                </a:solidFill>
                <a:latin typeface="Arial" pitchFamily="34" charset="0"/>
                <a:ea typeface="Arial" pitchFamily="34" charset="-122"/>
                <a:cs typeface="Arial" pitchFamily="34" charset="-120"/>
              </a:rPr>
              <a:t>Prepared payroll</a:t>
            </a:r>
            <a:endParaRPr lang="en-US" sz="1480" dirty="0"/>
          </a:p>
        </p:txBody>
      </p:sp>
      <p:sp>
        <p:nvSpPr>
          <p:cNvPr id="25" name="Shape 22"/>
          <p:cNvSpPr/>
          <p:nvPr/>
        </p:nvSpPr>
        <p:spPr>
          <a:xfrm>
            <a:off x="8869680" y="3209544"/>
            <a:ext cx="205740" cy="0"/>
          </a:xfrm>
          <a:prstGeom prst="line">
            <a:avLst/>
          </a:prstGeom>
          <a:noFill/>
          <a:ln w="15240">
            <a:solidFill>
              <a:srgbClr val="69808A"/>
            </a:solidFill>
            <a:prstDash val="solid"/>
            <a:tailEnd type="triangle"/>
          </a:ln>
        </p:spPr>
      </p:sp>
      <p:sp>
        <p:nvSpPr>
          <p:cNvPr id="26" name="Shape 23"/>
          <p:cNvSpPr/>
          <p:nvPr/>
        </p:nvSpPr>
        <p:spPr>
          <a:xfrm>
            <a:off x="9134856" y="2313432"/>
            <a:ext cx="2514600" cy="1828800"/>
          </a:xfrm>
          <a:prstGeom prst="roundRect">
            <a:avLst>
              <a:gd name="adj" fmla="val 8000"/>
            </a:avLst>
          </a:prstGeom>
          <a:solidFill>
            <a:srgbClr val="EDF8F1"/>
          </a:solidFill>
          <a:ln w="9525">
            <a:solidFill>
              <a:srgbClr val="A4CCB9"/>
            </a:solidFill>
            <a:prstDash val="solid"/>
          </a:ln>
          <a:effectLst>
            <a:outerShdw sx="100000" sy="100000" kx="0" ky="0" algn="bl" rotWithShape="0" blurRad="27940" dist="13970" dir="5400000">
              <a:srgbClr val="90A3AB">
                <a:alpha val="10000"/>
              </a:srgbClr>
            </a:outerShdw>
          </a:effectLst>
        </p:spPr>
      </p:sp>
      <p:sp>
        <p:nvSpPr>
          <p:cNvPr id="27" name="Text 24"/>
          <p:cNvSpPr/>
          <p:nvPr/>
        </p:nvSpPr>
        <p:spPr>
          <a:xfrm>
            <a:off x="9326880" y="2523744"/>
            <a:ext cx="2121408" cy="292608"/>
          </a:xfrm>
          <a:prstGeom prst="rect">
            <a:avLst/>
          </a:prstGeom>
          <a:noFill/>
          <a:ln/>
        </p:spPr>
        <p:txBody>
          <a:bodyPr wrap="square" lIns="0" tIns="0" rIns="0" bIns="0" rtlCol="0" anchor="t"/>
          <a:lstStyle/>
          <a:p>
            <a:pPr indent="0" marL="0">
              <a:buNone/>
            </a:pPr>
            <a:r>
              <a:rPr lang="en-US" sz="1750" b="1" dirty="0">
                <a:solidFill>
                  <a:srgbClr val="287B5B"/>
                </a:solidFill>
                <a:latin typeface="Arial" pitchFamily="34" charset="0"/>
                <a:ea typeface="Arial" pitchFamily="34" charset="-122"/>
                <a:cs typeface="Arial" pitchFamily="34" charset="-120"/>
              </a:rPr>
              <a:t>Paylocity</a:t>
            </a:r>
            <a:endParaRPr lang="en-US" sz="1750" dirty="0"/>
          </a:p>
        </p:txBody>
      </p:sp>
      <p:sp>
        <p:nvSpPr>
          <p:cNvPr id="28" name="Text 25"/>
          <p:cNvSpPr/>
          <p:nvPr/>
        </p:nvSpPr>
        <p:spPr>
          <a:xfrm>
            <a:off x="9326880" y="3008376"/>
            <a:ext cx="2103120" cy="466344"/>
          </a:xfrm>
          <a:prstGeom prst="rect">
            <a:avLst/>
          </a:prstGeom>
          <a:noFill/>
          <a:ln/>
        </p:spPr>
        <p:txBody>
          <a:bodyPr wrap="square" lIns="0" tIns="0" rIns="0" bIns="0" rtlCol="0" anchor="t"/>
          <a:lstStyle/>
          <a:p>
            <a:pPr indent="0" marL="0">
              <a:buNone/>
            </a:pPr>
            <a:r>
              <a:rPr lang="en-US" sz="3100" b="1" dirty="0">
                <a:solidFill>
                  <a:srgbClr val="233F4C"/>
                </a:solidFill>
                <a:latin typeface="Arial" pitchFamily="34" charset="0"/>
                <a:ea typeface="Arial" pitchFamily="34" charset="-122"/>
                <a:cs typeface="Arial" pitchFamily="34" charset="-120"/>
              </a:rPr>
              <a:t>40 h</a:t>
            </a:r>
            <a:endParaRPr lang="en-US" sz="3100" dirty="0"/>
          </a:p>
        </p:txBody>
      </p:sp>
      <p:sp>
        <p:nvSpPr>
          <p:cNvPr id="29" name="Text 26"/>
          <p:cNvSpPr/>
          <p:nvPr/>
        </p:nvSpPr>
        <p:spPr>
          <a:xfrm>
            <a:off x="9326880" y="3648456"/>
            <a:ext cx="2121408" cy="265176"/>
          </a:xfrm>
          <a:prstGeom prst="rect">
            <a:avLst/>
          </a:prstGeom>
          <a:noFill/>
          <a:ln/>
        </p:spPr>
        <p:txBody>
          <a:bodyPr wrap="square" lIns="0" tIns="0" rIns="0" bIns="0" rtlCol="0" anchor="t"/>
          <a:lstStyle/>
          <a:p>
            <a:pPr indent="0" marL="0">
              <a:buNone/>
            </a:pPr>
            <a:r>
              <a:rPr lang="en-US" sz="1480" dirty="0">
                <a:solidFill>
                  <a:srgbClr val="465D68"/>
                </a:solidFill>
                <a:latin typeface="Arial" pitchFamily="34" charset="0"/>
                <a:ea typeface="Arial" pitchFamily="34" charset="-122"/>
                <a:cs typeface="Arial" pitchFamily="34" charset="-120"/>
              </a:rPr>
              <a:t>Final comparison</a:t>
            </a:r>
            <a:endParaRPr lang="en-US" sz="1480" dirty="0"/>
          </a:p>
        </p:txBody>
      </p:sp>
      <p:sp>
        <p:nvSpPr>
          <p:cNvPr id="30" name="Shape 27"/>
          <p:cNvSpPr/>
          <p:nvPr/>
        </p:nvSpPr>
        <p:spPr>
          <a:xfrm>
            <a:off x="658368" y="4517136"/>
            <a:ext cx="10963656" cy="1024128"/>
          </a:xfrm>
          <a:prstGeom prst="roundRect">
            <a:avLst>
              <a:gd name="adj" fmla="val 14286"/>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31" name="Text 28"/>
          <p:cNvSpPr/>
          <p:nvPr/>
        </p:nvSpPr>
        <p:spPr>
          <a:xfrm>
            <a:off x="868680" y="4727448"/>
            <a:ext cx="10552176" cy="475488"/>
          </a:xfrm>
          <a:prstGeom prst="rect">
            <a:avLst/>
          </a:prstGeom>
          <a:noFill/>
          <a:ln/>
        </p:spPr>
        <p:txBody>
          <a:bodyPr wrap="square" lIns="0" tIns="0" rIns="0" bIns="0" rtlCol="0" anchor="t"/>
          <a:lstStyle/>
          <a:p>
            <a:pPr indent="0" marL="0">
              <a:buNone/>
            </a:pPr>
            <a:r>
              <a:rPr lang="en-US" sz="2000" b="1" dirty="0">
                <a:solidFill>
                  <a:srgbClr val="233F4C"/>
                </a:solidFill>
                <a:latin typeface="Arial" pitchFamily="34" charset="0"/>
                <a:ea typeface="Arial" pitchFamily="34" charset="-122"/>
                <a:cs typeface="Arial" pitchFamily="34" charset="-120"/>
              </a:rPr>
              <a:t>The original 38 hours is still there.</a:t>
            </a:r>
            <a:endParaRPr lang="en-US" sz="2000" dirty="0"/>
          </a:p>
        </p:txBody>
      </p:sp>
      <p:sp>
        <p:nvSpPr>
          <p:cNvPr id="32" name="Text 29"/>
          <p:cNvSpPr/>
          <p:nvPr/>
        </p:nvSpPr>
        <p:spPr>
          <a:xfrm>
            <a:off x="868680" y="5029200"/>
            <a:ext cx="10543032" cy="347472"/>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The extra 2 hours have a recorded reason and approval. The tool checks the expected result instead of hiding the change.</a:t>
            </a:r>
            <a:endParaRPr lang="en-US" sz="1660" dirty="0"/>
          </a:p>
        </p:txBody>
      </p:sp>
      <p:sp>
        <p:nvSpPr>
          <p:cNvPr id="33" name="Shape 30"/>
          <p:cNvSpPr/>
          <p:nvPr/>
        </p:nvSpPr>
        <p:spPr>
          <a:xfrm>
            <a:off x="585216" y="5769864"/>
            <a:ext cx="11018520" cy="530352"/>
          </a:xfrm>
          <a:prstGeom prst="roundRect">
            <a:avLst>
              <a:gd name="adj" fmla="val 18966"/>
            </a:avLst>
          </a:prstGeom>
          <a:solidFill>
            <a:srgbClr val="EAF5F4"/>
          </a:solidFill>
          <a:ln w="9525">
            <a:solidFill>
              <a:srgbClr val="87B7B2"/>
            </a:solidFill>
            <a:prstDash val="solid"/>
          </a:ln>
        </p:spPr>
      </p:sp>
      <p:sp>
        <p:nvSpPr>
          <p:cNvPr id="34" name="Text 31"/>
          <p:cNvSpPr/>
          <p:nvPr/>
        </p:nvSpPr>
        <p:spPr>
          <a:xfrm>
            <a:off x="786384" y="5907024"/>
            <a:ext cx="1856232" cy="365760"/>
          </a:xfrm>
          <a:prstGeom prst="rect">
            <a:avLst/>
          </a:prstGeom>
          <a:noFill/>
          <a:ln/>
        </p:spPr>
        <p:txBody>
          <a:bodyPr wrap="square" lIns="0" tIns="0" rIns="0" bIns="0" rtlCol="0" anchor="t"/>
          <a:lstStyle/>
          <a:p>
            <a:pPr indent="0" marL="0">
              <a:buNone/>
            </a:pPr>
            <a:r>
              <a:rPr lang="en-US" sz="1490" b="1" dirty="0">
                <a:solidFill>
                  <a:srgbClr val="317F7B"/>
                </a:solidFill>
                <a:latin typeface="Arial" pitchFamily="34" charset="0"/>
                <a:ea typeface="Arial" pitchFamily="34" charset="-122"/>
                <a:cs typeface="Arial" pitchFamily="34" charset="-120"/>
              </a:rPr>
              <a:t>Before automation</a:t>
            </a:r>
            <a:endParaRPr lang="en-US" sz="1490" dirty="0"/>
          </a:p>
        </p:txBody>
      </p:sp>
      <p:sp>
        <p:nvSpPr>
          <p:cNvPr id="35" name="Text 32"/>
          <p:cNvSpPr/>
          <p:nvPr/>
        </p:nvSpPr>
        <p:spPr>
          <a:xfrm>
            <a:off x="2734056" y="5907024"/>
            <a:ext cx="8650224" cy="365760"/>
          </a:xfrm>
          <a:prstGeom prst="rect">
            <a:avLst/>
          </a:prstGeom>
          <a:noFill/>
          <a:ln/>
        </p:spPr>
        <p:txBody>
          <a:bodyPr wrap="square" lIns="0" tIns="0" rIns="0" bIns="0" rtlCol="0" anchor="t"/>
          <a:lstStyle/>
          <a:p>
            <a:pPr indent="0" marL="0">
              <a:buNone/>
            </a:pPr>
            <a:r>
              <a:rPr lang="en-US" sz="1490" dirty="0">
                <a:solidFill>
                  <a:srgbClr val="465D68"/>
                </a:solidFill>
                <a:latin typeface="Arial" pitchFamily="34" charset="0"/>
                <a:ea typeface="Arial" pitchFamily="34" charset="-122"/>
                <a:cs typeface="Arial" pitchFamily="34" charset="-120"/>
              </a:rPr>
              <a:t>Payroll/Finance confirms who qualifies, when the rule applies and how hours are allocated.</a:t>
            </a:r>
            <a:endParaRPr lang="en-US" sz="149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AFC"/>
        </a:solidFill>
      </p:bgPr>
    </p:bg>
    <p:spTree>
      <p:nvGrpSpPr>
        <p:cNvPr id="1" name=""/>
        <p:cNvGrpSpPr/>
        <p:nvPr/>
      </p:nvGrpSpPr>
      <p:grpSpPr>
        <a:xfrm>
          <a:off x="0" y="0"/>
          <a:ext cx="0" cy="0"/>
          <a:chOff x="0" y="0"/>
          <a:chExt cx="0" cy="0"/>
        </a:xfrm>
      </p:grpSpPr>
      <p:sp>
        <p:nvSpPr>
          <p:cNvPr id="2" name="Shape 0"/>
          <p:cNvSpPr/>
          <p:nvPr/>
        </p:nvSpPr>
        <p:spPr>
          <a:xfrm>
            <a:off x="0" y="0"/>
            <a:ext cx="12192000" cy="41148"/>
          </a:xfrm>
          <a:prstGeom prst="rect">
            <a:avLst/>
          </a:prstGeom>
          <a:solidFill>
            <a:srgbClr val="87B7B2"/>
          </a:solidFill>
          <a:ln w="12700">
            <a:solidFill>
              <a:srgbClr val="87B7B2">
                <a:alpha val="0"/>
              </a:srgbClr>
            </a:solidFill>
            <a:prstDash val="solid"/>
          </a:ln>
        </p:spPr>
      </p:sp>
      <p:sp>
        <p:nvSpPr>
          <p:cNvPr id="3" name="Text 1"/>
          <p:cNvSpPr/>
          <p:nvPr/>
        </p:nvSpPr>
        <p:spPr>
          <a:xfrm>
            <a:off x="585216" y="246888"/>
            <a:ext cx="10972800" cy="201168"/>
          </a:xfrm>
          <a:prstGeom prst="rect">
            <a:avLst/>
          </a:prstGeom>
          <a:noFill/>
          <a:ln/>
        </p:spPr>
        <p:txBody>
          <a:bodyPr wrap="square" lIns="0" tIns="0" rIns="0" bIns="0" rtlCol="0" anchor="t"/>
          <a:lstStyle/>
          <a:p>
            <a:pPr indent="0" marL="0">
              <a:buNone/>
            </a:pPr>
            <a:r>
              <a:rPr lang="en-US" sz="1000" b="1" dirty="0">
                <a:solidFill>
                  <a:srgbClr val="317F7B"/>
                </a:solidFill>
                <a:latin typeface="Arial" pitchFamily="34" charset="0"/>
                <a:ea typeface="Arial" pitchFamily="34" charset="-122"/>
                <a:cs typeface="Arial" pitchFamily="34" charset="-120"/>
              </a:rPr>
              <a:t>In summary: what changes first?</a:t>
            </a:r>
            <a:endParaRPr lang="en-US" sz="1000" dirty="0"/>
          </a:p>
        </p:txBody>
      </p:sp>
      <p:sp>
        <p:nvSpPr>
          <p:cNvPr id="4" name="Text 2"/>
          <p:cNvSpPr/>
          <p:nvPr/>
        </p:nvSpPr>
        <p:spPr>
          <a:xfrm>
            <a:off x="585216" y="658368"/>
            <a:ext cx="11027664" cy="594360"/>
          </a:xfrm>
          <a:prstGeom prst="rect">
            <a:avLst/>
          </a:prstGeom>
          <a:noFill/>
          <a:ln/>
        </p:spPr>
        <p:txBody>
          <a:bodyPr wrap="square" lIns="0" tIns="0" rIns="0" bIns="0" rtlCol="0" anchor="t"/>
          <a:lstStyle/>
          <a:p>
            <a:pPr indent="0" marL="0">
              <a:buNone/>
            </a:pPr>
            <a:r>
              <a:rPr lang="en-US" sz="2800" b="1" dirty="0">
                <a:solidFill>
                  <a:srgbClr val="233F4C"/>
                </a:solidFill>
                <a:latin typeface="Arial" pitchFamily="34" charset="0"/>
                <a:ea typeface="Arial" pitchFamily="34" charset="-122"/>
                <a:cs typeface="Arial" pitchFamily="34" charset="-120"/>
              </a:rPr>
              <a:t>What would this automate from today’s flow?</a:t>
            </a:r>
            <a:endParaRPr lang="en-US" sz="2800" dirty="0"/>
          </a:p>
        </p:txBody>
      </p:sp>
      <p:sp>
        <p:nvSpPr>
          <p:cNvPr id="5" name="Text 3"/>
          <p:cNvSpPr/>
          <p:nvPr/>
        </p:nvSpPr>
        <p:spPr>
          <a:xfrm>
            <a:off x="594360" y="1307592"/>
            <a:ext cx="10945368" cy="530352"/>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Once the required, current records are available, the tool can do the repeated comparison work.</a:t>
            </a:r>
            <a:endParaRPr lang="en-US" sz="1660" dirty="0"/>
          </a:p>
        </p:txBody>
      </p:sp>
      <p:sp>
        <p:nvSpPr>
          <p:cNvPr id="6" name="Shape 4"/>
          <p:cNvSpPr/>
          <p:nvPr/>
        </p:nvSpPr>
        <p:spPr>
          <a:xfrm>
            <a:off x="585216" y="6510528"/>
            <a:ext cx="11018520" cy="0"/>
          </a:xfrm>
          <a:prstGeom prst="line">
            <a:avLst/>
          </a:prstGeom>
          <a:noFill/>
          <a:ln w="10160">
            <a:solidFill>
              <a:srgbClr val="DCE6E9"/>
            </a:solidFill>
            <a:prstDash val="solid"/>
          </a:ln>
        </p:spPr>
      </p:sp>
      <p:sp>
        <p:nvSpPr>
          <p:cNvPr id="7" name="Text 5"/>
          <p:cNvSpPr/>
          <p:nvPr/>
        </p:nvSpPr>
        <p:spPr>
          <a:xfrm>
            <a:off x="594360" y="6611112"/>
            <a:ext cx="3749040" cy="164592"/>
          </a:xfrm>
          <a:prstGeom prst="rect">
            <a:avLst/>
          </a:prstGeom>
          <a:noFill/>
          <a:ln/>
        </p:spPr>
        <p:txBody>
          <a:bodyPr wrap="square" lIns="0" tIns="0" rIns="0" bIns="0" rtlCol="0" anchor="t"/>
          <a:lstStyle/>
          <a:p>
            <a:pPr indent="0" marL="0">
              <a:buNone/>
            </a:pPr>
            <a:r>
              <a:rPr lang="en-US" sz="820" dirty="0">
                <a:solidFill>
                  <a:srgbClr val="69808A"/>
                </a:solidFill>
                <a:latin typeface="Arial" pitchFamily="34" charset="0"/>
                <a:ea typeface="Arial" pitchFamily="34" charset="-122"/>
                <a:cs typeface="Arial" pitchFamily="34" charset="-120"/>
              </a:rPr>
              <a:t>Komlan Kouhiko  /  B&amp;S payroll proposal</a:t>
            </a:r>
            <a:endParaRPr lang="en-US" sz="820" dirty="0"/>
          </a:p>
        </p:txBody>
      </p:sp>
      <p:sp>
        <p:nvSpPr>
          <p:cNvPr id="8" name="Text 6"/>
          <p:cNvSpPr/>
          <p:nvPr/>
        </p:nvSpPr>
        <p:spPr>
          <a:xfrm>
            <a:off x="4023360" y="6611112"/>
            <a:ext cx="6903720" cy="164592"/>
          </a:xfrm>
          <a:prstGeom prst="rect">
            <a:avLst/>
          </a:prstGeom>
          <a:noFill/>
          <a:ln/>
        </p:spPr>
        <p:txBody>
          <a:bodyPr wrap="square" lIns="0" tIns="0" rIns="0" bIns="0" rtlCol="0" anchor="t"/>
          <a:lstStyle/>
          <a:p>
            <a:pPr algn="r" indent="0" marL="0">
              <a:buNone/>
            </a:pPr>
            <a:r>
              <a:rPr lang="en-US" sz="805" dirty="0">
                <a:solidFill>
                  <a:srgbClr val="69808A"/>
                </a:solidFill>
                <a:latin typeface="Arial" pitchFamily="34" charset="0"/>
                <a:ea typeface="Arial" pitchFamily="34" charset="-122"/>
                <a:cs typeface="Arial" pitchFamily="34" charset="-120"/>
              </a:rPr>
              <a:t>[S1] pp. 6, 36, 40–44, 52–54 • Proposed task mapping</a:t>
            </a:r>
            <a:endParaRPr lang="en-US" sz="805" dirty="0"/>
          </a:p>
        </p:txBody>
      </p:sp>
      <p:sp>
        <p:nvSpPr>
          <p:cNvPr id="9" name="Text 7"/>
          <p:cNvSpPr/>
          <p:nvPr/>
        </p:nvSpPr>
        <p:spPr>
          <a:xfrm>
            <a:off x="11100816" y="6592824"/>
            <a:ext cx="502920" cy="201168"/>
          </a:xfrm>
          <a:prstGeom prst="rect">
            <a:avLst/>
          </a:prstGeom>
          <a:noFill/>
          <a:ln/>
        </p:spPr>
        <p:txBody>
          <a:bodyPr wrap="square" lIns="0" tIns="0" rIns="0" bIns="0" rtlCol="0" anchor="t"/>
          <a:lstStyle/>
          <a:p>
            <a:pPr algn="r" indent="0" marL="0">
              <a:buNone/>
            </a:pPr>
            <a:r>
              <a:rPr lang="en-US" sz="920" dirty="0">
                <a:solidFill>
                  <a:srgbClr val="69808A"/>
                </a:solidFill>
                <a:latin typeface="Arial" pitchFamily="34" charset="0"/>
                <a:ea typeface="Arial" pitchFamily="34" charset="-122"/>
                <a:cs typeface="Arial" pitchFamily="34" charset="-120"/>
              </a:rPr>
              <a:t>07 / 19</a:t>
            </a:r>
            <a:endParaRPr lang="en-US" sz="920" dirty="0"/>
          </a:p>
        </p:txBody>
      </p:sp>
      <p:sp>
        <p:nvSpPr>
          <p:cNvPr id="11" name="Shape 8"/>
          <p:cNvSpPr/>
          <p:nvPr/>
        </p:nvSpPr>
        <p:spPr>
          <a:xfrm>
            <a:off x="594360" y="1984248"/>
            <a:ext cx="11009376" cy="393192"/>
          </a:xfrm>
          <a:prstGeom prst="roundRect">
            <a:avLst>
              <a:gd name="adj" fmla="val 16279"/>
            </a:avLst>
          </a:prstGeom>
          <a:solidFill>
            <a:srgbClr val="EAF5F4"/>
          </a:solidFill>
          <a:ln w="9525">
            <a:solidFill>
              <a:srgbClr val="DCE6E9"/>
            </a:solidFill>
            <a:prstDash val="solid"/>
          </a:ln>
        </p:spPr>
      </p:sp>
      <p:sp>
        <p:nvSpPr>
          <p:cNvPr id="12" name="Text 9"/>
          <p:cNvSpPr/>
          <p:nvPr/>
        </p:nvSpPr>
        <p:spPr>
          <a:xfrm>
            <a:off x="740664" y="2103120"/>
            <a:ext cx="3364992" cy="283464"/>
          </a:xfrm>
          <a:prstGeom prst="rect">
            <a:avLst/>
          </a:prstGeom>
          <a:noFill/>
          <a:ln/>
        </p:spPr>
        <p:txBody>
          <a:bodyPr wrap="square" lIns="0" tIns="0" rIns="0" bIns="0" rtlCol="0" anchor="t"/>
          <a:lstStyle/>
          <a:p>
            <a:pPr indent="0" marL="0">
              <a:buNone/>
            </a:pPr>
            <a:r>
              <a:rPr lang="en-US" sz="1350" b="1" dirty="0">
                <a:solidFill>
                  <a:srgbClr val="317F7B"/>
                </a:solidFill>
                <a:latin typeface="Arial" pitchFamily="34" charset="0"/>
                <a:ea typeface="Arial" pitchFamily="34" charset="-122"/>
                <a:cs typeface="Arial" pitchFamily="34" charset="-120"/>
              </a:rPr>
              <a:t>Today, Payroll has to…</a:t>
            </a:r>
            <a:endParaRPr lang="en-US" sz="1350" dirty="0"/>
          </a:p>
        </p:txBody>
      </p:sp>
      <p:sp>
        <p:nvSpPr>
          <p:cNvPr id="13" name="Text 10"/>
          <p:cNvSpPr/>
          <p:nvPr/>
        </p:nvSpPr>
        <p:spPr>
          <a:xfrm>
            <a:off x="4398264" y="2103120"/>
            <a:ext cx="7059168" cy="283464"/>
          </a:xfrm>
          <a:prstGeom prst="rect">
            <a:avLst/>
          </a:prstGeom>
          <a:noFill/>
          <a:ln/>
        </p:spPr>
        <p:txBody>
          <a:bodyPr wrap="square" lIns="0" tIns="0" rIns="0" bIns="0" rtlCol="0" anchor="t"/>
          <a:lstStyle/>
          <a:p>
            <a:pPr indent="0" marL="0">
              <a:buNone/>
            </a:pPr>
            <a:r>
              <a:rPr lang="en-US" sz="1350" b="1" dirty="0">
                <a:solidFill>
                  <a:srgbClr val="317F7B"/>
                </a:solidFill>
                <a:latin typeface="Arial" pitchFamily="34" charset="0"/>
                <a:ea typeface="Arial" pitchFamily="34" charset="-122"/>
                <a:cs typeface="Arial" pitchFamily="34" charset="-120"/>
              </a:rPr>
              <a:t>The proposed tool would…</a:t>
            </a:r>
            <a:endParaRPr lang="en-US" sz="1350" dirty="0"/>
          </a:p>
        </p:txBody>
      </p:sp>
      <p:sp>
        <p:nvSpPr>
          <p:cNvPr id="14" name="Shape 11"/>
          <p:cNvSpPr/>
          <p:nvPr/>
        </p:nvSpPr>
        <p:spPr>
          <a:xfrm>
            <a:off x="594360" y="2432304"/>
            <a:ext cx="11009376" cy="448056"/>
          </a:xfrm>
          <a:prstGeom prst="roundRect">
            <a:avLst>
              <a:gd name="adj" fmla="val 12245"/>
            </a:avLst>
          </a:prstGeom>
          <a:solidFill>
            <a:srgbClr val="F0F6F8"/>
          </a:solidFill>
          <a:ln w="9525">
            <a:solidFill>
              <a:srgbClr val="DCE6E9"/>
            </a:solidFill>
            <a:prstDash val="solid"/>
          </a:ln>
        </p:spPr>
      </p:sp>
      <p:sp>
        <p:nvSpPr>
          <p:cNvPr id="15" name="Text 12"/>
          <p:cNvSpPr/>
          <p:nvPr/>
        </p:nvSpPr>
        <p:spPr>
          <a:xfrm>
            <a:off x="740664" y="2537460"/>
            <a:ext cx="3364992" cy="310896"/>
          </a:xfrm>
          <a:prstGeom prst="rect">
            <a:avLst/>
          </a:prstGeom>
          <a:noFill/>
          <a:ln/>
        </p:spPr>
        <p:txBody>
          <a:bodyPr wrap="square" lIns="0" tIns="0" rIns="0" bIns="0" rtlCol="0" anchor="t"/>
          <a:lstStyle/>
          <a:p>
            <a:pPr indent="0" marL="0">
              <a:buNone/>
            </a:pPr>
            <a:r>
              <a:rPr lang="en-US" sz="1570" b="1" dirty="0">
                <a:solidFill>
                  <a:srgbClr val="233F4C"/>
                </a:solidFill>
                <a:latin typeface="Arial" pitchFamily="34" charset="0"/>
                <a:ea typeface="Arial" pitchFamily="34" charset="-122"/>
                <a:cs typeface="Arial" pitchFamily="34" charset="-120"/>
              </a:rPr>
              <a:t>Bring reports together</a:t>
            </a:r>
            <a:endParaRPr lang="en-US" sz="1570" dirty="0"/>
          </a:p>
        </p:txBody>
      </p:sp>
      <p:sp>
        <p:nvSpPr>
          <p:cNvPr id="16" name="Text 13"/>
          <p:cNvSpPr/>
          <p:nvPr/>
        </p:nvSpPr>
        <p:spPr>
          <a:xfrm>
            <a:off x="4398264" y="2537460"/>
            <a:ext cx="7059168" cy="310896"/>
          </a:xfrm>
          <a:prstGeom prst="rect">
            <a:avLst/>
          </a:prstGeom>
          <a:noFill/>
          <a:ln/>
        </p:spPr>
        <p:txBody>
          <a:bodyPr wrap="square" lIns="0" tIns="0" rIns="0" bIns="0" rtlCol="0" anchor="t"/>
          <a:lstStyle/>
          <a:p>
            <a:pPr indent="0" marL="0">
              <a:buNone/>
            </a:pPr>
            <a:r>
              <a:rPr lang="en-US" sz="1570" dirty="0">
                <a:solidFill>
                  <a:srgbClr val="465D68"/>
                </a:solidFill>
                <a:latin typeface="Arial" pitchFamily="34" charset="0"/>
                <a:ea typeface="Arial" pitchFamily="34" charset="-122"/>
                <a:cs typeface="Arial" pitchFamily="34" charset="-120"/>
              </a:rPr>
              <a:t>Load them into one view for each employee and pay period.</a:t>
            </a:r>
            <a:endParaRPr lang="en-US" sz="1570" dirty="0"/>
          </a:p>
        </p:txBody>
      </p:sp>
      <p:sp>
        <p:nvSpPr>
          <p:cNvPr id="17" name="Shape 14"/>
          <p:cNvSpPr/>
          <p:nvPr/>
        </p:nvSpPr>
        <p:spPr>
          <a:xfrm>
            <a:off x="594360" y="2930652"/>
            <a:ext cx="11009376" cy="448056"/>
          </a:xfrm>
          <a:prstGeom prst="roundRect">
            <a:avLst>
              <a:gd name="adj" fmla="val 12245"/>
            </a:avLst>
          </a:prstGeom>
          <a:solidFill>
            <a:srgbClr val="FFFFFF"/>
          </a:solidFill>
          <a:ln w="9525">
            <a:solidFill>
              <a:srgbClr val="DCE6E9"/>
            </a:solidFill>
            <a:prstDash val="solid"/>
          </a:ln>
        </p:spPr>
      </p:sp>
      <p:sp>
        <p:nvSpPr>
          <p:cNvPr id="18" name="Text 15"/>
          <p:cNvSpPr/>
          <p:nvPr/>
        </p:nvSpPr>
        <p:spPr>
          <a:xfrm>
            <a:off x="740664" y="3035808"/>
            <a:ext cx="3364992" cy="310896"/>
          </a:xfrm>
          <a:prstGeom prst="rect">
            <a:avLst/>
          </a:prstGeom>
          <a:noFill/>
          <a:ln/>
        </p:spPr>
        <p:txBody>
          <a:bodyPr wrap="square" lIns="0" tIns="0" rIns="0" bIns="0" rtlCol="0" anchor="t"/>
          <a:lstStyle/>
          <a:p>
            <a:pPr indent="0" marL="0">
              <a:buNone/>
            </a:pPr>
            <a:r>
              <a:rPr lang="en-US" sz="1570" b="1" dirty="0">
                <a:solidFill>
                  <a:srgbClr val="233F4C"/>
                </a:solidFill>
                <a:latin typeface="Arial" pitchFamily="34" charset="0"/>
                <a:ea typeface="Arial" pitchFamily="34" charset="-122"/>
                <a:cs typeface="Arial" pitchFamily="34" charset="-120"/>
              </a:rPr>
              <a:t>Compare payroll reports</a:t>
            </a:r>
            <a:endParaRPr lang="en-US" sz="1570" dirty="0"/>
          </a:p>
        </p:txBody>
      </p:sp>
      <p:sp>
        <p:nvSpPr>
          <p:cNvPr id="19" name="Text 16"/>
          <p:cNvSpPr/>
          <p:nvPr/>
        </p:nvSpPr>
        <p:spPr>
          <a:xfrm>
            <a:off x="4398264" y="3035808"/>
            <a:ext cx="7059168" cy="310896"/>
          </a:xfrm>
          <a:prstGeom prst="rect">
            <a:avLst/>
          </a:prstGeom>
          <a:noFill/>
          <a:ln/>
        </p:spPr>
        <p:txBody>
          <a:bodyPr wrap="square" lIns="0" tIns="0" rIns="0" bIns="0" rtlCol="0" anchor="t"/>
          <a:lstStyle/>
          <a:p>
            <a:pPr indent="0" marL="0">
              <a:buNone/>
            </a:pPr>
            <a:r>
              <a:rPr lang="en-US" sz="1570" dirty="0">
                <a:solidFill>
                  <a:srgbClr val="465D68"/>
                </a:solidFill>
                <a:latin typeface="Arial" pitchFamily="34" charset="0"/>
                <a:ea typeface="Arial" pitchFamily="34" charset="-122"/>
                <a:cs typeface="Arial" pitchFamily="34" charset="-120"/>
              </a:rPr>
              <a:t>Check hours, leave, rates, per diem and deductions by employee.</a:t>
            </a:r>
            <a:endParaRPr lang="en-US" sz="1570" dirty="0"/>
          </a:p>
        </p:txBody>
      </p:sp>
      <p:sp>
        <p:nvSpPr>
          <p:cNvPr id="20" name="Shape 17"/>
          <p:cNvSpPr/>
          <p:nvPr/>
        </p:nvSpPr>
        <p:spPr>
          <a:xfrm>
            <a:off x="594360" y="3429000"/>
            <a:ext cx="11009376" cy="448056"/>
          </a:xfrm>
          <a:prstGeom prst="roundRect">
            <a:avLst>
              <a:gd name="adj" fmla="val 12245"/>
            </a:avLst>
          </a:prstGeom>
          <a:solidFill>
            <a:srgbClr val="F0F6F8"/>
          </a:solidFill>
          <a:ln w="9525">
            <a:solidFill>
              <a:srgbClr val="DCE6E9"/>
            </a:solidFill>
            <a:prstDash val="solid"/>
          </a:ln>
        </p:spPr>
      </p:sp>
      <p:sp>
        <p:nvSpPr>
          <p:cNvPr id="21" name="Text 18"/>
          <p:cNvSpPr/>
          <p:nvPr/>
        </p:nvSpPr>
        <p:spPr>
          <a:xfrm>
            <a:off x="740664" y="3534156"/>
            <a:ext cx="3364992" cy="310896"/>
          </a:xfrm>
          <a:prstGeom prst="rect">
            <a:avLst/>
          </a:prstGeom>
          <a:noFill/>
          <a:ln/>
        </p:spPr>
        <p:txBody>
          <a:bodyPr wrap="square" lIns="0" tIns="0" rIns="0" bIns="0" rtlCol="0" anchor="t"/>
          <a:lstStyle/>
          <a:p>
            <a:pPr indent="0" marL="0">
              <a:buNone/>
            </a:pPr>
            <a:r>
              <a:rPr lang="en-US" sz="1570" b="1" dirty="0">
                <a:solidFill>
                  <a:srgbClr val="233F4C"/>
                </a:solidFill>
                <a:latin typeface="Arial" pitchFamily="34" charset="0"/>
                <a:ea typeface="Arial" pitchFamily="34" charset="-122"/>
                <a:cs typeface="Arial" pitchFamily="34" charset="-120"/>
              </a:rPr>
              <a:t>Find missing expected pay</a:t>
            </a:r>
            <a:endParaRPr lang="en-US" sz="1570" dirty="0"/>
          </a:p>
        </p:txBody>
      </p:sp>
      <p:sp>
        <p:nvSpPr>
          <p:cNvPr id="22" name="Text 19"/>
          <p:cNvSpPr/>
          <p:nvPr/>
        </p:nvSpPr>
        <p:spPr>
          <a:xfrm>
            <a:off x="4398264" y="3534156"/>
            <a:ext cx="7059168" cy="310896"/>
          </a:xfrm>
          <a:prstGeom prst="rect">
            <a:avLst/>
          </a:prstGeom>
          <a:noFill/>
          <a:ln/>
        </p:spPr>
        <p:txBody>
          <a:bodyPr wrap="square" lIns="0" tIns="0" rIns="0" bIns="0" rtlCol="0" anchor="t"/>
          <a:lstStyle/>
          <a:p>
            <a:pPr indent="0" marL="0">
              <a:buNone/>
            </a:pPr>
            <a:r>
              <a:rPr lang="en-US" sz="1570" dirty="0">
                <a:solidFill>
                  <a:srgbClr val="465D68"/>
                </a:solidFill>
                <a:latin typeface="Arial" pitchFamily="34" charset="0"/>
                <a:ea typeface="Arial" pitchFamily="34" charset="-122"/>
                <a:cs typeface="Arial" pitchFamily="34" charset="-120"/>
              </a:rPr>
              <a:t>Flag people expected to be paid who have no Paylocity pay record.</a:t>
            </a:r>
            <a:endParaRPr lang="en-US" sz="1570" dirty="0"/>
          </a:p>
        </p:txBody>
      </p:sp>
      <p:sp>
        <p:nvSpPr>
          <p:cNvPr id="23" name="Shape 20"/>
          <p:cNvSpPr/>
          <p:nvPr/>
        </p:nvSpPr>
        <p:spPr>
          <a:xfrm>
            <a:off x="594360" y="3927348"/>
            <a:ext cx="11009376" cy="448056"/>
          </a:xfrm>
          <a:prstGeom prst="roundRect">
            <a:avLst>
              <a:gd name="adj" fmla="val 12245"/>
            </a:avLst>
          </a:prstGeom>
          <a:solidFill>
            <a:srgbClr val="FFFFFF"/>
          </a:solidFill>
          <a:ln w="9525">
            <a:solidFill>
              <a:srgbClr val="DCE6E9"/>
            </a:solidFill>
            <a:prstDash val="solid"/>
          </a:ln>
        </p:spPr>
      </p:sp>
      <p:sp>
        <p:nvSpPr>
          <p:cNvPr id="24" name="Text 21"/>
          <p:cNvSpPr/>
          <p:nvPr/>
        </p:nvSpPr>
        <p:spPr>
          <a:xfrm>
            <a:off x="740664" y="4032504"/>
            <a:ext cx="3364992" cy="310896"/>
          </a:xfrm>
          <a:prstGeom prst="rect">
            <a:avLst/>
          </a:prstGeom>
          <a:noFill/>
          <a:ln/>
        </p:spPr>
        <p:txBody>
          <a:bodyPr wrap="square" lIns="0" tIns="0" rIns="0" bIns="0" rtlCol="0" anchor="t"/>
          <a:lstStyle/>
          <a:p>
            <a:pPr indent="0" marL="0">
              <a:buNone/>
            </a:pPr>
            <a:r>
              <a:rPr lang="en-US" sz="1570" b="1" dirty="0">
                <a:solidFill>
                  <a:srgbClr val="233F4C"/>
                </a:solidFill>
                <a:latin typeface="Arial" pitchFamily="34" charset="0"/>
                <a:ea typeface="Arial" pitchFamily="34" charset="-122"/>
                <a:cs typeface="Arial" pitchFamily="34" charset="-120"/>
              </a:rPr>
              <a:t>Search for the difference</a:t>
            </a:r>
            <a:endParaRPr lang="en-US" sz="1570" dirty="0"/>
          </a:p>
        </p:txBody>
      </p:sp>
      <p:sp>
        <p:nvSpPr>
          <p:cNvPr id="25" name="Text 22"/>
          <p:cNvSpPr/>
          <p:nvPr/>
        </p:nvSpPr>
        <p:spPr>
          <a:xfrm>
            <a:off x="4398264" y="4032504"/>
            <a:ext cx="7059168" cy="310896"/>
          </a:xfrm>
          <a:prstGeom prst="rect">
            <a:avLst/>
          </a:prstGeom>
          <a:noFill/>
          <a:ln/>
        </p:spPr>
        <p:txBody>
          <a:bodyPr wrap="square" lIns="0" tIns="0" rIns="0" bIns="0" rtlCol="0" anchor="t"/>
          <a:lstStyle/>
          <a:p>
            <a:pPr indent="0" marL="0">
              <a:buNone/>
            </a:pPr>
            <a:r>
              <a:rPr lang="en-US" sz="1570" dirty="0">
                <a:solidFill>
                  <a:srgbClr val="465D68"/>
                </a:solidFill>
                <a:latin typeface="Arial" pitchFamily="34" charset="0"/>
                <a:ea typeface="Arial" pitchFamily="34" charset="-122"/>
                <a:cs typeface="Arial" pitchFamily="34" charset="-120"/>
              </a:rPr>
              <a:t>Show the employee, pay component and handoff needing review.</a:t>
            </a:r>
            <a:endParaRPr lang="en-US" sz="1570" dirty="0"/>
          </a:p>
        </p:txBody>
      </p:sp>
      <p:sp>
        <p:nvSpPr>
          <p:cNvPr id="26" name="Shape 23"/>
          <p:cNvSpPr/>
          <p:nvPr/>
        </p:nvSpPr>
        <p:spPr>
          <a:xfrm>
            <a:off x="594360" y="4425696"/>
            <a:ext cx="11009376" cy="448056"/>
          </a:xfrm>
          <a:prstGeom prst="roundRect">
            <a:avLst>
              <a:gd name="adj" fmla="val 12245"/>
            </a:avLst>
          </a:prstGeom>
          <a:solidFill>
            <a:srgbClr val="F0F6F8"/>
          </a:solidFill>
          <a:ln w="9525">
            <a:solidFill>
              <a:srgbClr val="DCE6E9"/>
            </a:solidFill>
            <a:prstDash val="solid"/>
          </a:ln>
        </p:spPr>
      </p:sp>
      <p:sp>
        <p:nvSpPr>
          <p:cNvPr id="27" name="Text 24"/>
          <p:cNvSpPr/>
          <p:nvPr/>
        </p:nvSpPr>
        <p:spPr>
          <a:xfrm>
            <a:off x="740664" y="4530852"/>
            <a:ext cx="3364992" cy="310896"/>
          </a:xfrm>
          <a:prstGeom prst="rect">
            <a:avLst/>
          </a:prstGeom>
          <a:noFill/>
          <a:ln/>
        </p:spPr>
        <p:txBody>
          <a:bodyPr wrap="square" lIns="0" tIns="0" rIns="0" bIns="0" rtlCol="0" anchor="t"/>
          <a:lstStyle/>
          <a:p>
            <a:pPr indent="0" marL="0">
              <a:buNone/>
            </a:pPr>
            <a:r>
              <a:rPr lang="en-US" sz="1570" b="1" dirty="0">
                <a:solidFill>
                  <a:srgbClr val="233F4C"/>
                </a:solidFill>
                <a:latin typeface="Arial" pitchFamily="34" charset="0"/>
                <a:ea typeface="Arial" pitchFamily="34" charset="-122"/>
                <a:cs typeface="Arial" pitchFamily="34" charset="-120"/>
              </a:rPr>
              <a:t>Repeat checks after a correction</a:t>
            </a:r>
            <a:endParaRPr lang="en-US" sz="1570" dirty="0"/>
          </a:p>
        </p:txBody>
      </p:sp>
      <p:sp>
        <p:nvSpPr>
          <p:cNvPr id="28" name="Text 25"/>
          <p:cNvSpPr/>
          <p:nvPr/>
        </p:nvSpPr>
        <p:spPr>
          <a:xfrm>
            <a:off x="4398264" y="4530852"/>
            <a:ext cx="7059168" cy="310896"/>
          </a:xfrm>
          <a:prstGeom prst="rect">
            <a:avLst/>
          </a:prstGeom>
          <a:noFill/>
          <a:ln/>
        </p:spPr>
        <p:txBody>
          <a:bodyPr wrap="square" lIns="0" tIns="0" rIns="0" bIns="0" rtlCol="0" anchor="t"/>
          <a:lstStyle/>
          <a:p>
            <a:pPr indent="0" marL="0">
              <a:buNone/>
            </a:pPr>
            <a:r>
              <a:rPr lang="en-US" sz="1570" dirty="0">
                <a:solidFill>
                  <a:srgbClr val="465D68"/>
                </a:solidFill>
                <a:latin typeface="Arial" pitchFamily="34" charset="0"/>
                <a:ea typeface="Arial" pitchFamily="34" charset="-122"/>
                <a:cs typeface="Arial" pitchFamily="34" charset="-120"/>
              </a:rPr>
              <a:t>Run the affected checks again using the updated records.</a:t>
            </a:r>
            <a:endParaRPr lang="en-US" sz="1570" dirty="0"/>
          </a:p>
        </p:txBody>
      </p:sp>
      <p:sp>
        <p:nvSpPr>
          <p:cNvPr id="29" name="Shape 26"/>
          <p:cNvSpPr/>
          <p:nvPr/>
        </p:nvSpPr>
        <p:spPr>
          <a:xfrm>
            <a:off x="594360" y="4924044"/>
            <a:ext cx="11009376" cy="448056"/>
          </a:xfrm>
          <a:prstGeom prst="roundRect">
            <a:avLst>
              <a:gd name="adj" fmla="val 12245"/>
            </a:avLst>
          </a:prstGeom>
          <a:solidFill>
            <a:srgbClr val="FFFFFF"/>
          </a:solidFill>
          <a:ln w="9525">
            <a:solidFill>
              <a:srgbClr val="DCE6E9"/>
            </a:solidFill>
            <a:prstDash val="solid"/>
          </a:ln>
        </p:spPr>
      </p:sp>
      <p:sp>
        <p:nvSpPr>
          <p:cNvPr id="30" name="Text 27"/>
          <p:cNvSpPr/>
          <p:nvPr/>
        </p:nvSpPr>
        <p:spPr>
          <a:xfrm>
            <a:off x="740664" y="5029200"/>
            <a:ext cx="3364992" cy="310896"/>
          </a:xfrm>
          <a:prstGeom prst="rect">
            <a:avLst/>
          </a:prstGeom>
          <a:noFill/>
          <a:ln/>
        </p:spPr>
        <p:txBody>
          <a:bodyPr wrap="square" lIns="0" tIns="0" rIns="0" bIns="0" rtlCol="0" anchor="t"/>
          <a:lstStyle/>
          <a:p>
            <a:pPr indent="0" marL="0">
              <a:buNone/>
            </a:pPr>
            <a:r>
              <a:rPr lang="en-US" sz="1570" b="1" dirty="0">
                <a:solidFill>
                  <a:srgbClr val="233F4C"/>
                </a:solidFill>
                <a:latin typeface="Arial" pitchFamily="34" charset="0"/>
                <a:ea typeface="Arial" pitchFamily="34" charset="-122"/>
                <a:cs typeface="Arial" pitchFamily="34" charset="-120"/>
              </a:rPr>
              <a:t>Assemble review evidence</a:t>
            </a:r>
            <a:endParaRPr lang="en-US" sz="1570" dirty="0"/>
          </a:p>
        </p:txBody>
      </p:sp>
      <p:sp>
        <p:nvSpPr>
          <p:cNvPr id="31" name="Text 28"/>
          <p:cNvSpPr/>
          <p:nvPr/>
        </p:nvSpPr>
        <p:spPr>
          <a:xfrm>
            <a:off x="4398264" y="5029200"/>
            <a:ext cx="7059168" cy="310896"/>
          </a:xfrm>
          <a:prstGeom prst="rect">
            <a:avLst/>
          </a:prstGeom>
          <a:noFill/>
          <a:ln/>
        </p:spPr>
        <p:txBody>
          <a:bodyPr wrap="square" lIns="0" tIns="0" rIns="0" bIns="0" rtlCol="0" anchor="t"/>
          <a:lstStyle/>
          <a:p>
            <a:pPr indent="0" marL="0">
              <a:buNone/>
            </a:pPr>
            <a:r>
              <a:rPr lang="en-US" sz="1570" dirty="0">
                <a:solidFill>
                  <a:srgbClr val="465D68"/>
                </a:solidFill>
                <a:latin typeface="Arial" pitchFamily="34" charset="0"/>
                <a:ea typeface="Arial" pitchFamily="34" charset="-122"/>
                <a:cs typeface="Arial" pitchFamily="34" charset="-120"/>
              </a:rPr>
              <a:t>Keep Trace, decisions and a readable review packet together.</a:t>
            </a:r>
            <a:endParaRPr lang="en-US" sz="1570" dirty="0"/>
          </a:p>
        </p:txBody>
      </p:sp>
      <p:sp>
        <p:nvSpPr>
          <p:cNvPr id="32" name="Text 29"/>
          <p:cNvSpPr/>
          <p:nvPr/>
        </p:nvSpPr>
        <p:spPr>
          <a:xfrm>
            <a:off x="795528" y="5486400"/>
            <a:ext cx="10607040" cy="274320"/>
          </a:xfrm>
          <a:prstGeom prst="rect">
            <a:avLst/>
          </a:prstGeom>
          <a:noFill/>
          <a:ln/>
        </p:spPr>
        <p:txBody>
          <a:bodyPr wrap="square" lIns="0" tIns="0" rIns="0" bIns="0" rtlCol="0" anchor="t"/>
          <a:lstStyle/>
          <a:p>
            <a:pPr indent="0" marL="0">
              <a:buNone/>
            </a:pPr>
            <a:r>
              <a:rPr lang="en-US" sz="1480" dirty="0">
                <a:solidFill>
                  <a:srgbClr val="69808A"/>
                </a:solidFill>
                <a:latin typeface="Arial" pitchFamily="34" charset="0"/>
                <a:ea typeface="Arial" pitchFamily="34" charset="-122"/>
                <a:cs typeface="Arial" pitchFamily="34" charset="-120"/>
              </a:rPr>
              <a:t>Approved files may still be uploaded manually until each automatic connection is verified.</a:t>
            </a:r>
            <a:endParaRPr lang="en-US" sz="1480" dirty="0"/>
          </a:p>
        </p:txBody>
      </p:sp>
      <p:sp>
        <p:nvSpPr>
          <p:cNvPr id="33" name="Shape 30"/>
          <p:cNvSpPr/>
          <p:nvPr/>
        </p:nvSpPr>
        <p:spPr>
          <a:xfrm>
            <a:off x="585216" y="5897880"/>
            <a:ext cx="11018520" cy="493776"/>
          </a:xfrm>
          <a:prstGeom prst="roundRect">
            <a:avLst>
              <a:gd name="adj" fmla="val 20370"/>
            </a:avLst>
          </a:prstGeom>
          <a:solidFill>
            <a:srgbClr val="EAF5F4"/>
          </a:solidFill>
          <a:ln w="9525">
            <a:solidFill>
              <a:srgbClr val="87B7B2"/>
            </a:solidFill>
            <a:prstDash val="solid"/>
          </a:ln>
        </p:spPr>
      </p:sp>
      <p:sp>
        <p:nvSpPr>
          <p:cNvPr id="34" name="Text 31"/>
          <p:cNvSpPr/>
          <p:nvPr/>
        </p:nvSpPr>
        <p:spPr>
          <a:xfrm>
            <a:off x="786384" y="6035040"/>
            <a:ext cx="1938528" cy="329184"/>
          </a:xfrm>
          <a:prstGeom prst="rect">
            <a:avLst/>
          </a:prstGeom>
          <a:noFill/>
          <a:ln/>
        </p:spPr>
        <p:txBody>
          <a:bodyPr wrap="square" lIns="0" tIns="0" rIns="0" bIns="0" rtlCol="0" anchor="t"/>
          <a:lstStyle/>
          <a:p>
            <a:pPr indent="0" marL="0">
              <a:buNone/>
            </a:pPr>
            <a:r>
              <a:rPr lang="en-US" sz="1490" b="1" dirty="0">
                <a:solidFill>
                  <a:srgbClr val="317F7B"/>
                </a:solidFill>
                <a:latin typeface="Arial" pitchFamily="34" charset="0"/>
                <a:ea typeface="Arial" pitchFamily="34" charset="-122"/>
                <a:cs typeface="Arial" pitchFamily="34" charset="-120"/>
              </a:rPr>
              <a:t>The work removed</a:t>
            </a:r>
            <a:endParaRPr lang="en-US" sz="1490" dirty="0"/>
          </a:p>
        </p:txBody>
      </p:sp>
      <p:sp>
        <p:nvSpPr>
          <p:cNvPr id="35" name="Text 32"/>
          <p:cNvSpPr/>
          <p:nvPr/>
        </p:nvSpPr>
        <p:spPr>
          <a:xfrm>
            <a:off x="2816352" y="6035040"/>
            <a:ext cx="8567928" cy="329184"/>
          </a:xfrm>
          <a:prstGeom prst="rect">
            <a:avLst/>
          </a:prstGeom>
          <a:noFill/>
          <a:ln/>
        </p:spPr>
        <p:txBody>
          <a:bodyPr wrap="square" lIns="0" tIns="0" rIns="0" bIns="0" rtlCol="0" anchor="t"/>
          <a:lstStyle/>
          <a:p>
            <a:pPr indent="0" marL="0">
              <a:buNone/>
            </a:pPr>
            <a:r>
              <a:rPr lang="en-US" sz="1490" dirty="0">
                <a:solidFill>
                  <a:srgbClr val="465D68"/>
                </a:solidFill>
                <a:latin typeface="Arial" pitchFamily="34" charset="0"/>
                <a:ea typeface="Arial" pitchFamily="34" charset="-122"/>
                <a:cs typeface="Arial" pitchFamily="34" charset="-120"/>
              </a:rPr>
              <a:t>Repeated comparing and searching—not deciding what someone should be paid.</a:t>
            </a:r>
            <a:endParaRPr lang="en-US" sz="149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AFC"/>
        </a:solidFill>
      </p:bgPr>
    </p:bg>
    <p:spTree>
      <p:nvGrpSpPr>
        <p:cNvPr id="1" name=""/>
        <p:cNvGrpSpPr/>
        <p:nvPr/>
      </p:nvGrpSpPr>
      <p:grpSpPr>
        <a:xfrm>
          <a:off x="0" y="0"/>
          <a:ext cx="0" cy="0"/>
          <a:chOff x="0" y="0"/>
          <a:chExt cx="0" cy="0"/>
        </a:xfrm>
      </p:grpSpPr>
      <p:sp>
        <p:nvSpPr>
          <p:cNvPr id="2" name="Shape 0"/>
          <p:cNvSpPr/>
          <p:nvPr/>
        </p:nvSpPr>
        <p:spPr>
          <a:xfrm>
            <a:off x="0" y="0"/>
            <a:ext cx="12192000" cy="41148"/>
          </a:xfrm>
          <a:prstGeom prst="rect">
            <a:avLst/>
          </a:prstGeom>
          <a:solidFill>
            <a:srgbClr val="87B7B2"/>
          </a:solidFill>
          <a:ln w="12700">
            <a:solidFill>
              <a:srgbClr val="87B7B2">
                <a:alpha val="0"/>
              </a:srgbClr>
            </a:solidFill>
            <a:prstDash val="solid"/>
          </a:ln>
        </p:spPr>
      </p:sp>
      <p:sp>
        <p:nvSpPr>
          <p:cNvPr id="3" name="Text 1"/>
          <p:cNvSpPr/>
          <p:nvPr/>
        </p:nvSpPr>
        <p:spPr>
          <a:xfrm>
            <a:off x="585216" y="246888"/>
            <a:ext cx="10972800" cy="201168"/>
          </a:xfrm>
          <a:prstGeom prst="rect">
            <a:avLst/>
          </a:prstGeom>
          <a:noFill/>
          <a:ln/>
        </p:spPr>
        <p:txBody>
          <a:bodyPr wrap="square" lIns="0" tIns="0" rIns="0" bIns="0" rtlCol="0" anchor="t"/>
          <a:lstStyle/>
          <a:p>
            <a:pPr indent="0" marL="0">
              <a:buNone/>
            </a:pPr>
            <a:r>
              <a:rPr lang="en-US" sz="1000" b="1" dirty="0">
                <a:solidFill>
                  <a:srgbClr val="317F7B"/>
                </a:solidFill>
                <a:latin typeface="Arial" pitchFamily="34" charset="0"/>
                <a:ea typeface="Arial" pitchFamily="34" charset="-122"/>
                <a:cs typeface="Arial" pitchFamily="34" charset="-120"/>
              </a:rPr>
              <a:t>See the whole payroll week</a:t>
            </a:r>
            <a:endParaRPr lang="en-US" sz="1000" dirty="0"/>
          </a:p>
        </p:txBody>
      </p:sp>
      <p:sp>
        <p:nvSpPr>
          <p:cNvPr id="4" name="Text 2"/>
          <p:cNvSpPr/>
          <p:nvPr/>
        </p:nvSpPr>
        <p:spPr>
          <a:xfrm>
            <a:off x="585216" y="658368"/>
            <a:ext cx="11027664" cy="594360"/>
          </a:xfrm>
          <a:prstGeom prst="rect">
            <a:avLst/>
          </a:prstGeom>
          <a:noFill/>
          <a:ln/>
        </p:spPr>
        <p:txBody>
          <a:bodyPr wrap="square" lIns="0" tIns="0" rIns="0" bIns="0" rtlCol="0" anchor="t"/>
          <a:lstStyle/>
          <a:p>
            <a:pPr indent="0" marL="0">
              <a:buNone/>
            </a:pPr>
            <a:r>
              <a:rPr lang="en-US" sz="2800" b="1" dirty="0">
                <a:solidFill>
                  <a:srgbClr val="233F4C"/>
                </a:solidFill>
                <a:latin typeface="Arial" pitchFamily="34" charset="0"/>
                <a:ea typeface="Arial" pitchFamily="34" charset="-122"/>
                <a:cs typeface="Arial" pitchFamily="34" charset="-120"/>
              </a:rPr>
              <a:t>Where does the first release fit?</a:t>
            </a:r>
            <a:endParaRPr lang="en-US" sz="2800" dirty="0"/>
          </a:p>
        </p:txBody>
      </p:sp>
      <p:sp>
        <p:nvSpPr>
          <p:cNvPr id="5" name="Text 3"/>
          <p:cNvSpPr/>
          <p:nvPr/>
        </p:nvSpPr>
        <p:spPr>
          <a:xfrm>
            <a:off x="594360" y="1307592"/>
            <a:ext cx="10945368" cy="530352"/>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It helps at the checking stage. Existing payroll processing and final human decisions stay in place.</a:t>
            </a:r>
            <a:endParaRPr lang="en-US" sz="1660" dirty="0"/>
          </a:p>
        </p:txBody>
      </p:sp>
      <p:sp>
        <p:nvSpPr>
          <p:cNvPr id="6" name="Shape 4"/>
          <p:cNvSpPr/>
          <p:nvPr/>
        </p:nvSpPr>
        <p:spPr>
          <a:xfrm>
            <a:off x="585216" y="6510528"/>
            <a:ext cx="11018520" cy="0"/>
          </a:xfrm>
          <a:prstGeom prst="line">
            <a:avLst/>
          </a:prstGeom>
          <a:noFill/>
          <a:ln w="10160">
            <a:solidFill>
              <a:srgbClr val="DCE6E9"/>
            </a:solidFill>
            <a:prstDash val="solid"/>
          </a:ln>
        </p:spPr>
      </p:sp>
      <p:sp>
        <p:nvSpPr>
          <p:cNvPr id="7" name="Text 5"/>
          <p:cNvSpPr/>
          <p:nvPr/>
        </p:nvSpPr>
        <p:spPr>
          <a:xfrm>
            <a:off x="594360" y="6611112"/>
            <a:ext cx="3749040" cy="164592"/>
          </a:xfrm>
          <a:prstGeom prst="rect">
            <a:avLst/>
          </a:prstGeom>
          <a:noFill/>
          <a:ln/>
        </p:spPr>
        <p:txBody>
          <a:bodyPr wrap="square" lIns="0" tIns="0" rIns="0" bIns="0" rtlCol="0" anchor="t"/>
          <a:lstStyle/>
          <a:p>
            <a:pPr indent="0" marL="0">
              <a:buNone/>
            </a:pPr>
            <a:r>
              <a:rPr lang="en-US" sz="820" dirty="0">
                <a:solidFill>
                  <a:srgbClr val="69808A"/>
                </a:solidFill>
                <a:latin typeface="Arial" pitchFamily="34" charset="0"/>
                <a:ea typeface="Arial" pitchFamily="34" charset="-122"/>
                <a:cs typeface="Arial" pitchFamily="34" charset="-120"/>
              </a:rPr>
              <a:t>Komlan Kouhiko  /  B&amp;S payroll proposal</a:t>
            </a:r>
            <a:endParaRPr lang="en-US" sz="820" dirty="0"/>
          </a:p>
        </p:txBody>
      </p:sp>
      <p:sp>
        <p:nvSpPr>
          <p:cNvPr id="8" name="Text 6"/>
          <p:cNvSpPr/>
          <p:nvPr/>
        </p:nvSpPr>
        <p:spPr>
          <a:xfrm>
            <a:off x="4023360" y="6611112"/>
            <a:ext cx="6903720" cy="164592"/>
          </a:xfrm>
          <a:prstGeom prst="rect">
            <a:avLst/>
          </a:prstGeom>
          <a:noFill/>
          <a:ln/>
        </p:spPr>
        <p:txBody>
          <a:bodyPr wrap="square" lIns="0" tIns="0" rIns="0" bIns="0" rtlCol="0" anchor="t"/>
          <a:lstStyle/>
          <a:p>
            <a:pPr algn="r" indent="0" marL="0">
              <a:buNone/>
            </a:pPr>
            <a:r>
              <a:rPr lang="en-US" sz="805" dirty="0">
                <a:solidFill>
                  <a:srgbClr val="69808A"/>
                </a:solidFill>
                <a:latin typeface="Arial" pitchFamily="34" charset="0"/>
                <a:ea typeface="Arial" pitchFamily="34" charset="-122"/>
                <a:cs typeface="Arial" pitchFamily="34" charset="-120"/>
              </a:rPr>
              <a:t>[S1] pp. 3–8, 19–26, 34–44, 51–61 • Proposed scope</a:t>
            </a:r>
            <a:endParaRPr lang="en-US" sz="805" dirty="0"/>
          </a:p>
        </p:txBody>
      </p:sp>
      <p:sp>
        <p:nvSpPr>
          <p:cNvPr id="9" name="Text 7"/>
          <p:cNvSpPr/>
          <p:nvPr/>
        </p:nvSpPr>
        <p:spPr>
          <a:xfrm>
            <a:off x="11100816" y="6592824"/>
            <a:ext cx="502920" cy="201168"/>
          </a:xfrm>
          <a:prstGeom prst="rect">
            <a:avLst/>
          </a:prstGeom>
          <a:noFill/>
          <a:ln/>
        </p:spPr>
        <p:txBody>
          <a:bodyPr wrap="square" lIns="0" tIns="0" rIns="0" bIns="0" rtlCol="0" anchor="t"/>
          <a:lstStyle/>
          <a:p>
            <a:pPr algn="r" indent="0" marL="0">
              <a:buNone/>
            </a:pPr>
            <a:r>
              <a:rPr lang="en-US" sz="920" dirty="0">
                <a:solidFill>
                  <a:srgbClr val="69808A"/>
                </a:solidFill>
                <a:latin typeface="Arial" pitchFamily="34" charset="0"/>
                <a:ea typeface="Arial" pitchFamily="34" charset="-122"/>
                <a:cs typeface="Arial" pitchFamily="34" charset="-120"/>
              </a:rPr>
              <a:t>08 / 19</a:t>
            </a:r>
            <a:endParaRPr lang="en-US" sz="920" dirty="0"/>
          </a:p>
        </p:txBody>
      </p:sp>
      <p:sp>
        <p:nvSpPr>
          <p:cNvPr id="11" name="Shape 8"/>
          <p:cNvSpPr/>
          <p:nvPr/>
        </p:nvSpPr>
        <p:spPr>
          <a:xfrm>
            <a:off x="594360" y="1993392"/>
            <a:ext cx="3511296" cy="3730752"/>
          </a:xfrm>
          <a:prstGeom prst="roundRect">
            <a:avLst>
              <a:gd name="adj" fmla="val 4167"/>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12" name="Text 9"/>
          <p:cNvSpPr/>
          <p:nvPr/>
        </p:nvSpPr>
        <p:spPr>
          <a:xfrm>
            <a:off x="795528" y="2221992"/>
            <a:ext cx="3108960" cy="384048"/>
          </a:xfrm>
          <a:prstGeom prst="rect">
            <a:avLst/>
          </a:prstGeom>
          <a:noFill/>
          <a:ln/>
        </p:spPr>
        <p:txBody>
          <a:bodyPr wrap="square" lIns="0" tIns="0" rIns="0" bIns="0" rtlCol="0" anchor="t"/>
          <a:lstStyle/>
          <a:p>
            <a:pPr indent="0" marL="0">
              <a:buNone/>
            </a:pPr>
            <a:r>
              <a:rPr lang="en-US" sz="2000" b="1" dirty="0">
                <a:solidFill>
                  <a:srgbClr val="465D68"/>
                </a:solidFill>
                <a:latin typeface="Arial" pitchFamily="34" charset="0"/>
                <a:ea typeface="Arial" pitchFamily="34" charset="-122"/>
                <a:cs typeface="Arial" pitchFamily="34" charset="-120"/>
              </a:rPr>
              <a:t>Before the checks</a:t>
            </a:r>
            <a:endParaRPr lang="en-US" sz="2000" dirty="0"/>
          </a:p>
        </p:txBody>
      </p:sp>
      <p:sp>
        <p:nvSpPr>
          <p:cNvPr id="13" name="Text 10"/>
          <p:cNvSpPr/>
          <p:nvPr/>
        </p:nvSpPr>
        <p:spPr>
          <a:xfrm>
            <a:off x="804672" y="2798064"/>
            <a:ext cx="3090672" cy="256032"/>
          </a:xfrm>
          <a:prstGeom prst="rect">
            <a:avLst/>
          </a:prstGeom>
          <a:noFill/>
          <a:ln/>
        </p:spPr>
        <p:txBody>
          <a:bodyPr wrap="square" lIns="0" tIns="0" rIns="0" bIns="0" rtlCol="0" anchor="t"/>
          <a:lstStyle/>
          <a:p>
            <a:pPr indent="0" marL="0">
              <a:buNone/>
            </a:pPr>
            <a:r>
              <a:rPr lang="en-US" sz="1600" b="1" dirty="0">
                <a:solidFill>
                  <a:srgbClr val="233F4C"/>
                </a:solidFill>
                <a:latin typeface="Arial" pitchFamily="34" charset="0"/>
                <a:ea typeface="Arial" pitchFamily="34" charset="-122"/>
                <a:cs typeface="Arial" pitchFamily="34" charset="-120"/>
              </a:rPr>
              <a:t>Collect records</a:t>
            </a:r>
            <a:endParaRPr lang="en-US" sz="1600" dirty="0"/>
          </a:p>
        </p:txBody>
      </p:sp>
      <p:sp>
        <p:nvSpPr>
          <p:cNvPr id="14" name="Text 11"/>
          <p:cNvSpPr/>
          <p:nvPr/>
        </p:nvSpPr>
        <p:spPr>
          <a:xfrm>
            <a:off x="804672" y="3090672"/>
            <a:ext cx="3063240" cy="402336"/>
          </a:xfrm>
          <a:prstGeom prst="rect">
            <a:avLst/>
          </a:prstGeom>
          <a:noFill/>
          <a:ln/>
        </p:spPr>
        <p:txBody>
          <a:bodyPr wrap="square" lIns="0" tIns="0" rIns="0" bIns="0" rtlCol="0" anchor="t"/>
          <a:lstStyle/>
          <a:p>
            <a:pPr indent="0" marL="0">
              <a:buNone/>
            </a:pPr>
            <a:r>
              <a:rPr lang="en-US" sz="1410" dirty="0">
                <a:solidFill>
                  <a:srgbClr val="465D68"/>
                </a:solidFill>
                <a:latin typeface="Arial" pitchFamily="34" charset="0"/>
                <a:ea typeface="Arial" pitchFamily="34" charset="-122"/>
                <a:cs typeface="Arial" pitchFamily="34" charset="-120"/>
              </a:rPr>
              <a:t>Assisted: files or verified reads.</a:t>
            </a:r>
            <a:endParaRPr lang="en-US" sz="1410" dirty="0"/>
          </a:p>
        </p:txBody>
      </p:sp>
      <p:sp>
        <p:nvSpPr>
          <p:cNvPr id="15" name="Text 12"/>
          <p:cNvSpPr/>
          <p:nvPr/>
        </p:nvSpPr>
        <p:spPr>
          <a:xfrm>
            <a:off x="804672" y="3520440"/>
            <a:ext cx="3090672" cy="256032"/>
          </a:xfrm>
          <a:prstGeom prst="rect">
            <a:avLst/>
          </a:prstGeom>
          <a:noFill/>
          <a:ln/>
        </p:spPr>
        <p:txBody>
          <a:bodyPr wrap="square" lIns="0" tIns="0" rIns="0" bIns="0" rtlCol="0" anchor="t"/>
          <a:lstStyle/>
          <a:p>
            <a:pPr indent="0" marL="0">
              <a:buNone/>
            </a:pPr>
            <a:r>
              <a:rPr lang="en-US" sz="1600" b="1" dirty="0">
                <a:solidFill>
                  <a:srgbClr val="233F4C"/>
                </a:solidFill>
                <a:latin typeface="Arial" pitchFamily="34" charset="0"/>
                <a:ea typeface="Arial" pitchFamily="34" charset="-122"/>
                <a:cs typeface="Arial" pitchFamily="34" charset="-120"/>
              </a:rPr>
              <a:t>Prepare Jonas inputs</a:t>
            </a:r>
            <a:endParaRPr lang="en-US" sz="1600" dirty="0"/>
          </a:p>
        </p:txBody>
      </p:sp>
      <p:sp>
        <p:nvSpPr>
          <p:cNvPr id="16" name="Text 13"/>
          <p:cNvSpPr/>
          <p:nvPr/>
        </p:nvSpPr>
        <p:spPr>
          <a:xfrm>
            <a:off x="804672" y="3813048"/>
            <a:ext cx="3063240" cy="402336"/>
          </a:xfrm>
          <a:prstGeom prst="rect">
            <a:avLst/>
          </a:prstGeom>
          <a:noFill/>
          <a:ln/>
        </p:spPr>
        <p:txBody>
          <a:bodyPr wrap="square" lIns="0" tIns="0" rIns="0" bIns="0" rtlCol="0" anchor="t"/>
          <a:lstStyle/>
          <a:p>
            <a:pPr indent="0" marL="0">
              <a:buNone/>
            </a:pPr>
            <a:r>
              <a:rPr lang="en-US" sz="1410" dirty="0">
                <a:solidFill>
                  <a:srgbClr val="465D68"/>
                </a:solidFill>
                <a:latin typeface="Arial" pitchFamily="34" charset="0"/>
                <a:ea typeface="Arial" pitchFamily="34" charset="-122"/>
                <a:cs typeface="Arial" pitchFamily="34" charset="-120"/>
              </a:rPr>
              <a:t>Keep rules, cleanup and uploads.</a:t>
            </a:r>
            <a:endParaRPr lang="en-US" sz="1410" dirty="0"/>
          </a:p>
        </p:txBody>
      </p:sp>
      <p:sp>
        <p:nvSpPr>
          <p:cNvPr id="17" name="Text 14"/>
          <p:cNvSpPr/>
          <p:nvPr/>
        </p:nvSpPr>
        <p:spPr>
          <a:xfrm>
            <a:off x="804672" y="4242816"/>
            <a:ext cx="3090672" cy="256032"/>
          </a:xfrm>
          <a:prstGeom prst="rect">
            <a:avLst/>
          </a:prstGeom>
          <a:noFill/>
          <a:ln/>
        </p:spPr>
        <p:txBody>
          <a:bodyPr wrap="square" lIns="0" tIns="0" rIns="0" bIns="0" rtlCol="0" anchor="t"/>
          <a:lstStyle/>
          <a:p>
            <a:pPr indent="0" marL="0">
              <a:buNone/>
            </a:pPr>
            <a:r>
              <a:rPr lang="en-US" sz="1600" b="1" dirty="0">
                <a:solidFill>
                  <a:srgbClr val="233F4C"/>
                </a:solidFill>
                <a:latin typeface="Arial" pitchFamily="34" charset="0"/>
                <a:ea typeface="Arial" pitchFamily="34" charset="-122"/>
                <a:cs typeface="Arial" pitchFamily="34" charset="-120"/>
              </a:rPr>
              <a:t>Run Jonas reports</a:t>
            </a:r>
            <a:endParaRPr lang="en-US" sz="1600" dirty="0"/>
          </a:p>
        </p:txBody>
      </p:sp>
      <p:sp>
        <p:nvSpPr>
          <p:cNvPr id="18" name="Text 15"/>
          <p:cNvSpPr/>
          <p:nvPr/>
        </p:nvSpPr>
        <p:spPr>
          <a:xfrm>
            <a:off x="804672" y="4535424"/>
            <a:ext cx="3063240" cy="402336"/>
          </a:xfrm>
          <a:prstGeom prst="rect">
            <a:avLst/>
          </a:prstGeom>
          <a:noFill/>
          <a:ln/>
        </p:spPr>
        <p:txBody>
          <a:bodyPr wrap="square" lIns="0" tIns="0" rIns="0" bIns="0" rtlCol="0" anchor="t"/>
          <a:lstStyle/>
          <a:p>
            <a:pPr indent="0" marL="0">
              <a:buNone/>
            </a:pPr>
            <a:r>
              <a:rPr lang="en-US" sz="1410" dirty="0">
                <a:solidFill>
                  <a:srgbClr val="465D68"/>
                </a:solidFill>
                <a:latin typeface="Arial" pitchFamily="34" charset="0"/>
                <a:ea typeface="Arial" pitchFamily="34" charset="-122"/>
                <a:cs typeface="Arial" pitchFamily="34" charset="-120"/>
              </a:rPr>
              <a:t>Keep Jonas calculations and reports.</a:t>
            </a:r>
            <a:endParaRPr lang="en-US" sz="1410" dirty="0"/>
          </a:p>
        </p:txBody>
      </p:sp>
      <p:sp>
        <p:nvSpPr>
          <p:cNvPr id="19" name="Text 16"/>
          <p:cNvSpPr/>
          <p:nvPr/>
        </p:nvSpPr>
        <p:spPr>
          <a:xfrm>
            <a:off x="804672" y="4965192"/>
            <a:ext cx="3090672" cy="256032"/>
          </a:xfrm>
          <a:prstGeom prst="rect">
            <a:avLst/>
          </a:prstGeom>
          <a:noFill/>
          <a:ln/>
        </p:spPr>
        <p:txBody>
          <a:bodyPr wrap="square" lIns="0" tIns="0" rIns="0" bIns="0" rtlCol="0" anchor="t"/>
          <a:lstStyle/>
          <a:p>
            <a:pPr indent="0" marL="0">
              <a:buNone/>
            </a:pPr>
            <a:r>
              <a:rPr lang="en-US" sz="1600" b="1" dirty="0">
                <a:solidFill>
                  <a:srgbClr val="233F4C"/>
                </a:solidFill>
                <a:latin typeface="Arial" pitchFamily="34" charset="0"/>
                <a:ea typeface="Arial" pitchFamily="34" charset="-122"/>
                <a:cs typeface="Arial" pitchFamily="34" charset="-120"/>
              </a:rPr>
              <a:t>Load Paylocity</a:t>
            </a:r>
            <a:endParaRPr lang="en-US" sz="1600" dirty="0"/>
          </a:p>
        </p:txBody>
      </p:sp>
      <p:sp>
        <p:nvSpPr>
          <p:cNvPr id="20" name="Text 17"/>
          <p:cNvSpPr/>
          <p:nvPr/>
        </p:nvSpPr>
        <p:spPr>
          <a:xfrm>
            <a:off x="804672" y="5257800"/>
            <a:ext cx="3063240" cy="402336"/>
          </a:xfrm>
          <a:prstGeom prst="rect">
            <a:avLst/>
          </a:prstGeom>
          <a:noFill/>
          <a:ln/>
        </p:spPr>
        <p:txBody>
          <a:bodyPr wrap="square" lIns="0" tIns="0" rIns="0" bIns="0" rtlCol="0" anchor="t"/>
          <a:lstStyle/>
          <a:p>
            <a:pPr indent="0" marL="0">
              <a:buNone/>
            </a:pPr>
            <a:r>
              <a:rPr lang="en-US" sz="1410" dirty="0">
                <a:solidFill>
                  <a:srgbClr val="465D68"/>
                </a:solidFill>
                <a:latin typeface="Arial" pitchFamily="34" charset="0"/>
                <a:ea typeface="Arial" pitchFamily="34" charset="-122"/>
                <a:cs typeface="Arial" pitchFamily="34" charset="-120"/>
              </a:rPr>
              <a:t>Keep the converter and import.</a:t>
            </a:r>
            <a:endParaRPr lang="en-US" sz="1410" dirty="0"/>
          </a:p>
        </p:txBody>
      </p:sp>
      <p:sp>
        <p:nvSpPr>
          <p:cNvPr id="21" name="Shape 18"/>
          <p:cNvSpPr/>
          <p:nvPr/>
        </p:nvSpPr>
        <p:spPr>
          <a:xfrm>
            <a:off x="4343400" y="1993392"/>
            <a:ext cx="3511296" cy="3730752"/>
          </a:xfrm>
          <a:prstGeom prst="roundRect">
            <a:avLst>
              <a:gd name="adj" fmla="val 4167"/>
            </a:avLst>
          </a:prstGeom>
          <a:solidFill>
            <a:srgbClr val="EAF5F4"/>
          </a:solidFill>
          <a:ln w="9525">
            <a:solidFill>
              <a:srgbClr val="87B7B2"/>
            </a:solidFill>
            <a:prstDash val="solid"/>
          </a:ln>
          <a:effectLst>
            <a:outerShdw sx="100000" sy="100000" kx="0" ky="0" algn="bl" rotWithShape="0" blurRad="27940" dist="13970" dir="5400000">
              <a:srgbClr val="90A3AB">
                <a:alpha val="10000"/>
              </a:srgbClr>
            </a:outerShdw>
          </a:effectLst>
        </p:spPr>
      </p:sp>
      <p:sp>
        <p:nvSpPr>
          <p:cNvPr id="22" name="Text 19"/>
          <p:cNvSpPr/>
          <p:nvPr/>
        </p:nvSpPr>
        <p:spPr>
          <a:xfrm>
            <a:off x="4544568" y="2221992"/>
            <a:ext cx="3108960" cy="384048"/>
          </a:xfrm>
          <a:prstGeom prst="rect">
            <a:avLst/>
          </a:prstGeom>
          <a:noFill/>
          <a:ln/>
        </p:spPr>
        <p:txBody>
          <a:bodyPr wrap="square" lIns="0" tIns="0" rIns="0" bIns="0" rtlCol="0" anchor="t"/>
          <a:lstStyle/>
          <a:p>
            <a:pPr indent="0" marL="0">
              <a:buNone/>
            </a:pPr>
            <a:r>
              <a:rPr lang="en-US" sz="2000" b="1" dirty="0">
                <a:solidFill>
                  <a:srgbClr val="317F7B"/>
                </a:solidFill>
                <a:latin typeface="Arial" pitchFamily="34" charset="0"/>
                <a:ea typeface="Arial" pitchFamily="34" charset="-122"/>
                <a:cs typeface="Arial" pitchFamily="34" charset="-120"/>
              </a:rPr>
              <a:t>Checking and correction</a:t>
            </a:r>
            <a:endParaRPr lang="en-US" sz="2000" dirty="0"/>
          </a:p>
        </p:txBody>
      </p:sp>
      <p:sp>
        <p:nvSpPr>
          <p:cNvPr id="23" name="Text 20"/>
          <p:cNvSpPr/>
          <p:nvPr/>
        </p:nvSpPr>
        <p:spPr>
          <a:xfrm>
            <a:off x="4553712" y="2798064"/>
            <a:ext cx="3090672" cy="256032"/>
          </a:xfrm>
          <a:prstGeom prst="rect">
            <a:avLst/>
          </a:prstGeom>
          <a:noFill/>
          <a:ln/>
        </p:spPr>
        <p:txBody>
          <a:bodyPr wrap="square" lIns="0" tIns="0" rIns="0" bIns="0" rtlCol="0" anchor="t"/>
          <a:lstStyle/>
          <a:p>
            <a:pPr indent="0" marL="0">
              <a:buNone/>
            </a:pPr>
            <a:r>
              <a:rPr lang="en-US" sz="1660" b="1" dirty="0">
                <a:solidFill>
                  <a:srgbClr val="233F4C"/>
                </a:solidFill>
                <a:latin typeface="Arial" pitchFamily="34" charset="0"/>
                <a:ea typeface="Arial" pitchFamily="34" charset="-122"/>
                <a:cs typeface="Arial" pitchFamily="34" charset="-120"/>
              </a:rPr>
              <a:t>Compare and recheck</a:t>
            </a:r>
            <a:endParaRPr lang="en-US" sz="1660" dirty="0"/>
          </a:p>
        </p:txBody>
      </p:sp>
      <p:sp>
        <p:nvSpPr>
          <p:cNvPr id="24" name="Text 21"/>
          <p:cNvSpPr/>
          <p:nvPr/>
        </p:nvSpPr>
        <p:spPr>
          <a:xfrm>
            <a:off x="4553712" y="3090672"/>
            <a:ext cx="3063240" cy="868680"/>
          </a:xfrm>
          <a:prstGeom prst="rect">
            <a:avLst/>
          </a:prstGeom>
          <a:noFill/>
          <a:ln/>
        </p:spPr>
        <p:txBody>
          <a:bodyPr wrap="square" lIns="0" tIns="0" rIns="0" bIns="0" rtlCol="0" anchor="t"/>
          <a:lstStyle/>
          <a:p>
            <a:pPr indent="0" marL="0">
              <a:buNone/>
            </a:pPr>
            <a:r>
              <a:rPr lang="en-US" sz="1460" dirty="0">
                <a:solidFill>
                  <a:srgbClr val="465D68"/>
                </a:solidFill>
                <a:latin typeface="Arial" pitchFamily="34" charset="0"/>
                <a:ea typeface="Arial" pitchFamily="34" charset="-122"/>
                <a:cs typeface="Arial" pitchFamily="34" charset="-120"/>
              </a:rPr>
              <a:t>Automatic: check employees and pay components.</a:t>
            </a:r>
            <a:endParaRPr lang="en-US" sz="1460" dirty="0"/>
          </a:p>
        </p:txBody>
      </p:sp>
      <p:sp>
        <p:nvSpPr>
          <p:cNvPr id="25" name="Text 22"/>
          <p:cNvSpPr/>
          <p:nvPr/>
        </p:nvSpPr>
        <p:spPr>
          <a:xfrm>
            <a:off x="4553712" y="3986784"/>
            <a:ext cx="3090672" cy="256032"/>
          </a:xfrm>
          <a:prstGeom prst="rect">
            <a:avLst/>
          </a:prstGeom>
          <a:noFill/>
          <a:ln/>
        </p:spPr>
        <p:txBody>
          <a:bodyPr wrap="square" lIns="0" tIns="0" rIns="0" bIns="0" rtlCol="0" anchor="t"/>
          <a:lstStyle/>
          <a:p>
            <a:pPr indent="0" marL="0">
              <a:buNone/>
            </a:pPr>
            <a:r>
              <a:rPr lang="en-US" sz="1660" b="1" dirty="0">
                <a:solidFill>
                  <a:srgbClr val="233F4C"/>
                </a:solidFill>
                <a:latin typeface="Arial" pitchFamily="34" charset="0"/>
                <a:ea typeface="Arial" pitchFamily="34" charset="-122"/>
                <a:cs typeface="Arial" pitchFamily="34" charset="-120"/>
              </a:rPr>
              <a:t>Investigate and correct</a:t>
            </a:r>
            <a:endParaRPr lang="en-US" sz="1660" dirty="0"/>
          </a:p>
        </p:txBody>
      </p:sp>
      <p:sp>
        <p:nvSpPr>
          <p:cNvPr id="26" name="Text 23"/>
          <p:cNvSpPr/>
          <p:nvPr/>
        </p:nvSpPr>
        <p:spPr>
          <a:xfrm>
            <a:off x="4553712" y="4279392"/>
            <a:ext cx="3063240" cy="868680"/>
          </a:xfrm>
          <a:prstGeom prst="rect">
            <a:avLst/>
          </a:prstGeom>
          <a:noFill/>
          <a:ln/>
        </p:spPr>
        <p:txBody>
          <a:bodyPr wrap="square" lIns="0" tIns="0" rIns="0" bIns="0" rtlCol="0" anchor="t"/>
          <a:lstStyle/>
          <a:p>
            <a:pPr indent="0" marL="0">
              <a:buNone/>
            </a:pPr>
            <a:r>
              <a:rPr lang="en-US" sz="1460" dirty="0">
                <a:solidFill>
                  <a:srgbClr val="465D68"/>
                </a:solidFill>
                <a:latin typeface="Arial" pitchFamily="34" charset="0"/>
                <a:ea typeface="Arial" pitchFamily="34" charset="-122"/>
                <a:cs typeface="Arial" pitchFamily="34" charset="-120"/>
              </a:rPr>
              <a:t>Assisted: the tool shows evidence; Payroll makes the correction.</a:t>
            </a:r>
            <a:endParaRPr lang="en-US" sz="1460" dirty="0"/>
          </a:p>
        </p:txBody>
      </p:sp>
      <p:sp>
        <p:nvSpPr>
          <p:cNvPr id="27" name="Shape 24"/>
          <p:cNvSpPr/>
          <p:nvPr/>
        </p:nvSpPr>
        <p:spPr>
          <a:xfrm>
            <a:off x="8092440" y="1993392"/>
            <a:ext cx="3511296" cy="3730752"/>
          </a:xfrm>
          <a:prstGeom prst="roundRect">
            <a:avLst>
              <a:gd name="adj" fmla="val 4167"/>
            </a:avLst>
          </a:prstGeom>
          <a:solidFill>
            <a:srgbClr val="EDF8F1"/>
          </a:solidFill>
          <a:ln w="9525">
            <a:solidFill>
              <a:srgbClr val="A4CCB9"/>
            </a:solidFill>
            <a:prstDash val="solid"/>
          </a:ln>
          <a:effectLst>
            <a:outerShdw sx="100000" sy="100000" kx="0" ky="0" algn="bl" rotWithShape="0" blurRad="27940" dist="13970" dir="5400000">
              <a:srgbClr val="90A3AB">
                <a:alpha val="10000"/>
              </a:srgbClr>
            </a:outerShdw>
          </a:effectLst>
        </p:spPr>
      </p:sp>
      <p:sp>
        <p:nvSpPr>
          <p:cNvPr id="28" name="Text 25"/>
          <p:cNvSpPr/>
          <p:nvPr/>
        </p:nvSpPr>
        <p:spPr>
          <a:xfrm>
            <a:off x="8293608" y="2221992"/>
            <a:ext cx="3108960" cy="384048"/>
          </a:xfrm>
          <a:prstGeom prst="rect">
            <a:avLst/>
          </a:prstGeom>
          <a:noFill/>
          <a:ln/>
        </p:spPr>
        <p:txBody>
          <a:bodyPr wrap="square" lIns="0" tIns="0" rIns="0" bIns="0" rtlCol="0" anchor="t"/>
          <a:lstStyle/>
          <a:p>
            <a:pPr indent="0" marL="0">
              <a:buNone/>
            </a:pPr>
            <a:r>
              <a:rPr lang="en-US" sz="2000" b="1" dirty="0">
                <a:solidFill>
                  <a:srgbClr val="287B5B"/>
                </a:solidFill>
                <a:latin typeface="Arial" pitchFamily="34" charset="0"/>
                <a:ea typeface="Arial" pitchFamily="34" charset="-122"/>
                <a:cs typeface="Arial" pitchFamily="34" charset="-120"/>
              </a:rPr>
              <a:t>Final human decisions</a:t>
            </a:r>
            <a:endParaRPr lang="en-US" sz="2000" dirty="0"/>
          </a:p>
        </p:txBody>
      </p:sp>
      <p:sp>
        <p:nvSpPr>
          <p:cNvPr id="29" name="Text 26"/>
          <p:cNvSpPr/>
          <p:nvPr/>
        </p:nvSpPr>
        <p:spPr>
          <a:xfrm>
            <a:off x="8302752" y="2798064"/>
            <a:ext cx="3090672" cy="256032"/>
          </a:xfrm>
          <a:prstGeom prst="rect">
            <a:avLst/>
          </a:prstGeom>
          <a:noFill/>
          <a:ln/>
        </p:spPr>
        <p:txBody>
          <a:bodyPr wrap="square" lIns="0" tIns="0" rIns="0" bIns="0" rtlCol="0" anchor="t"/>
          <a:lstStyle/>
          <a:p>
            <a:pPr indent="0" marL="0">
              <a:buNone/>
            </a:pPr>
            <a:r>
              <a:rPr lang="en-US" sz="1660" b="1" dirty="0">
                <a:solidFill>
                  <a:srgbClr val="233F4C"/>
                </a:solidFill>
                <a:latin typeface="Arial" pitchFamily="34" charset="0"/>
                <a:ea typeface="Arial" pitchFamily="34" charset="-122"/>
                <a:cs typeface="Arial" pitchFamily="34" charset="-120"/>
              </a:rPr>
              <a:t>Approve payroll</a:t>
            </a:r>
            <a:endParaRPr lang="en-US" sz="1660" dirty="0"/>
          </a:p>
        </p:txBody>
      </p:sp>
      <p:sp>
        <p:nvSpPr>
          <p:cNvPr id="30" name="Text 27"/>
          <p:cNvSpPr/>
          <p:nvPr/>
        </p:nvSpPr>
        <p:spPr>
          <a:xfrm>
            <a:off x="8302752" y="3090672"/>
            <a:ext cx="3063240" cy="548640"/>
          </a:xfrm>
          <a:prstGeom prst="rect">
            <a:avLst/>
          </a:prstGeom>
          <a:noFill/>
          <a:ln/>
        </p:spPr>
        <p:txBody>
          <a:bodyPr wrap="square" lIns="0" tIns="0" rIns="0" bIns="0" rtlCol="0" anchor="t"/>
          <a:lstStyle/>
          <a:p>
            <a:pPr indent="0" marL="0">
              <a:buNone/>
            </a:pPr>
            <a:r>
              <a:rPr lang="en-US" sz="1460" dirty="0">
                <a:solidFill>
                  <a:srgbClr val="465D68"/>
                </a:solidFill>
                <a:latin typeface="Arial" pitchFamily="34" charset="0"/>
                <a:ea typeface="Arial" pitchFamily="34" charset="-122"/>
                <a:cs typeface="Arial" pitchFamily="34" charset="-120"/>
              </a:rPr>
              <a:t>A person approves in Paylocity.</a:t>
            </a:r>
            <a:endParaRPr lang="en-US" sz="1460" dirty="0"/>
          </a:p>
        </p:txBody>
      </p:sp>
      <p:sp>
        <p:nvSpPr>
          <p:cNvPr id="31" name="Text 28"/>
          <p:cNvSpPr/>
          <p:nvPr/>
        </p:nvSpPr>
        <p:spPr>
          <a:xfrm>
            <a:off x="8302752" y="3666744"/>
            <a:ext cx="3090672" cy="256032"/>
          </a:xfrm>
          <a:prstGeom prst="rect">
            <a:avLst/>
          </a:prstGeom>
          <a:noFill/>
          <a:ln/>
        </p:spPr>
        <p:txBody>
          <a:bodyPr wrap="square" lIns="0" tIns="0" rIns="0" bIns="0" rtlCol="0" anchor="t"/>
          <a:lstStyle/>
          <a:p>
            <a:pPr indent="0" marL="0">
              <a:buNone/>
            </a:pPr>
            <a:r>
              <a:rPr lang="en-US" sz="1660" b="1" dirty="0">
                <a:solidFill>
                  <a:srgbClr val="233F4C"/>
                </a:solidFill>
                <a:latin typeface="Arial" pitchFamily="34" charset="0"/>
                <a:ea typeface="Arial" pitchFamily="34" charset="-122"/>
                <a:cs typeface="Arial" pitchFamily="34" charset="-120"/>
              </a:rPr>
              <a:t>Submit payroll</a:t>
            </a:r>
            <a:endParaRPr lang="en-US" sz="1660" dirty="0"/>
          </a:p>
        </p:txBody>
      </p:sp>
      <p:sp>
        <p:nvSpPr>
          <p:cNvPr id="32" name="Text 29"/>
          <p:cNvSpPr/>
          <p:nvPr/>
        </p:nvSpPr>
        <p:spPr>
          <a:xfrm>
            <a:off x="8302752" y="3959352"/>
            <a:ext cx="3063240" cy="548640"/>
          </a:xfrm>
          <a:prstGeom prst="rect">
            <a:avLst/>
          </a:prstGeom>
          <a:noFill/>
          <a:ln/>
        </p:spPr>
        <p:txBody>
          <a:bodyPr wrap="square" lIns="0" tIns="0" rIns="0" bIns="0" rtlCol="0" anchor="t"/>
          <a:lstStyle/>
          <a:p>
            <a:pPr indent="0" marL="0">
              <a:buNone/>
            </a:pPr>
            <a:r>
              <a:rPr lang="en-US" sz="1460" dirty="0">
                <a:solidFill>
                  <a:srgbClr val="465D68"/>
                </a:solidFill>
                <a:latin typeface="Arial" pitchFamily="34" charset="0"/>
                <a:ea typeface="Arial" pitchFamily="34" charset="-122"/>
                <a:cs typeface="Arial" pitchFamily="34" charset="-120"/>
              </a:rPr>
              <a:t>A separate human decision after approval.</a:t>
            </a:r>
            <a:endParaRPr lang="en-US" sz="1460" dirty="0"/>
          </a:p>
        </p:txBody>
      </p:sp>
      <p:sp>
        <p:nvSpPr>
          <p:cNvPr id="33" name="Text 30"/>
          <p:cNvSpPr/>
          <p:nvPr/>
        </p:nvSpPr>
        <p:spPr>
          <a:xfrm>
            <a:off x="8302752" y="4535424"/>
            <a:ext cx="3090672" cy="256032"/>
          </a:xfrm>
          <a:prstGeom prst="rect">
            <a:avLst/>
          </a:prstGeom>
          <a:noFill/>
          <a:ln/>
        </p:spPr>
        <p:txBody>
          <a:bodyPr wrap="square" lIns="0" tIns="0" rIns="0" bIns="0" rtlCol="0" anchor="t"/>
          <a:lstStyle/>
          <a:p>
            <a:pPr indent="0" marL="0">
              <a:buNone/>
            </a:pPr>
            <a:r>
              <a:rPr lang="en-US" sz="1660" b="1" dirty="0">
                <a:solidFill>
                  <a:srgbClr val="233F4C"/>
                </a:solidFill>
                <a:latin typeface="Arial" pitchFamily="34" charset="0"/>
                <a:ea typeface="Arial" pitchFamily="34" charset="-122"/>
                <a:cs typeface="Arial" pitchFamily="34" charset="-120"/>
              </a:rPr>
              <a:t>Close in Jonas</a:t>
            </a:r>
            <a:endParaRPr lang="en-US" sz="1660" dirty="0"/>
          </a:p>
        </p:txBody>
      </p:sp>
      <p:sp>
        <p:nvSpPr>
          <p:cNvPr id="34" name="Text 31"/>
          <p:cNvSpPr/>
          <p:nvPr/>
        </p:nvSpPr>
        <p:spPr>
          <a:xfrm>
            <a:off x="8302752" y="4828032"/>
            <a:ext cx="3063240" cy="548640"/>
          </a:xfrm>
          <a:prstGeom prst="rect">
            <a:avLst/>
          </a:prstGeom>
          <a:noFill/>
          <a:ln/>
        </p:spPr>
        <p:txBody>
          <a:bodyPr wrap="square" lIns="0" tIns="0" rIns="0" bIns="0" rtlCol="0" anchor="t"/>
          <a:lstStyle/>
          <a:p>
            <a:pPr indent="0" marL="0">
              <a:buNone/>
            </a:pPr>
            <a:r>
              <a:rPr lang="en-US" sz="1460" dirty="0">
                <a:solidFill>
                  <a:srgbClr val="465D68"/>
                </a:solidFill>
                <a:latin typeface="Arial" pitchFamily="34" charset="0"/>
                <a:ea typeface="Arial" pitchFamily="34" charset="-122"/>
                <a:cs typeface="Arial" pitchFamily="34" charset="-120"/>
              </a:rPr>
              <a:t>Keep the current closeout and notification.</a:t>
            </a:r>
            <a:endParaRPr lang="en-US" sz="1460" dirty="0"/>
          </a:p>
        </p:txBody>
      </p:sp>
      <p:sp>
        <p:nvSpPr>
          <p:cNvPr id="35" name="Shape 32"/>
          <p:cNvSpPr/>
          <p:nvPr/>
        </p:nvSpPr>
        <p:spPr>
          <a:xfrm>
            <a:off x="585216" y="5961888"/>
            <a:ext cx="11018520" cy="448056"/>
          </a:xfrm>
          <a:prstGeom prst="roundRect">
            <a:avLst>
              <a:gd name="adj" fmla="val 22449"/>
            </a:avLst>
          </a:prstGeom>
          <a:solidFill>
            <a:srgbClr val="EAF5F4"/>
          </a:solidFill>
          <a:ln w="9525">
            <a:solidFill>
              <a:srgbClr val="87B7B2"/>
            </a:solidFill>
            <a:prstDash val="solid"/>
          </a:ln>
        </p:spPr>
      </p:sp>
      <p:sp>
        <p:nvSpPr>
          <p:cNvPr id="36" name="Text 33"/>
          <p:cNvSpPr/>
          <p:nvPr/>
        </p:nvSpPr>
        <p:spPr>
          <a:xfrm>
            <a:off x="786384" y="6099048"/>
            <a:ext cx="1508760" cy="283464"/>
          </a:xfrm>
          <a:prstGeom prst="rect">
            <a:avLst/>
          </a:prstGeom>
          <a:noFill/>
          <a:ln/>
        </p:spPr>
        <p:txBody>
          <a:bodyPr wrap="square" lIns="0" tIns="0" rIns="0" bIns="0" rtlCol="0" anchor="t"/>
          <a:lstStyle/>
          <a:p>
            <a:pPr indent="0" marL="0">
              <a:buNone/>
            </a:pPr>
            <a:r>
              <a:rPr lang="en-US" sz="1420" b="1" dirty="0">
                <a:solidFill>
                  <a:srgbClr val="317F7B"/>
                </a:solidFill>
                <a:latin typeface="Arial" pitchFamily="34" charset="0"/>
                <a:ea typeface="Arial" pitchFamily="34" charset="-122"/>
                <a:cs typeface="Arial" pitchFamily="34" charset="-120"/>
              </a:rPr>
              <a:t>Room to grow</a:t>
            </a:r>
            <a:endParaRPr lang="en-US" sz="1420" dirty="0"/>
          </a:p>
        </p:txBody>
      </p:sp>
      <p:sp>
        <p:nvSpPr>
          <p:cNvPr id="37" name="Text 34"/>
          <p:cNvSpPr/>
          <p:nvPr/>
        </p:nvSpPr>
        <p:spPr>
          <a:xfrm>
            <a:off x="2386584" y="6099048"/>
            <a:ext cx="8997696" cy="283464"/>
          </a:xfrm>
          <a:prstGeom prst="rect">
            <a:avLst/>
          </a:prstGeom>
          <a:noFill/>
          <a:ln/>
        </p:spPr>
        <p:txBody>
          <a:bodyPr wrap="square" lIns="0" tIns="0" rIns="0" bIns="0" rtlCol="0" anchor="t"/>
          <a:lstStyle/>
          <a:p>
            <a:pPr indent="0" marL="0">
              <a:buNone/>
            </a:pPr>
            <a:r>
              <a:rPr lang="en-US" sz="1420" dirty="0">
                <a:solidFill>
                  <a:srgbClr val="465D68"/>
                </a:solidFill>
                <a:latin typeface="Arial" pitchFamily="34" charset="0"/>
                <a:ea typeface="Arial" pitchFamily="34" charset="-122"/>
                <a:cs typeface="Arial" pitchFamily="34" charset="-120"/>
              </a:rPr>
              <a:t>Later phases can also reduce preparation, transfer and follow-up work—with separate B&amp;S approval.</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AFC"/>
        </a:solidFill>
      </p:bgPr>
    </p:bg>
    <p:spTree>
      <p:nvGrpSpPr>
        <p:cNvPr id="1" name=""/>
        <p:cNvGrpSpPr/>
        <p:nvPr/>
      </p:nvGrpSpPr>
      <p:grpSpPr>
        <a:xfrm>
          <a:off x="0" y="0"/>
          <a:ext cx="0" cy="0"/>
          <a:chOff x="0" y="0"/>
          <a:chExt cx="0" cy="0"/>
        </a:xfrm>
      </p:grpSpPr>
      <p:sp>
        <p:nvSpPr>
          <p:cNvPr id="2" name="Shape 0"/>
          <p:cNvSpPr/>
          <p:nvPr/>
        </p:nvSpPr>
        <p:spPr>
          <a:xfrm>
            <a:off x="0" y="0"/>
            <a:ext cx="12192000" cy="41148"/>
          </a:xfrm>
          <a:prstGeom prst="rect">
            <a:avLst/>
          </a:prstGeom>
          <a:solidFill>
            <a:srgbClr val="87B7B2"/>
          </a:solidFill>
          <a:ln w="12700">
            <a:solidFill>
              <a:srgbClr val="87B7B2">
                <a:alpha val="0"/>
              </a:srgbClr>
            </a:solidFill>
            <a:prstDash val="solid"/>
          </a:ln>
        </p:spPr>
      </p:sp>
      <p:sp>
        <p:nvSpPr>
          <p:cNvPr id="3" name="Text 1"/>
          <p:cNvSpPr/>
          <p:nvPr/>
        </p:nvSpPr>
        <p:spPr>
          <a:xfrm>
            <a:off x="585216" y="246888"/>
            <a:ext cx="10972800" cy="201168"/>
          </a:xfrm>
          <a:prstGeom prst="rect">
            <a:avLst/>
          </a:prstGeom>
          <a:noFill/>
          <a:ln/>
        </p:spPr>
        <p:txBody>
          <a:bodyPr wrap="square" lIns="0" tIns="0" rIns="0" bIns="0" rtlCol="0" anchor="t"/>
          <a:lstStyle/>
          <a:p>
            <a:pPr indent="0" marL="0">
              <a:buNone/>
            </a:pPr>
            <a:r>
              <a:rPr lang="en-US" sz="1000" b="1" dirty="0">
                <a:solidFill>
                  <a:srgbClr val="317F7B"/>
                </a:solidFill>
                <a:latin typeface="Arial" pitchFamily="34" charset="0"/>
                <a:ea typeface="Arial" pitchFamily="34" charset="-122"/>
                <a:cs typeface="Arial" pitchFamily="34" charset="-120"/>
              </a:rPr>
              <a:t>Actual demonstration · find the issue</a:t>
            </a:r>
            <a:endParaRPr lang="en-US" sz="1000" dirty="0"/>
          </a:p>
        </p:txBody>
      </p:sp>
      <p:sp>
        <p:nvSpPr>
          <p:cNvPr id="4" name="Text 2"/>
          <p:cNvSpPr/>
          <p:nvPr/>
        </p:nvSpPr>
        <p:spPr>
          <a:xfrm>
            <a:off x="585216" y="658368"/>
            <a:ext cx="11027664" cy="594360"/>
          </a:xfrm>
          <a:prstGeom prst="rect">
            <a:avLst/>
          </a:prstGeom>
          <a:noFill/>
          <a:ln/>
        </p:spPr>
        <p:txBody>
          <a:bodyPr wrap="square" lIns="0" tIns="0" rIns="0" bIns="0" rtlCol="0" anchor="t"/>
          <a:lstStyle/>
          <a:p>
            <a:pPr indent="0" marL="0">
              <a:buNone/>
            </a:pPr>
            <a:r>
              <a:rPr lang="en-US" sz="2800" b="1" dirty="0">
                <a:solidFill>
                  <a:srgbClr val="233F4C"/>
                </a:solidFill>
                <a:latin typeface="Arial" pitchFamily="34" charset="0"/>
                <a:ea typeface="Arial" pitchFamily="34" charset="-122"/>
                <a:cs typeface="Arial" pitchFamily="34" charset="-120"/>
              </a:rPr>
              <a:t>Start with the person who needs attention</a:t>
            </a:r>
            <a:endParaRPr lang="en-US" sz="2800" dirty="0"/>
          </a:p>
        </p:txBody>
      </p:sp>
      <p:sp>
        <p:nvSpPr>
          <p:cNvPr id="5" name="Text 3"/>
          <p:cNvSpPr/>
          <p:nvPr/>
        </p:nvSpPr>
        <p:spPr>
          <a:xfrm>
            <a:off x="594360" y="1307592"/>
            <a:ext cx="10945368" cy="530352"/>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This is fictional employee Kiara Bailey in the existing demo—not a real B&amp;S payroll record.</a:t>
            </a:r>
            <a:endParaRPr lang="en-US" sz="1660" dirty="0"/>
          </a:p>
        </p:txBody>
      </p:sp>
      <p:sp>
        <p:nvSpPr>
          <p:cNvPr id="6" name="Shape 4"/>
          <p:cNvSpPr/>
          <p:nvPr/>
        </p:nvSpPr>
        <p:spPr>
          <a:xfrm>
            <a:off x="585216" y="6510528"/>
            <a:ext cx="11018520" cy="0"/>
          </a:xfrm>
          <a:prstGeom prst="line">
            <a:avLst/>
          </a:prstGeom>
          <a:noFill/>
          <a:ln w="10160">
            <a:solidFill>
              <a:srgbClr val="DCE6E9"/>
            </a:solidFill>
            <a:prstDash val="solid"/>
          </a:ln>
        </p:spPr>
      </p:sp>
      <p:sp>
        <p:nvSpPr>
          <p:cNvPr id="7" name="Text 5"/>
          <p:cNvSpPr/>
          <p:nvPr/>
        </p:nvSpPr>
        <p:spPr>
          <a:xfrm>
            <a:off x="594360" y="6611112"/>
            <a:ext cx="3749040" cy="164592"/>
          </a:xfrm>
          <a:prstGeom prst="rect">
            <a:avLst/>
          </a:prstGeom>
          <a:noFill/>
          <a:ln/>
        </p:spPr>
        <p:txBody>
          <a:bodyPr wrap="square" lIns="0" tIns="0" rIns="0" bIns="0" rtlCol="0" anchor="t"/>
          <a:lstStyle/>
          <a:p>
            <a:pPr indent="0" marL="0">
              <a:buNone/>
            </a:pPr>
            <a:r>
              <a:rPr lang="en-US" sz="820" dirty="0">
                <a:solidFill>
                  <a:srgbClr val="69808A"/>
                </a:solidFill>
                <a:latin typeface="Arial" pitchFamily="34" charset="0"/>
                <a:ea typeface="Arial" pitchFamily="34" charset="-122"/>
                <a:cs typeface="Arial" pitchFamily="34" charset="-120"/>
              </a:rPr>
              <a:t>Komlan Kouhiko  /  B&amp;S payroll proposal</a:t>
            </a:r>
            <a:endParaRPr lang="en-US" sz="820" dirty="0"/>
          </a:p>
        </p:txBody>
      </p:sp>
      <p:sp>
        <p:nvSpPr>
          <p:cNvPr id="8" name="Text 6"/>
          <p:cNvSpPr/>
          <p:nvPr/>
        </p:nvSpPr>
        <p:spPr>
          <a:xfrm>
            <a:off x="4023360" y="6611112"/>
            <a:ext cx="6903720" cy="164592"/>
          </a:xfrm>
          <a:prstGeom prst="rect">
            <a:avLst/>
          </a:prstGeom>
          <a:noFill/>
          <a:ln/>
        </p:spPr>
        <p:txBody>
          <a:bodyPr wrap="square" lIns="0" tIns="0" rIns="0" bIns="0" rtlCol="0" anchor="t"/>
          <a:lstStyle/>
          <a:p>
            <a:pPr algn="r" indent="0" marL="0">
              <a:buNone/>
            </a:pPr>
            <a:r>
              <a:rPr lang="en-US" sz="805" dirty="0">
                <a:solidFill>
                  <a:srgbClr val="69808A"/>
                </a:solidFill>
                <a:latin typeface="Arial" pitchFamily="34" charset="0"/>
                <a:ea typeface="Arial" pitchFamily="34" charset="-122"/>
                <a:cs typeface="Arial" pitchFamily="34" charset="-120"/>
              </a:rPr>
              <a:t>[S1] p. 53 • [D1] Existing synthetic demo screenshot</a:t>
            </a:r>
            <a:endParaRPr lang="en-US" sz="805" dirty="0"/>
          </a:p>
        </p:txBody>
      </p:sp>
      <p:sp>
        <p:nvSpPr>
          <p:cNvPr id="9" name="Text 7"/>
          <p:cNvSpPr/>
          <p:nvPr/>
        </p:nvSpPr>
        <p:spPr>
          <a:xfrm>
            <a:off x="11100816" y="6592824"/>
            <a:ext cx="502920" cy="201168"/>
          </a:xfrm>
          <a:prstGeom prst="rect">
            <a:avLst/>
          </a:prstGeom>
          <a:noFill/>
          <a:ln/>
        </p:spPr>
        <p:txBody>
          <a:bodyPr wrap="square" lIns="0" tIns="0" rIns="0" bIns="0" rtlCol="0" anchor="t"/>
          <a:lstStyle/>
          <a:p>
            <a:pPr algn="r" indent="0" marL="0">
              <a:buNone/>
            </a:pPr>
            <a:r>
              <a:rPr lang="en-US" sz="920" dirty="0">
                <a:solidFill>
                  <a:srgbClr val="69808A"/>
                </a:solidFill>
                <a:latin typeface="Arial" pitchFamily="34" charset="0"/>
                <a:ea typeface="Arial" pitchFamily="34" charset="-122"/>
                <a:cs typeface="Arial" pitchFamily="34" charset="-120"/>
              </a:rPr>
              <a:t>09 / 19</a:t>
            </a:r>
            <a:endParaRPr lang="en-US" sz="920" dirty="0"/>
          </a:p>
        </p:txBody>
      </p:sp>
      <p:sp>
        <p:nvSpPr>
          <p:cNvPr id="11" name="Shape 8"/>
          <p:cNvSpPr/>
          <p:nvPr/>
        </p:nvSpPr>
        <p:spPr>
          <a:xfrm>
            <a:off x="594360" y="2103120"/>
            <a:ext cx="11009376" cy="1472184"/>
          </a:xfrm>
          <a:prstGeom prst="roundRect">
            <a:avLst>
              <a:gd name="adj" fmla="val 9938"/>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pic>
        <p:nvPicPr>
          <p:cNvPr id="12" name="Image 0" descr="Actual synthetic exception for Kiara Bailey: Jonas 40 regular hours, Paylocity 38; Trace evidence is available.">    </p:cNvPr>
          <p:cNvPicPr>
            <a:picLocks noChangeAspect="1"/>
          </p:cNvPicPr>
          <p:nvPr/>
        </p:nvPicPr>
        <p:blipFill>
          <a:blip r:embed="rId1"/>
          <a:stretch>
            <a:fillRect/>
          </a:stretch>
        </p:blipFill>
        <p:spPr>
          <a:xfrm>
            <a:off x="768096" y="2295144"/>
            <a:ext cx="10661904" cy="1132027"/>
          </a:xfrm>
          <a:prstGeom prst="rect">
            <a:avLst/>
          </a:prstGeom>
        </p:spPr>
      </p:pic>
      <p:sp>
        <p:nvSpPr>
          <p:cNvPr id="13" name="Shape 9"/>
          <p:cNvSpPr/>
          <p:nvPr/>
        </p:nvSpPr>
        <p:spPr>
          <a:xfrm>
            <a:off x="594360" y="3922776"/>
            <a:ext cx="3502152" cy="1572768"/>
          </a:xfrm>
          <a:prstGeom prst="roundRect">
            <a:avLst>
              <a:gd name="adj" fmla="val 9302"/>
            </a:avLst>
          </a:prstGeom>
          <a:solidFill>
            <a:srgbClr val="EEF4FD"/>
          </a:solidFill>
          <a:ln w="9525">
            <a:solidFill>
              <a:srgbClr val="B3CDED"/>
            </a:solidFill>
            <a:prstDash val="solid"/>
          </a:ln>
          <a:effectLst>
            <a:outerShdw sx="100000" sy="100000" kx="0" ky="0" algn="bl" rotWithShape="0" blurRad="27940" dist="13970" dir="5400000">
              <a:srgbClr val="90A3AB">
                <a:alpha val="10000"/>
              </a:srgbClr>
            </a:outerShdw>
          </a:effectLst>
        </p:spPr>
      </p:sp>
      <p:sp>
        <p:nvSpPr>
          <p:cNvPr id="14" name="Text 10"/>
          <p:cNvSpPr/>
          <p:nvPr/>
        </p:nvSpPr>
        <p:spPr>
          <a:xfrm>
            <a:off x="804672" y="4133088"/>
            <a:ext cx="3090672" cy="475488"/>
          </a:xfrm>
          <a:prstGeom prst="rect">
            <a:avLst/>
          </a:prstGeom>
          <a:noFill/>
          <a:ln/>
        </p:spPr>
        <p:txBody>
          <a:bodyPr wrap="square" lIns="0" tIns="0" rIns="0" bIns="0" rtlCol="0" anchor="t"/>
          <a:lstStyle/>
          <a:p>
            <a:pPr indent="0" marL="0">
              <a:buNone/>
            </a:pPr>
            <a:r>
              <a:rPr lang="en-US" sz="1830" b="1" dirty="0">
                <a:solidFill>
                  <a:srgbClr val="346DA9"/>
                </a:solidFill>
                <a:latin typeface="Arial" pitchFamily="34" charset="0"/>
                <a:ea typeface="Arial" pitchFamily="34" charset="-122"/>
                <a:cs typeface="Arial" pitchFamily="34" charset="-120"/>
              </a:rPr>
              <a:t>What is different?</a:t>
            </a:r>
            <a:endParaRPr lang="en-US" sz="1830" dirty="0"/>
          </a:p>
        </p:txBody>
      </p:sp>
      <p:sp>
        <p:nvSpPr>
          <p:cNvPr id="15" name="Text 11"/>
          <p:cNvSpPr/>
          <p:nvPr/>
        </p:nvSpPr>
        <p:spPr>
          <a:xfrm>
            <a:off x="804672" y="4553712"/>
            <a:ext cx="3081528" cy="777240"/>
          </a:xfrm>
          <a:prstGeom prst="rect">
            <a:avLst/>
          </a:prstGeom>
          <a:noFill/>
          <a:ln/>
        </p:spPr>
        <p:txBody>
          <a:bodyPr wrap="square" lIns="0" tIns="0" rIns="0" bIns="0" rtlCol="0" anchor="t"/>
          <a:lstStyle/>
          <a:p>
            <a:pPr indent="0" marL="0">
              <a:buNone/>
            </a:pPr>
            <a:r>
              <a:rPr lang="en-US" sz="1690" dirty="0">
                <a:solidFill>
                  <a:srgbClr val="465D68"/>
                </a:solidFill>
                <a:latin typeface="Arial" pitchFamily="34" charset="0"/>
                <a:ea typeface="Arial" pitchFamily="34" charset="-122"/>
                <a:cs typeface="Arial" pitchFamily="34" charset="-120"/>
              </a:rPr>
              <a:t>Jonas shows 40 regular hours. Paylocity shows 38.</a:t>
            </a:r>
            <a:endParaRPr lang="en-US" sz="1690" dirty="0"/>
          </a:p>
        </p:txBody>
      </p:sp>
      <p:sp>
        <p:nvSpPr>
          <p:cNvPr id="16" name="Shape 12"/>
          <p:cNvSpPr/>
          <p:nvPr/>
        </p:nvSpPr>
        <p:spPr>
          <a:xfrm>
            <a:off x="4343400" y="3922776"/>
            <a:ext cx="3502152" cy="1572768"/>
          </a:xfrm>
          <a:prstGeom prst="roundRect">
            <a:avLst>
              <a:gd name="adj" fmla="val 9302"/>
            </a:avLst>
          </a:prstGeom>
          <a:solidFill>
            <a:srgbClr val="FFF8E4"/>
          </a:solidFill>
          <a:ln w="9525">
            <a:solidFill>
              <a:srgbClr val="DFCD9D"/>
            </a:solidFill>
            <a:prstDash val="solid"/>
          </a:ln>
          <a:effectLst>
            <a:outerShdw sx="100000" sy="100000" kx="0" ky="0" algn="bl" rotWithShape="0" blurRad="27940" dist="13970" dir="5400000">
              <a:srgbClr val="90A3AB">
                <a:alpha val="10000"/>
              </a:srgbClr>
            </a:outerShdw>
          </a:effectLst>
        </p:spPr>
      </p:sp>
      <p:sp>
        <p:nvSpPr>
          <p:cNvPr id="17" name="Text 13"/>
          <p:cNvSpPr/>
          <p:nvPr/>
        </p:nvSpPr>
        <p:spPr>
          <a:xfrm>
            <a:off x="4553712" y="4133088"/>
            <a:ext cx="3090672" cy="475488"/>
          </a:xfrm>
          <a:prstGeom prst="rect">
            <a:avLst/>
          </a:prstGeom>
          <a:noFill/>
          <a:ln/>
        </p:spPr>
        <p:txBody>
          <a:bodyPr wrap="square" lIns="0" tIns="0" rIns="0" bIns="0" rtlCol="0" anchor="t"/>
          <a:lstStyle/>
          <a:p>
            <a:pPr indent="0" marL="0">
              <a:buNone/>
            </a:pPr>
            <a:r>
              <a:rPr lang="en-US" sz="1830" b="1" dirty="0">
                <a:solidFill>
                  <a:srgbClr val="92712F"/>
                </a:solidFill>
                <a:latin typeface="Arial" pitchFamily="34" charset="0"/>
                <a:ea typeface="Arial" pitchFamily="34" charset="-122"/>
                <a:cs typeface="Arial" pitchFamily="34" charset="-120"/>
              </a:rPr>
              <a:t>Where should we look?</a:t>
            </a:r>
            <a:endParaRPr lang="en-US" sz="1830" dirty="0"/>
          </a:p>
        </p:txBody>
      </p:sp>
      <p:sp>
        <p:nvSpPr>
          <p:cNvPr id="18" name="Text 14"/>
          <p:cNvSpPr/>
          <p:nvPr/>
        </p:nvSpPr>
        <p:spPr>
          <a:xfrm>
            <a:off x="4553712" y="4553712"/>
            <a:ext cx="3081528" cy="777240"/>
          </a:xfrm>
          <a:prstGeom prst="rect">
            <a:avLst/>
          </a:prstGeom>
          <a:noFill/>
          <a:ln/>
        </p:spPr>
        <p:txBody>
          <a:bodyPr wrap="square" lIns="0" tIns="0" rIns="0" bIns="0" rtlCol="0" anchor="t"/>
          <a:lstStyle/>
          <a:p>
            <a:pPr indent="0" marL="0">
              <a:buNone/>
            </a:pPr>
            <a:r>
              <a:rPr lang="en-US" sz="1690" dirty="0">
                <a:solidFill>
                  <a:srgbClr val="465D68"/>
                </a:solidFill>
                <a:latin typeface="Arial" pitchFamily="34" charset="0"/>
                <a:ea typeface="Arial" pitchFamily="34" charset="-122"/>
                <a:cs typeface="Arial" pitchFamily="34" charset="-120"/>
              </a:rPr>
              <a:t>The disagreement is at the Jonas-to-Paylocity handoff.</a:t>
            </a:r>
            <a:endParaRPr lang="en-US" sz="1690" dirty="0"/>
          </a:p>
        </p:txBody>
      </p:sp>
      <p:sp>
        <p:nvSpPr>
          <p:cNvPr id="19" name="Shape 15"/>
          <p:cNvSpPr/>
          <p:nvPr/>
        </p:nvSpPr>
        <p:spPr>
          <a:xfrm>
            <a:off x="8092440" y="3922776"/>
            <a:ext cx="3502152" cy="1572768"/>
          </a:xfrm>
          <a:prstGeom prst="roundRect">
            <a:avLst>
              <a:gd name="adj" fmla="val 9302"/>
            </a:avLst>
          </a:prstGeom>
          <a:solidFill>
            <a:srgbClr val="EAF5F4"/>
          </a:solidFill>
          <a:ln w="9525">
            <a:solidFill>
              <a:srgbClr val="87B7B2"/>
            </a:solidFill>
            <a:prstDash val="solid"/>
          </a:ln>
          <a:effectLst>
            <a:outerShdw sx="100000" sy="100000" kx="0" ky="0" algn="bl" rotWithShape="0" blurRad="27940" dist="13970" dir="5400000">
              <a:srgbClr val="90A3AB">
                <a:alpha val="10000"/>
              </a:srgbClr>
            </a:outerShdw>
          </a:effectLst>
        </p:spPr>
      </p:sp>
      <p:sp>
        <p:nvSpPr>
          <p:cNvPr id="20" name="Text 16"/>
          <p:cNvSpPr/>
          <p:nvPr/>
        </p:nvSpPr>
        <p:spPr>
          <a:xfrm>
            <a:off x="8302752" y="4133088"/>
            <a:ext cx="3090672" cy="475488"/>
          </a:xfrm>
          <a:prstGeom prst="rect">
            <a:avLst/>
          </a:prstGeom>
          <a:noFill/>
          <a:ln/>
        </p:spPr>
        <p:txBody>
          <a:bodyPr wrap="square" lIns="0" tIns="0" rIns="0" bIns="0" rtlCol="0" anchor="t"/>
          <a:lstStyle/>
          <a:p>
            <a:pPr indent="0" marL="0">
              <a:buNone/>
            </a:pPr>
            <a:r>
              <a:rPr lang="en-US" sz="1830" b="1" dirty="0">
                <a:solidFill>
                  <a:srgbClr val="317F7B"/>
                </a:solidFill>
                <a:latin typeface="Arial" pitchFamily="34" charset="0"/>
                <a:ea typeface="Arial" pitchFamily="34" charset="-122"/>
                <a:cs typeface="Arial" pitchFamily="34" charset="-120"/>
              </a:rPr>
              <a:t>What happens next?</a:t>
            </a:r>
            <a:endParaRPr lang="en-US" sz="1830" dirty="0"/>
          </a:p>
        </p:txBody>
      </p:sp>
      <p:sp>
        <p:nvSpPr>
          <p:cNvPr id="21" name="Text 17"/>
          <p:cNvSpPr/>
          <p:nvPr/>
        </p:nvSpPr>
        <p:spPr>
          <a:xfrm>
            <a:off x="8302752" y="4553712"/>
            <a:ext cx="3081528" cy="777240"/>
          </a:xfrm>
          <a:prstGeom prst="rect">
            <a:avLst/>
          </a:prstGeom>
          <a:noFill/>
          <a:ln/>
        </p:spPr>
        <p:txBody>
          <a:bodyPr wrap="square" lIns="0" tIns="0" rIns="0" bIns="0" rtlCol="0" anchor="t"/>
          <a:lstStyle/>
          <a:p>
            <a:pPr indent="0" marL="0">
              <a:buNone/>
            </a:pPr>
            <a:r>
              <a:rPr lang="en-US" sz="1690" dirty="0">
                <a:solidFill>
                  <a:srgbClr val="465D68"/>
                </a:solidFill>
                <a:latin typeface="Arial" pitchFamily="34" charset="0"/>
                <a:ea typeface="Arial" pitchFamily="34" charset="-122"/>
                <a:cs typeface="Arial" pitchFamily="34" charset="-120"/>
              </a:rPr>
              <a:t>Payroll opens Trace evidence to inspect the values and decide.</a:t>
            </a:r>
            <a:endParaRPr lang="en-US" sz="1690" dirty="0"/>
          </a:p>
        </p:txBody>
      </p:sp>
      <p:sp>
        <p:nvSpPr>
          <p:cNvPr id="22" name="Shape 18"/>
          <p:cNvSpPr/>
          <p:nvPr/>
        </p:nvSpPr>
        <p:spPr>
          <a:xfrm>
            <a:off x="585216" y="5879592"/>
            <a:ext cx="11018520" cy="502920"/>
          </a:xfrm>
          <a:prstGeom prst="roundRect">
            <a:avLst>
              <a:gd name="adj" fmla="val 20000"/>
            </a:avLst>
          </a:prstGeom>
          <a:solidFill>
            <a:srgbClr val="EAF5F4"/>
          </a:solidFill>
          <a:ln w="9525">
            <a:solidFill>
              <a:srgbClr val="87B7B2"/>
            </a:solidFill>
            <a:prstDash val="solid"/>
          </a:ln>
        </p:spPr>
      </p:sp>
      <p:sp>
        <p:nvSpPr>
          <p:cNvPr id="23" name="Text 19"/>
          <p:cNvSpPr/>
          <p:nvPr/>
        </p:nvSpPr>
        <p:spPr>
          <a:xfrm>
            <a:off x="786384" y="6016752"/>
            <a:ext cx="1325880" cy="338328"/>
          </a:xfrm>
          <a:prstGeom prst="rect">
            <a:avLst/>
          </a:prstGeom>
          <a:noFill/>
          <a:ln/>
        </p:spPr>
        <p:txBody>
          <a:bodyPr wrap="square" lIns="0" tIns="0" rIns="0" bIns="0" rtlCol="0" anchor="t"/>
          <a:lstStyle/>
          <a:p>
            <a:pPr indent="0" marL="0">
              <a:buNone/>
            </a:pPr>
            <a:r>
              <a:rPr lang="en-US" sz="1510" b="1" dirty="0">
                <a:solidFill>
                  <a:srgbClr val="317F7B"/>
                </a:solidFill>
                <a:latin typeface="Arial" pitchFamily="34" charset="0"/>
                <a:ea typeface="Arial" pitchFamily="34" charset="-122"/>
                <a:cs typeface="Arial" pitchFamily="34" charset="-120"/>
              </a:rPr>
              <a:t>The benefit</a:t>
            </a:r>
            <a:endParaRPr lang="en-US" sz="1510" dirty="0"/>
          </a:p>
        </p:txBody>
      </p:sp>
      <p:sp>
        <p:nvSpPr>
          <p:cNvPr id="24" name="Text 20"/>
          <p:cNvSpPr/>
          <p:nvPr/>
        </p:nvSpPr>
        <p:spPr>
          <a:xfrm>
            <a:off x="2203704" y="6016752"/>
            <a:ext cx="9180576" cy="338328"/>
          </a:xfrm>
          <a:prstGeom prst="rect">
            <a:avLst/>
          </a:prstGeom>
          <a:noFill/>
          <a:ln/>
        </p:spPr>
        <p:txBody>
          <a:bodyPr wrap="square" lIns="0" tIns="0" rIns="0" bIns="0" rtlCol="0" anchor="t"/>
          <a:lstStyle/>
          <a:p>
            <a:pPr indent="0" marL="0">
              <a:buNone/>
            </a:pPr>
            <a:r>
              <a:rPr lang="en-US" sz="1510" dirty="0">
                <a:solidFill>
                  <a:srgbClr val="465D68"/>
                </a:solidFill>
                <a:latin typeface="Arial" pitchFamily="34" charset="0"/>
                <a:ea typeface="Arial" pitchFamily="34" charset="-122"/>
                <a:cs typeface="Arial" pitchFamily="34" charset="-120"/>
              </a:rPr>
              <a:t>Start with the employee who needs review, rather than searching both reports line by line.</a:t>
            </a:r>
            <a:endParaRPr lang="en-US" sz="151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AFC"/>
        </a:solidFill>
      </p:bgPr>
    </p:bg>
    <p:spTree>
      <p:nvGrpSpPr>
        <p:cNvPr id="1" name=""/>
        <p:cNvGrpSpPr/>
        <p:nvPr/>
      </p:nvGrpSpPr>
      <p:grpSpPr>
        <a:xfrm>
          <a:off x="0" y="0"/>
          <a:ext cx="0" cy="0"/>
          <a:chOff x="0" y="0"/>
          <a:chExt cx="0" cy="0"/>
        </a:xfrm>
      </p:grpSpPr>
      <p:sp>
        <p:nvSpPr>
          <p:cNvPr id="2" name="Shape 0"/>
          <p:cNvSpPr/>
          <p:nvPr/>
        </p:nvSpPr>
        <p:spPr>
          <a:xfrm>
            <a:off x="0" y="0"/>
            <a:ext cx="12192000" cy="41148"/>
          </a:xfrm>
          <a:prstGeom prst="rect">
            <a:avLst/>
          </a:prstGeom>
          <a:solidFill>
            <a:srgbClr val="87B7B2"/>
          </a:solidFill>
          <a:ln w="12700">
            <a:solidFill>
              <a:srgbClr val="87B7B2">
                <a:alpha val="0"/>
              </a:srgbClr>
            </a:solidFill>
            <a:prstDash val="solid"/>
          </a:ln>
        </p:spPr>
      </p:sp>
      <p:sp>
        <p:nvSpPr>
          <p:cNvPr id="3" name="Text 1"/>
          <p:cNvSpPr/>
          <p:nvPr/>
        </p:nvSpPr>
        <p:spPr>
          <a:xfrm>
            <a:off x="585216" y="246888"/>
            <a:ext cx="10972800" cy="201168"/>
          </a:xfrm>
          <a:prstGeom prst="rect">
            <a:avLst/>
          </a:prstGeom>
          <a:noFill/>
          <a:ln/>
        </p:spPr>
        <p:txBody>
          <a:bodyPr wrap="square" lIns="0" tIns="0" rIns="0" bIns="0" rtlCol="0" anchor="t"/>
          <a:lstStyle/>
          <a:p>
            <a:pPr indent="0" marL="0">
              <a:buNone/>
            </a:pPr>
            <a:r>
              <a:rPr lang="en-US" sz="1000" b="1" dirty="0">
                <a:solidFill>
                  <a:srgbClr val="317F7B"/>
                </a:solidFill>
                <a:latin typeface="Arial" pitchFamily="34" charset="0"/>
                <a:ea typeface="Arial" pitchFamily="34" charset="-122"/>
                <a:cs typeface="Arial" pitchFamily="34" charset="-120"/>
              </a:rPr>
              <a:t>Actual demonstration · follow the evidence</a:t>
            </a:r>
            <a:endParaRPr lang="en-US" sz="1000" dirty="0"/>
          </a:p>
        </p:txBody>
      </p:sp>
      <p:sp>
        <p:nvSpPr>
          <p:cNvPr id="4" name="Text 2"/>
          <p:cNvSpPr/>
          <p:nvPr/>
        </p:nvSpPr>
        <p:spPr>
          <a:xfrm>
            <a:off x="585216" y="658368"/>
            <a:ext cx="11027664" cy="594360"/>
          </a:xfrm>
          <a:prstGeom prst="rect">
            <a:avLst/>
          </a:prstGeom>
          <a:noFill/>
          <a:ln/>
        </p:spPr>
        <p:txBody>
          <a:bodyPr wrap="square" lIns="0" tIns="0" rIns="0" bIns="0" rtlCol="0" anchor="t"/>
          <a:lstStyle/>
          <a:p>
            <a:pPr indent="0" marL="0">
              <a:buNone/>
            </a:pPr>
            <a:r>
              <a:rPr lang="en-US" sz="2800" b="1" dirty="0">
                <a:solidFill>
                  <a:srgbClr val="233F4C"/>
                </a:solidFill>
                <a:latin typeface="Arial" pitchFamily="34" charset="0"/>
                <a:ea typeface="Arial" pitchFamily="34" charset="-122"/>
                <a:cs typeface="Arial" pitchFamily="34" charset="-120"/>
              </a:rPr>
              <a:t>Trace shows where a number came from</a:t>
            </a:r>
            <a:endParaRPr lang="en-US" sz="2800" dirty="0"/>
          </a:p>
        </p:txBody>
      </p:sp>
      <p:sp>
        <p:nvSpPr>
          <p:cNvPr id="5" name="Text 3"/>
          <p:cNvSpPr/>
          <p:nvPr/>
        </p:nvSpPr>
        <p:spPr>
          <a:xfrm>
            <a:off x="594360" y="1307592"/>
            <a:ext cx="10945368" cy="530352"/>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Trace answers: “What happened to this value, and which handoff needs investigation?”</a:t>
            </a:r>
            <a:endParaRPr lang="en-US" sz="1660" dirty="0"/>
          </a:p>
        </p:txBody>
      </p:sp>
      <p:sp>
        <p:nvSpPr>
          <p:cNvPr id="6" name="Shape 4"/>
          <p:cNvSpPr/>
          <p:nvPr/>
        </p:nvSpPr>
        <p:spPr>
          <a:xfrm>
            <a:off x="585216" y="6510528"/>
            <a:ext cx="11018520" cy="0"/>
          </a:xfrm>
          <a:prstGeom prst="line">
            <a:avLst/>
          </a:prstGeom>
          <a:noFill/>
          <a:ln w="10160">
            <a:solidFill>
              <a:srgbClr val="DCE6E9"/>
            </a:solidFill>
            <a:prstDash val="solid"/>
          </a:ln>
        </p:spPr>
      </p:sp>
      <p:sp>
        <p:nvSpPr>
          <p:cNvPr id="7" name="Text 5"/>
          <p:cNvSpPr/>
          <p:nvPr/>
        </p:nvSpPr>
        <p:spPr>
          <a:xfrm>
            <a:off x="594360" y="6611112"/>
            <a:ext cx="3749040" cy="164592"/>
          </a:xfrm>
          <a:prstGeom prst="rect">
            <a:avLst/>
          </a:prstGeom>
          <a:noFill/>
          <a:ln/>
        </p:spPr>
        <p:txBody>
          <a:bodyPr wrap="square" lIns="0" tIns="0" rIns="0" bIns="0" rtlCol="0" anchor="t"/>
          <a:lstStyle/>
          <a:p>
            <a:pPr indent="0" marL="0">
              <a:buNone/>
            </a:pPr>
            <a:r>
              <a:rPr lang="en-US" sz="820" dirty="0">
                <a:solidFill>
                  <a:srgbClr val="69808A"/>
                </a:solidFill>
                <a:latin typeface="Arial" pitchFamily="34" charset="0"/>
                <a:ea typeface="Arial" pitchFamily="34" charset="-122"/>
                <a:cs typeface="Arial" pitchFamily="34" charset="-120"/>
              </a:rPr>
              <a:t>Komlan Kouhiko  /  B&amp;S payroll proposal</a:t>
            </a:r>
            <a:endParaRPr lang="en-US" sz="820" dirty="0"/>
          </a:p>
        </p:txBody>
      </p:sp>
      <p:sp>
        <p:nvSpPr>
          <p:cNvPr id="8" name="Text 6"/>
          <p:cNvSpPr/>
          <p:nvPr/>
        </p:nvSpPr>
        <p:spPr>
          <a:xfrm>
            <a:off x="4023360" y="6611112"/>
            <a:ext cx="6903720" cy="164592"/>
          </a:xfrm>
          <a:prstGeom prst="rect">
            <a:avLst/>
          </a:prstGeom>
          <a:noFill/>
          <a:ln/>
        </p:spPr>
        <p:txBody>
          <a:bodyPr wrap="square" lIns="0" tIns="0" rIns="0" bIns="0" rtlCol="0" anchor="t"/>
          <a:lstStyle/>
          <a:p>
            <a:pPr algn="r" indent="0" marL="0">
              <a:buNone/>
            </a:pPr>
            <a:r>
              <a:rPr lang="en-US" sz="805" dirty="0">
                <a:solidFill>
                  <a:srgbClr val="69808A"/>
                </a:solidFill>
                <a:latin typeface="Arial" pitchFamily="34" charset="0"/>
                <a:ea typeface="Arial" pitchFamily="34" charset="-122"/>
                <a:cs typeface="Arial" pitchFamily="34" charset="-120"/>
              </a:rPr>
              <a:t>[D1] Actual synthetic Trace screenshot • No live connections</a:t>
            </a:r>
            <a:endParaRPr lang="en-US" sz="805" dirty="0"/>
          </a:p>
        </p:txBody>
      </p:sp>
      <p:sp>
        <p:nvSpPr>
          <p:cNvPr id="9" name="Text 7"/>
          <p:cNvSpPr/>
          <p:nvPr/>
        </p:nvSpPr>
        <p:spPr>
          <a:xfrm>
            <a:off x="11100816" y="6592824"/>
            <a:ext cx="502920" cy="201168"/>
          </a:xfrm>
          <a:prstGeom prst="rect">
            <a:avLst/>
          </a:prstGeom>
          <a:noFill/>
          <a:ln/>
        </p:spPr>
        <p:txBody>
          <a:bodyPr wrap="square" lIns="0" tIns="0" rIns="0" bIns="0" rtlCol="0" anchor="t"/>
          <a:lstStyle/>
          <a:p>
            <a:pPr algn="r" indent="0" marL="0">
              <a:buNone/>
            </a:pPr>
            <a:r>
              <a:rPr lang="en-US" sz="920" dirty="0">
                <a:solidFill>
                  <a:srgbClr val="69808A"/>
                </a:solidFill>
                <a:latin typeface="Arial" pitchFamily="34" charset="0"/>
                <a:ea typeface="Arial" pitchFamily="34" charset="-122"/>
                <a:cs typeface="Arial" pitchFamily="34" charset="-120"/>
              </a:rPr>
              <a:t>10 / 19</a:t>
            </a:r>
            <a:endParaRPr lang="en-US" sz="920" dirty="0"/>
          </a:p>
        </p:txBody>
      </p:sp>
      <p:sp>
        <p:nvSpPr>
          <p:cNvPr id="11" name="Shape 8"/>
          <p:cNvSpPr/>
          <p:nvPr/>
        </p:nvSpPr>
        <p:spPr>
          <a:xfrm>
            <a:off x="585216" y="1956816"/>
            <a:ext cx="5897880" cy="4297680"/>
          </a:xfrm>
          <a:prstGeom prst="roundRect">
            <a:avLst>
              <a:gd name="adj" fmla="val 3404"/>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pic>
        <p:nvPicPr>
          <p:cNvPr id="12" name="Image 0" descr="Actual demo Trace: Raken 40 hours, supervisor approval, Jonas 40 hours, Paylocity 38 hours.">    </p:cNvPr>
          <p:cNvPicPr>
            <a:picLocks noChangeAspect="1"/>
          </p:cNvPicPr>
          <p:nvPr/>
        </p:nvPicPr>
        <p:blipFill>
          <a:blip r:embed="rId1"/>
          <a:stretch>
            <a:fillRect/>
          </a:stretch>
        </p:blipFill>
        <p:spPr>
          <a:xfrm>
            <a:off x="713232" y="2066544"/>
            <a:ext cx="5641848" cy="4146804"/>
          </a:xfrm>
          <a:prstGeom prst="rect">
            <a:avLst/>
          </a:prstGeom>
        </p:spPr>
      </p:pic>
      <p:sp>
        <p:nvSpPr>
          <p:cNvPr id="13" name="Shape 9"/>
          <p:cNvSpPr/>
          <p:nvPr/>
        </p:nvSpPr>
        <p:spPr>
          <a:xfrm>
            <a:off x="6803136" y="2039112"/>
            <a:ext cx="4782312" cy="1143000"/>
          </a:xfrm>
          <a:prstGeom prst="roundRect">
            <a:avLst>
              <a:gd name="adj" fmla="val 12800"/>
            </a:avLst>
          </a:prstGeom>
          <a:solidFill>
            <a:srgbClr val="FFF3E8"/>
          </a:solidFill>
          <a:ln w="9525">
            <a:solidFill>
              <a:srgbClr val="E4BD97"/>
            </a:solidFill>
            <a:prstDash val="solid"/>
          </a:ln>
          <a:effectLst>
            <a:outerShdw sx="100000" sy="100000" kx="0" ky="0" algn="bl" rotWithShape="0" blurRad="27940" dist="13970" dir="5400000">
              <a:srgbClr val="90A3AB">
                <a:alpha val="10000"/>
              </a:srgbClr>
            </a:outerShdw>
          </a:effectLst>
        </p:spPr>
      </p:sp>
      <p:sp>
        <p:nvSpPr>
          <p:cNvPr id="14" name="Text 10"/>
          <p:cNvSpPr/>
          <p:nvPr/>
        </p:nvSpPr>
        <p:spPr>
          <a:xfrm>
            <a:off x="7013448" y="2249424"/>
            <a:ext cx="4370832" cy="475488"/>
          </a:xfrm>
          <a:prstGeom prst="rect">
            <a:avLst/>
          </a:prstGeom>
          <a:noFill/>
          <a:ln/>
        </p:spPr>
        <p:txBody>
          <a:bodyPr wrap="square" lIns="0" tIns="0" rIns="0" bIns="0" rtlCol="0" anchor="t"/>
          <a:lstStyle/>
          <a:p>
            <a:pPr indent="0" marL="0">
              <a:buNone/>
            </a:pPr>
            <a:r>
              <a:rPr lang="en-US" sz="1850" b="1" dirty="0">
                <a:solidFill>
                  <a:srgbClr val="AA642D"/>
                </a:solidFill>
                <a:latin typeface="Arial" pitchFamily="34" charset="0"/>
                <a:ea typeface="Arial" pitchFamily="34" charset="-122"/>
                <a:cs typeface="Arial" pitchFamily="34" charset="-120"/>
              </a:rPr>
              <a:t>Raken: the source</a:t>
            </a:r>
            <a:endParaRPr lang="en-US" sz="1850" dirty="0"/>
          </a:p>
        </p:txBody>
      </p:sp>
      <p:sp>
        <p:nvSpPr>
          <p:cNvPr id="15" name="Text 11"/>
          <p:cNvSpPr/>
          <p:nvPr/>
        </p:nvSpPr>
        <p:spPr>
          <a:xfrm>
            <a:off x="7013448" y="2578608"/>
            <a:ext cx="4361688" cy="438912"/>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40 hours, with supervisor approval shown.</a:t>
            </a:r>
            <a:endParaRPr lang="en-US" sz="1660" dirty="0"/>
          </a:p>
        </p:txBody>
      </p:sp>
      <p:sp>
        <p:nvSpPr>
          <p:cNvPr id="16" name="Shape 12"/>
          <p:cNvSpPr/>
          <p:nvPr/>
        </p:nvSpPr>
        <p:spPr>
          <a:xfrm>
            <a:off x="6803136" y="3374136"/>
            <a:ext cx="4782312" cy="1143000"/>
          </a:xfrm>
          <a:prstGeom prst="roundRect">
            <a:avLst>
              <a:gd name="adj" fmla="val 12800"/>
            </a:avLst>
          </a:prstGeom>
          <a:solidFill>
            <a:srgbClr val="EEF4FD"/>
          </a:solidFill>
          <a:ln w="9525">
            <a:solidFill>
              <a:srgbClr val="B3CDED"/>
            </a:solidFill>
            <a:prstDash val="solid"/>
          </a:ln>
          <a:effectLst>
            <a:outerShdw sx="100000" sy="100000" kx="0" ky="0" algn="bl" rotWithShape="0" blurRad="27940" dist="13970" dir="5400000">
              <a:srgbClr val="90A3AB">
                <a:alpha val="10000"/>
              </a:srgbClr>
            </a:outerShdw>
          </a:effectLst>
        </p:spPr>
      </p:sp>
      <p:sp>
        <p:nvSpPr>
          <p:cNvPr id="17" name="Text 13"/>
          <p:cNvSpPr/>
          <p:nvPr/>
        </p:nvSpPr>
        <p:spPr>
          <a:xfrm>
            <a:off x="7013448" y="3584448"/>
            <a:ext cx="4370832" cy="475488"/>
          </a:xfrm>
          <a:prstGeom prst="rect">
            <a:avLst/>
          </a:prstGeom>
          <a:noFill/>
          <a:ln/>
        </p:spPr>
        <p:txBody>
          <a:bodyPr wrap="square" lIns="0" tIns="0" rIns="0" bIns="0" rtlCol="0" anchor="t"/>
          <a:lstStyle/>
          <a:p>
            <a:pPr indent="0" marL="0">
              <a:buNone/>
            </a:pPr>
            <a:r>
              <a:rPr lang="en-US" sz="1850" b="1" dirty="0">
                <a:solidFill>
                  <a:srgbClr val="346DA9"/>
                </a:solidFill>
                <a:latin typeface="Arial" pitchFamily="34" charset="0"/>
                <a:ea typeface="Arial" pitchFamily="34" charset="-122"/>
                <a:cs typeface="Arial" pitchFamily="34" charset="-120"/>
              </a:rPr>
              <a:t>Jonas: prepared payroll</a:t>
            </a:r>
            <a:endParaRPr lang="en-US" sz="1850" dirty="0"/>
          </a:p>
        </p:txBody>
      </p:sp>
      <p:sp>
        <p:nvSpPr>
          <p:cNvPr id="18" name="Text 14"/>
          <p:cNvSpPr/>
          <p:nvPr/>
        </p:nvSpPr>
        <p:spPr>
          <a:xfrm>
            <a:off x="7013448" y="3913632"/>
            <a:ext cx="4361688" cy="438912"/>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40 hours; no numeric adjustment was needed.</a:t>
            </a:r>
            <a:endParaRPr lang="en-US" sz="1660" dirty="0"/>
          </a:p>
        </p:txBody>
      </p:sp>
      <p:sp>
        <p:nvSpPr>
          <p:cNvPr id="19" name="Shape 15"/>
          <p:cNvSpPr/>
          <p:nvPr/>
        </p:nvSpPr>
        <p:spPr>
          <a:xfrm>
            <a:off x="6803136" y="4709160"/>
            <a:ext cx="4782312" cy="1143000"/>
          </a:xfrm>
          <a:prstGeom prst="roundRect">
            <a:avLst>
              <a:gd name="adj" fmla="val 12800"/>
            </a:avLst>
          </a:prstGeom>
          <a:solidFill>
            <a:srgbClr val="EDF8F1"/>
          </a:solidFill>
          <a:ln w="9525">
            <a:solidFill>
              <a:srgbClr val="A4CCB9"/>
            </a:solidFill>
            <a:prstDash val="solid"/>
          </a:ln>
          <a:effectLst>
            <a:outerShdw sx="100000" sy="100000" kx="0" ky="0" algn="bl" rotWithShape="0" blurRad="27940" dist="13970" dir="5400000">
              <a:srgbClr val="90A3AB">
                <a:alpha val="10000"/>
              </a:srgbClr>
            </a:outerShdw>
          </a:effectLst>
        </p:spPr>
      </p:sp>
      <p:sp>
        <p:nvSpPr>
          <p:cNvPr id="20" name="Text 16"/>
          <p:cNvSpPr/>
          <p:nvPr/>
        </p:nvSpPr>
        <p:spPr>
          <a:xfrm>
            <a:off x="7013448" y="4919472"/>
            <a:ext cx="4370832" cy="475488"/>
          </a:xfrm>
          <a:prstGeom prst="rect">
            <a:avLst/>
          </a:prstGeom>
          <a:noFill/>
          <a:ln/>
        </p:spPr>
        <p:txBody>
          <a:bodyPr wrap="square" lIns="0" tIns="0" rIns="0" bIns="0" rtlCol="0" anchor="t"/>
          <a:lstStyle/>
          <a:p>
            <a:pPr indent="0" marL="0">
              <a:buNone/>
            </a:pPr>
            <a:r>
              <a:rPr lang="en-US" sz="1850" b="1" dirty="0">
                <a:solidFill>
                  <a:srgbClr val="287B5B"/>
                </a:solidFill>
                <a:latin typeface="Arial" pitchFamily="34" charset="0"/>
                <a:ea typeface="Arial" pitchFamily="34" charset="-122"/>
                <a:cs typeface="Arial" pitchFamily="34" charset="-120"/>
              </a:rPr>
              <a:t>Paylocity: the pay record</a:t>
            </a:r>
            <a:endParaRPr lang="en-US" sz="1850" dirty="0"/>
          </a:p>
        </p:txBody>
      </p:sp>
      <p:sp>
        <p:nvSpPr>
          <p:cNvPr id="21" name="Text 17"/>
          <p:cNvSpPr/>
          <p:nvPr/>
        </p:nvSpPr>
        <p:spPr>
          <a:xfrm>
            <a:off x="7013448" y="5248656"/>
            <a:ext cx="4361688" cy="438912"/>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38 hours. This is the handoff Payroll needs to investigate.</a:t>
            </a:r>
            <a:endParaRPr lang="en-US" sz="16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AFC"/>
        </a:solidFill>
      </p:bgPr>
    </p:bg>
    <p:spTree>
      <p:nvGrpSpPr>
        <p:cNvPr id="1" name=""/>
        <p:cNvGrpSpPr/>
        <p:nvPr/>
      </p:nvGrpSpPr>
      <p:grpSpPr>
        <a:xfrm>
          <a:off x="0" y="0"/>
          <a:ext cx="0" cy="0"/>
          <a:chOff x="0" y="0"/>
          <a:chExt cx="0" cy="0"/>
        </a:xfrm>
      </p:grpSpPr>
      <p:sp>
        <p:nvSpPr>
          <p:cNvPr id="2" name="Shape 0"/>
          <p:cNvSpPr/>
          <p:nvPr/>
        </p:nvSpPr>
        <p:spPr>
          <a:xfrm>
            <a:off x="0" y="0"/>
            <a:ext cx="12192000" cy="41148"/>
          </a:xfrm>
          <a:prstGeom prst="rect">
            <a:avLst/>
          </a:prstGeom>
          <a:solidFill>
            <a:srgbClr val="87B7B2"/>
          </a:solidFill>
          <a:ln w="12700">
            <a:solidFill>
              <a:srgbClr val="87B7B2">
                <a:alpha val="0"/>
              </a:srgbClr>
            </a:solidFill>
            <a:prstDash val="solid"/>
          </a:ln>
        </p:spPr>
      </p:sp>
      <p:sp>
        <p:nvSpPr>
          <p:cNvPr id="3" name="Text 1"/>
          <p:cNvSpPr/>
          <p:nvPr/>
        </p:nvSpPr>
        <p:spPr>
          <a:xfrm>
            <a:off x="585216" y="246888"/>
            <a:ext cx="10972800" cy="201168"/>
          </a:xfrm>
          <a:prstGeom prst="rect">
            <a:avLst/>
          </a:prstGeom>
          <a:noFill/>
          <a:ln/>
        </p:spPr>
        <p:txBody>
          <a:bodyPr wrap="square" lIns="0" tIns="0" rIns="0" bIns="0" rtlCol="0" anchor="t"/>
          <a:lstStyle/>
          <a:p>
            <a:pPr indent="0" marL="0">
              <a:buNone/>
            </a:pPr>
            <a:r>
              <a:rPr lang="en-US" sz="1000" b="1" dirty="0">
                <a:solidFill>
                  <a:srgbClr val="317F7B"/>
                </a:solidFill>
                <a:latin typeface="Arial" pitchFamily="34" charset="0"/>
                <a:ea typeface="Arial" pitchFamily="34" charset="-122"/>
                <a:cs typeface="Arial" pitchFamily="34" charset="-120"/>
              </a:rPr>
              <a:t>Actual demonstration · check the correction</a:t>
            </a:r>
            <a:endParaRPr lang="en-US" sz="1000" dirty="0"/>
          </a:p>
        </p:txBody>
      </p:sp>
      <p:sp>
        <p:nvSpPr>
          <p:cNvPr id="4" name="Text 2"/>
          <p:cNvSpPr/>
          <p:nvPr/>
        </p:nvSpPr>
        <p:spPr>
          <a:xfrm>
            <a:off x="585216" y="658368"/>
            <a:ext cx="11027664" cy="594360"/>
          </a:xfrm>
          <a:prstGeom prst="rect">
            <a:avLst/>
          </a:prstGeom>
          <a:noFill/>
          <a:ln/>
        </p:spPr>
        <p:txBody>
          <a:bodyPr wrap="square" lIns="0" tIns="0" rIns="0" bIns="0" rtlCol="0" anchor="t"/>
          <a:lstStyle/>
          <a:p>
            <a:pPr indent="0" marL="0">
              <a:buNone/>
            </a:pPr>
            <a:r>
              <a:rPr lang="en-US" sz="2800" b="1" dirty="0">
                <a:solidFill>
                  <a:srgbClr val="233F4C"/>
                </a:solidFill>
                <a:latin typeface="Arial" pitchFamily="34" charset="0"/>
                <a:ea typeface="Arial" pitchFamily="34" charset="-122"/>
                <a:cs typeface="Arial" pitchFamily="34" charset="-120"/>
              </a:rPr>
              <a:t>An issue clears only after the new record is checked</a:t>
            </a:r>
            <a:endParaRPr lang="en-US" sz="2800" dirty="0"/>
          </a:p>
        </p:txBody>
      </p:sp>
      <p:sp>
        <p:nvSpPr>
          <p:cNvPr id="5" name="Text 3"/>
          <p:cNvSpPr/>
          <p:nvPr/>
        </p:nvSpPr>
        <p:spPr>
          <a:xfrm>
            <a:off x="594360" y="1307592"/>
            <a:ext cx="10945368" cy="530352"/>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A review note alone does not clear a difference. The tool needs updated evidence from the destination.</a:t>
            </a:r>
            <a:endParaRPr lang="en-US" sz="1660" dirty="0"/>
          </a:p>
        </p:txBody>
      </p:sp>
      <p:sp>
        <p:nvSpPr>
          <p:cNvPr id="6" name="Shape 4"/>
          <p:cNvSpPr/>
          <p:nvPr/>
        </p:nvSpPr>
        <p:spPr>
          <a:xfrm>
            <a:off x="585216" y="6510528"/>
            <a:ext cx="11018520" cy="0"/>
          </a:xfrm>
          <a:prstGeom prst="line">
            <a:avLst/>
          </a:prstGeom>
          <a:noFill/>
          <a:ln w="10160">
            <a:solidFill>
              <a:srgbClr val="DCE6E9"/>
            </a:solidFill>
            <a:prstDash val="solid"/>
          </a:ln>
        </p:spPr>
      </p:sp>
      <p:sp>
        <p:nvSpPr>
          <p:cNvPr id="7" name="Text 5"/>
          <p:cNvSpPr/>
          <p:nvPr/>
        </p:nvSpPr>
        <p:spPr>
          <a:xfrm>
            <a:off x="594360" y="6611112"/>
            <a:ext cx="3749040" cy="164592"/>
          </a:xfrm>
          <a:prstGeom prst="rect">
            <a:avLst/>
          </a:prstGeom>
          <a:noFill/>
          <a:ln/>
        </p:spPr>
        <p:txBody>
          <a:bodyPr wrap="square" lIns="0" tIns="0" rIns="0" bIns="0" rtlCol="0" anchor="t"/>
          <a:lstStyle/>
          <a:p>
            <a:pPr indent="0" marL="0">
              <a:buNone/>
            </a:pPr>
            <a:r>
              <a:rPr lang="en-US" sz="820" dirty="0">
                <a:solidFill>
                  <a:srgbClr val="69808A"/>
                </a:solidFill>
                <a:latin typeface="Arial" pitchFamily="34" charset="0"/>
                <a:ea typeface="Arial" pitchFamily="34" charset="-122"/>
                <a:cs typeface="Arial" pitchFamily="34" charset="-120"/>
              </a:rPr>
              <a:t>Komlan Kouhiko  /  B&amp;S payroll proposal</a:t>
            </a:r>
            <a:endParaRPr lang="en-US" sz="820" dirty="0"/>
          </a:p>
        </p:txBody>
      </p:sp>
      <p:sp>
        <p:nvSpPr>
          <p:cNvPr id="8" name="Text 6"/>
          <p:cNvSpPr/>
          <p:nvPr/>
        </p:nvSpPr>
        <p:spPr>
          <a:xfrm>
            <a:off x="4023360" y="6611112"/>
            <a:ext cx="6903720" cy="164592"/>
          </a:xfrm>
          <a:prstGeom prst="rect">
            <a:avLst/>
          </a:prstGeom>
          <a:noFill/>
          <a:ln/>
        </p:spPr>
        <p:txBody>
          <a:bodyPr wrap="square" lIns="0" tIns="0" rIns="0" bIns="0" rtlCol="0" anchor="t"/>
          <a:lstStyle/>
          <a:p>
            <a:pPr algn="r" indent="0" marL="0">
              <a:buNone/>
            </a:pPr>
            <a:r>
              <a:rPr lang="en-US" sz="805" dirty="0">
                <a:solidFill>
                  <a:srgbClr val="69808A"/>
                </a:solidFill>
                <a:latin typeface="Arial" pitchFamily="34" charset="0"/>
                <a:ea typeface="Arial" pitchFamily="34" charset="-122"/>
                <a:cs typeface="Arial" pitchFamily="34" charset="-120"/>
              </a:rPr>
              <a:t>[D1] Synthetic manual-correction walkthrough • [D2] Recorded tests</a:t>
            </a:r>
            <a:endParaRPr lang="en-US" sz="805" dirty="0"/>
          </a:p>
        </p:txBody>
      </p:sp>
      <p:sp>
        <p:nvSpPr>
          <p:cNvPr id="9" name="Text 7"/>
          <p:cNvSpPr/>
          <p:nvPr/>
        </p:nvSpPr>
        <p:spPr>
          <a:xfrm>
            <a:off x="11100816" y="6592824"/>
            <a:ext cx="502920" cy="201168"/>
          </a:xfrm>
          <a:prstGeom prst="rect">
            <a:avLst/>
          </a:prstGeom>
          <a:noFill/>
          <a:ln/>
        </p:spPr>
        <p:txBody>
          <a:bodyPr wrap="square" lIns="0" tIns="0" rIns="0" bIns="0" rtlCol="0" anchor="t"/>
          <a:lstStyle/>
          <a:p>
            <a:pPr algn="r" indent="0" marL="0">
              <a:buNone/>
            </a:pPr>
            <a:r>
              <a:rPr lang="en-US" sz="920" dirty="0">
                <a:solidFill>
                  <a:srgbClr val="69808A"/>
                </a:solidFill>
                <a:latin typeface="Arial" pitchFamily="34" charset="0"/>
                <a:ea typeface="Arial" pitchFamily="34" charset="-122"/>
                <a:cs typeface="Arial" pitchFamily="34" charset="-120"/>
              </a:rPr>
              <a:t>11 / 19</a:t>
            </a:r>
            <a:endParaRPr lang="en-US" sz="920" dirty="0"/>
          </a:p>
        </p:txBody>
      </p:sp>
      <p:sp>
        <p:nvSpPr>
          <p:cNvPr id="11" name="Shape 8"/>
          <p:cNvSpPr/>
          <p:nvPr/>
        </p:nvSpPr>
        <p:spPr>
          <a:xfrm>
            <a:off x="594360" y="2002536"/>
            <a:ext cx="11009376" cy="1188720"/>
          </a:xfrm>
          <a:prstGeom prst="roundRect">
            <a:avLst>
              <a:gd name="adj" fmla="val 12308"/>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pic>
        <p:nvPicPr>
          <p:cNvPr id="12" name="Image 0" descr="Actual synthetic verification result: Jonas 40 hours and Paylocity 40 hours; the regular-hours comparison has passed.">    </p:cNvPr>
          <p:cNvPicPr>
            <a:picLocks noChangeAspect="1"/>
          </p:cNvPicPr>
          <p:nvPr/>
        </p:nvPicPr>
        <p:blipFill>
          <a:blip r:embed="rId1"/>
          <a:stretch>
            <a:fillRect/>
          </a:stretch>
        </p:blipFill>
        <p:spPr>
          <a:xfrm>
            <a:off x="777240" y="2176272"/>
            <a:ext cx="10643616" cy="954634"/>
          </a:xfrm>
          <a:prstGeom prst="rect">
            <a:avLst/>
          </a:prstGeom>
        </p:spPr>
      </p:pic>
      <p:sp>
        <p:nvSpPr>
          <p:cNvPr id="13" name="Shape 9"/>
          <p:cNvSpPr/>
          <p:nvPr/>
        </p:nvSpPr>
        <p:spPr>
          <a:xfrm>
            <a:off x="594360" y="3566160"/>
            <a:ext cx="3502152" cy="1591056"/>
          </a:xfrm>
          <a:prstGeom prst="roundRect">
            <a:avLst>
              <a:gd name="adj" fmla="val 9195"/>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14" name="Shape 10"/>
          <p:cNvSpPr/>
          <p:nvPr/>
        </p:nvSpPr>
        <p:spPr>
          <a:xfrm>
            <a:off x="804672" y="3762756"/>
            <a:ext cx="310896" cy="310896"/>
          </a:xfrm>
          <a:prstGeom prst="ellipse">
            <a:avLst/>
          </a:prstGeom>
          <a:solidFill>
            <a:srgbClr val="EAF5F4"/>
          </a:solidFill>
          <a:ln w="12700">
            <a:solidFill>
              <a:srgbClr val="EAF5F4"/>
            </a:solidFill>
            <a:prstDash val="solid"/>
          </a:ln>
        </p:spPr>
      </p:sp>
      <p:sp>
        <p:nvSpPr>
          <p:cNvPr id="15" name="Text 11"/>
          <p:cNvSpPr/>
          <p:nvPr/>
        </p:nvSpPr>
        <p:spPr>
          <a:xfrm>
            <a:off x="804672" y="3799332"/>
            <a:ext cx="310896" cy="292608"/>
          </a:xfrm>
          <a:prstGeom prst="rect">
            <a:avLst/>
          </a:prstGeom>
          <a:noFill/>
          <a:ln/>
        </p:spPr>
        <p:txBody>
          <a:bodyPr wrap="square" lIns="0" tIns="0" rIns="0" bIns="0" rtlCol="0" anchor="t"/>
          <a:lstStyle/>
          <a:p>
            <a:pPr algn="ctr" indent="0" marL="0">
              <a:buNone/>
            </a:pPr>
            <a:r>
              <a:rPr lang="en-US" sz="1320" b="1" dirty="0">
                <a:solidFill>
                  <a:srgbClr val="465D68"/>
                </a:solidFill>
                <a:latin typeface="Arial" pitchFamily="34" charset="0"/>
                <a:ea typeface="Arial" pitchFamily="34" charset="-122"/>
                <a:cs typeface="Arial" pitchFamily="34" charset="-120"/>
              </a:rPr>
              <a:t>1</a:t>
            </a:r>
            <a:endParaRPr lang="en-US" sz="1320" dirty="0"/>
          </a:p>
        </p:txBody>
      </p:sp>
      <p:sp>
        <p:nvSpPr>
          <p:cNvPr id="16" name="Text 12"/>
          <p:cNvSpPr/>
          <p:nvPr/>
        </p:nvSpPr>
        <p:spPr>
          <a:xfrm>
            <a:off x="1243584" y="3776472"/>
            <a:ext cx="2651760" cy="475488"/>
          </a:xfrm>
          <a:prstGeom prst="rect">
            <a:avLst/>
          </a:prstGeom>
          <a:noFill/>
          <a:ln/>
        </p:spPr>
        <p:txBody>
          <a:bodyPr wrap="square" lIns="0" tIns="0" rIns="0" bIns="0" rtlCol="0" anchor="t"/>
          <a:lstStyle/>
          <a:p>
            <a:pPr indent="0" marL="0">
              <a:buNone/>
            </a:pPr>
            <a:r>
              <a:rPr lang="en-US" sz="1800" b="1" dirty="0">
                <a:solidFill>
                  <a:srgbClr val="233F4C"/>
                </a:solidFill>
                <a:latin typeface="Arial" pitchFamily="34" charset="0"/>
                <a:ea typeface="Arial" pitchFamily="34" charset="-122"/>
                <a:cs typeface="Arial" pitchFamily="34" charset="-120"/>
              </a:rPr>
              <a:t>Confirm</a:t>
            </a:r>
            <a:endParaRPr lang="en-US" sz="1800" dirty="0"/>
          </a:p>
        </p:txBody>
      </p:sp>
      <p:sp>
        <p:nvSpPr>
          <p:cNvPr id="17" name="Text 13"/>
          <p:cNvSpPr/>
          <p:nvPr/>
        </p:nvSpPr>
        <p:spPr>
          <a:xfrm>
            <a:off x="804672" y="4261104"/>
            <a:ext cx="3081528" cy="731520"/>
          </a:xfrm>
          <a:prstGeom prst="rect">
            <a:avLst/>
          </a:prstGeom>
          <a:noFill/>
          <a:ln/>
        </p:spPr>
        <p:txBody>
          <a:bodyPr wrap="square" lIns="0" tIns="0" rIns="0" bIns="0" rtlCol="0" anchor="t"/>
          <a:lstStyle/>
          <a:p>
            <a:pPr indent="0" marL="0">
              <a:buNone/>
            </a:pPr>
            <a:r>
              <a:rPr lang="en-US" sz="1640" dirty="0">
                <a:solidFill>
                  <a:srgbClr val="465D68"/>
                </a:solidFill>
                <a:latin typeface="Arial" pitchFamily="34" charset="0"/>
                <a:ea typeface="Arial" pitchFamily="34" charset="-122"/>
                <a:cs typeface="Arial" pitchFamily="34" charset="-120"/>
              </a:rPr>
              <a:t>Payroll records why 40 hours is correct.</a:t>
            </a:r>
            <a:endParaRPr lang="en-US" sz="1640" dirty="0"/>
          </a:p>
        </p:txBody>
      </p:sp>
      <p:sp>
        <p:nvSpPr>
          <p:cNvPr id="18" name="Shape 14"/>
          <p:cNvSpPr/>
          <p:nvPr/>
        </p:nvSpPr>
        <p:spPr>
          <a:xfrm>
            <a:off x="4343400" y="3566160"/>
            <a:ext cx="3502152" cy="1591056"/>
          </a:xfrm>
          <a:prstGeom prst="roundRect">
            <a:avLst>
              <a:gd name="adj" fmla="val 9195"/>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19" name="Shape 15"/>
          <p:cNvSpPr/>
          <p:nvPr/>
        </p:nvSpPr>
        <p:spPr>
          <a:xfrm>
            <a:off x="4553712" y="3762756"/>
            <a:ext cx="310896" cy="310896"/>
          </a:xfrm>
          <a:prstGeom prst="ellipse">
            <a:avLst/>
          </a:prstGeom>
          <a:solidFill>
            <a:srgbClr val="EAF5F4"/>
          </a:solidFill>
          <a:ln w="12700">
            <a:solidFill>
              <a:srgbClr val="EAF5F4"/>
            </a:solidFill>
            <a:prstDash val="solid"/>
          </a:ln>
        </p:spPr>
      </p:sp>
      <p:sp>
        <p:nvSpPr>
          <p:cNvPr id="20" name="Text 16"/>
          <p:cNvSpPr/>
          <p:nvPr/>
        </p:nvSpPr>
        <p:spPr>
          <a:xfrm>
            <a:off x="4553712" y="3799332"/>
            <a:ext cx="310896" cy="292608"/>
          </a:xfrm>
          <a:prstGeom prst="rect">
            <a:avLst/>
          </a:prstGeom>
          <a:noFill/>
          <a:ln/>
        </p:spPr>
        <p:txBody>
          <a:bodyPr wrap="square" lIns="0" tIns="0" rIns="0" bIns="0" rtlCol="0" anchor="t"/>
          <a:lstStyle/>
          <a:p>
            <a:pPr algn="ctr" indent="0" marL="0">
              <a:buNone/>
            </a:pPr>
            <a:r>
              <a:rPr lang="en-US" sz="1320" b="1" dirty="0">
                <a:solidFill>
                  <a:srgbClr val="465D68"/>
                </a:solidFill>
                <a:latin typeface="Arial" pitchFamily="34" charset="0"/>
                <a:ea typeface="Arial" pitchFamily="34" charset="-122"/>
                <a:cs typeface="Arial" pitchFamily="34" charset="-120"/>
              </a:rPr>
              <a:t>2</a:t>
            </a:r>
            <a:endParaRPr lang="en-US" sz="1320" dirty="0"/>
          </a:p>
        </p:txBody>
      </p:sp>
      <p:sp>
        <p:nvSpPr>
          <p:cNvPr id="21" name="Text 17"/>
          <p:cNvSpPr/>
          <p:nvPr/>
        </p:nvSpPr>
        <p:spPr>
          <a:xfrm>
            <a:off x="4992624" y="3776472"/>
            <a:ext cx="2651760" cy="475488"/>
          </a:xfrm>
          <a:prstGeom prst="rect">
            <a:avLst/>
          </a:prstGeom>
          <a:noFill/>
          <a:ln/>
        </p:spPr>
        <p:txBody>
          <a:bodyPr wrap="square" lIns="0" tIns="0" rIns="0" bIns="0" rtlCol="0" anchor="t"/>
          <a:lstStyle/>
          <a:p>
            <a:pPr indent="0" marL="0">
              <a:buNone/>
            </a:pPr>
            <a:r>
              <a:rPr lang="en-US" sz="1800" b="1" dirty="0">
                <a:solidFill>
                  <a:srgbClr val="233F4C"/>
                </a:solidFill>
                <a:latin typeface="Arial" pitchFamily="34" charset="0"/>
                <a:ea typeface="Arial" pitchFamily="34" charset="-122"/>
                <a:cs typeface="Arial" pitchFamily="34" charset="-120"/>
              </a:rPr>
              <a:t>Correct in Paylocity</a:t>
            </a:r>
            <a:endParaRPr lang="en-US" sz="1800" dirty="0"/>
          </a:p>
        </p:txBody>
      </p:sp>
      <p:sp>
        <p:nvSpPr>
          <p:cNvPr id="22" name="Text 18"/>
          <p:cNvSpPr/>
          <p:nvPr/>
        </p:nvSpPr>
        <p:spPr>
          <a:xfrm>
            <a:off x="4553712" y="4261104"/>
            <a:ext cx="3081528" cy="731520"/>
          </a:xfrm>
          <a:prstGeom prst="rect">
            <a:avLst/>
          </a:prstGeom>
          <a:noFill/>
          <a:ln/>
        </p:spPr>
        <p:txBody>
          <a:bodyPr wrap="square" lIns="0" tIns="0" rIns="0" bIns="0" rtlCol="0" anchor="t"/>
          <a:lstStyle/>
          <a:p>
            <a:pPr indent="0" marL="0">
              <a:buNone/>
            </a:pPr>
            <a:r>
              <a:rPr lang="en-US" sz="1640" dirty="0">
                <a:solidFill>
                  <a:srgbClr val="465D68"/>
                </a:solidFill>
                <a:latin typeface="Arial" pitchFamily="34" charset="0"/>
                <a:ea typeface="Arial" pitchFamily="34" charset="-122"/>
                <a:cs typeface="Arial" pitchFamily="34" charset="-120"/>
              </a:rPr>
              <a:t>The demo simulates the manual update. Verification is still pending.</a:t>
            </a:r>
            <a:endParaRPr lang="en-US" sz="1640" dirty="0"/>
          </a:p>
        </p:txBody>
      </p:sp>
      <p:sp>
        <p:nvSpPr>
          <p:cNvPr id="23" name="Shape 19"/>
          <p:cNvSpPr/>
          <p:nvPr/>
        </p:nvSpPr>
        <p:spPr>
          <a:xfrm>
            <a:off x="8092440" y="3566160"/>
            <a:ext cx="3502152" cy="1591056"/>
          </a:xfrm>
          <a:prstGeom prst="roundRect">
            <a:avLst>
              <a:gd name="adj" fmla="val 9195"/>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24" name="Shape 20"/>
          <p:cNvSpPr/>
          <p:nvPr/>
        </p:nvSpPr>
        <p:spPr>
          <a:xfrm>
            <a:off x="8302752" y="3762756"/>
            <a:ext cx="310896" cy="310896"/>
          </a:xfrm>
          <a:prstGeom prst="ellipse">
            <a:avLst/>
          </a:prstGeom>
          <a:solidFill>
            <a:srgbClr val="EAF5F4"/>
          </a:solidFill>
          <a:ln w="12700">
            <a:solidFill>
              <a:srgbClr val="EAF5F4"/>
            </a:solidFill>
            <a:prstDash val="solid"/>
          </a:ln>
        </p:spPr>
      </p:sp>
      <p:sp>
        <p:nvSpPr>
          <p:cNvPr id="25" name="Text 21"/>
          <p:cNvSpPr/>
          <p:nvPr/>
        </p:nvSpPr>
        <p:spPr>
          <a:xfrm>
            <a:off x="8302752" y="3799332"/>
            <a:ext cx="310896" cy="292608"/>
          </a:xfrm>
          <a:prstGeom prst="rect">
            <a:avLst/>
          </a:prstGeom>
          <a:noFill/>
          <a:ln/>
        </p:spPr>
        <p:txBody>
          <a:bodyPr wrap="square" lIns="0" tIns="0" rIns="0" bIns="0" rtlCol="0" anchor="t"/>
          <a:lstStyle/>
          <a:p>
            <a:pPr algn="ctr" indent="0" marL="0">
              <a:buNone/>
            </a:pPr>
            <a:r>
              <a:rPr lang="en-US" sz="1320" b="1" dirty="0">
                <a:solidFill>
                  <a:srgbClr val="465D68"/>
                </a:solidFill>
                <a:latin typeface="Arial" pitchFamily="34" charset="0"/>
                <a:ea typeface="Arial" pitchFamily="34" charset="-122"/>
                <a:cs typeface="Arial" pitchFamily="34" charset="-120"/>
              </a:rPr>
              <a:t>3</a:t>
            </a:r>
            <a:endParaRPr lang="en-US" sz="1320" dirty="0"/>
          </a:p>
        </p:txBody>
      </p:sp>
      <p:sp>
        <p:nvSpPr>
          <p:cNvPr id="26" name="Text 22"/>
          <p:cNvSpPr/>
          <p:nvPr/>
        </p:nvSpPr>
        <p:spPr>
          <a:xfrm>
            <a:off x="8741664" y="3776472"/>
            <a:ext cx="2651760" cy="475488"/>
          </a:xfrm>
          <a:prstGeom prst="rect">
            <a:avLst/>
          </a:prstGeom>
          <a:noFill/>
          <a:ln/>
        </p:spPr>
        <p:txBody>
          <a:bodyPr wrap="square" lIns="0" tIns="0" rIns="0" bIns="0" rtlCol="0" anchor="t"/>
          <a:lstStyle/>
          <a:p>
            <a:pPr indent="0" marL="0">
              <a:buNone/>
            </a:pPr>
            <a:r>
              <a:rPr lang="en-US" sz="1800" b="1" dirty="0">
                <a:solidFill>
                  <a:srgbClr val="233F4C"/>
                </a:solidFill>
                <a:latin typeface="Arial" pitchFamily="34" charset="0"/>
                <a:ea typeface="Arial" pitchFamily="34" charset="-122"/>
                <a:cs typeface="Arial" pitchFamily="34" charset="-120"/>
              </a:rPr>
              <a:t>Read and verify</a:t>
            </a:r>
            <a:endParaRPr lang="en-US" sz="1800" dirty="0"/>
          </a:p>
        </p:txBody>
      </p:sp>
      <p:sp>
        <p:nvSpPr>
          <p:cNvPr id="27" name="Text 23"/>
          <p:cNvSpPr/>
          <p:nvPr/>
        </p:nvSpPr>
        <p:spPr>
          <a:xfrm>
            <a:off x="8302752" y="4261104"/>
            <a:ext cx="3081528" cy="731520"/>
          </a:xfrm>
          <a:prstGeom prst="rect">
            <a:avLst/>
          </a:prstGeom>
          <a:noFill/>
          <a:ln/>
        </p:spPr>
        <p:txBody>
          <a:bodyPr wrap="square" lIns="0" tIns="0" rIns="0" bIns="0" rtlCol="0" anchor="t"/>
          <a:lstStyle/>
          <a:p>
            <a:pPr indent="0" marL="0">
              <a:buNone/>
            </a:pPr>
            <a:r>
              <a:rPr lang="en-US" sz="1640" dirty="0">
                <a:solidFill>
                  <a:srgbClr val="465D68"/>
                </a:solidFill>
                <a:latin typeface="Arial" pitchFamily="34" charset="0"/>
                <a:ea typeface="Arial" pitchFamily="34" charset="-122"/>
                <a:cs typeface="Arial" pitchFamily="34" charset="-120"/>
              </a:rPr>
              <a:t>The new record shows 40 hours. Only this comparison passes.</a:t>
            </a:r>
            <a:endParaRPr lang="en-US" sz="1640" dirty="0"/>
          </a:p>
        </p:txBody>
      </p:sp>
      <p:sp>
        <p:nvSpPr>
          <p:cNvPr id="28" name="Shape 24"/>
          <p:cNvSpPr/>
          <p:nvPr/>
        </p:nvSpPr>
        <p:spPr>
          <a:xfrm>
            <a:off x="594360" y="5522976"/>
            <a:ext cx="11009376" cy="768096"/>
          </a:xfrm>
          <a:prstGeom prst="roundRect">
            <a:avLst>
              <a:gd name="adj" fmla="val 19048"/>
            </a:avLst>
          </a:prstGeom>
          <a:solidFill>
            <a:srgbClr val="EDF8F1"/>
          </a:solidFill>
          <a:ln w="9525">
            <a:solidFill>
              <a:srgbClr val="A4CCB9"/>
            </a:solidFill>
            <a:prstDash val="solid"/>
          </a:ln>
        </p:spPr>
      </p:sp>
      <p:sp>
        <p:nvSpPr>
          <p:cNvPr id="29" name="Text 25"/>
          <p:cNvSpPr/>
          <p:nvPr/>
        </p:nvSpPr>
        <p:spPr>
          <a:xfrm>
            <a:off x="841248" y="5724144"/>
            <a:ext cx="3474720" cy="320040"/>
          </a:xfrm>
          <a:prstGeom prst="rect">
            <a:avLst/>
          </a:prstGeom>
          <a:noFill/>
          <a:ln/>
        </p:spPr>
        <p:txBody>
          <a:bodyPr wrap="square" lIns="0" tIns="0" rIns="0" bIns="0" rtlCol="0" anchor="t"/>
          <a:lstStyle/>
          <a:p>
            <a:pPr indent="0" marL="0">
              <a:buNone/>
            </a:pPr>
            <a:r>
              <a:rPr lang="en-US" sz="2200" b="1" dirty="0">
                <a:solidFill>
                  <a:srgbClr val="287B5B"/>
                </a:solidFill>
                <a:latin typeface="Arial" pitchFamily="34" charset="0"/>
                <a:ea typeface="Arial" pitchFamily="34" charset="-122"/>
                <a:cs typeface="Arial" pitchFamily="34" charset="-120"/>
              </a:rPr>
              <a:t>7 → 6 open issues</a:t>
            </a:r>
            <a:endParaRPr lang="en-US" sz="2200" dirty="0"/>
          </a:p>
        </p:txBody>
      </p:sp>
      <p:sp>
        <p:nvSpPr>
          <p:cNvPr id="30" name="Text 26"/>
          <p:cNvSpPr/>
          <p:nvPr/>
        </p:nvSpPr>
        <p:spPr>
          <a:xfrm>
            <a:off x="4443984" y="5705856"/>
            <a:ext cx="6784848" cy="365760"/>
          </a:xfrm>
          <a:prstGeom prst="rect">
            <a:avLst/>
          </a:prstGeom>
          <a:noFill/>
          <a:ln/>
        </p:spPr>
        <p:txBody>
          <a:bodyPr wrap="square" lIns="0" tIns="0" rIns="0" bIns="0" rtlCol="0" anchor="t"/>
          <a:lstStyle/>
          <a:p>
            <a:pPr indent="0" marL="0">
              <a:buNone/>
            </a:pPr>
            <a:r>
              <a:rPr lang="en-US" sz="1720" dirty="0">
                <a:solidFill>
                  <a:srgbClr val="465D68"/>
                </a:solidFill>
                <a:latin typeface="Arial" pitchFamily="34" charset="0"/>
                <a:ea typeface="Arial" pitchFamily="34" charset="-122"/>
                <a:cs typeface="Arial" pitchFamily="34" charset="-120"/>
              </a:rPr>
              <a:t>Other issues stay open. Payroll has not been approved or submitted.</a:t>
            </a:r>
            <a:endParaRPr lang="en-US" sz="17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AFC"/>
        </a:solidFill>
      </p:bgPr>
    </p:bg>
    <p:spTree>
      <p:nvGrpSpPr>
        <p:cNvPr id="1" name=""/>
        <p:cNvGrpSpPr/>
        <p:nvPr/>
      </p:nvGrpSpPr>
      <p:grpSpPr>
        <a:xfrm>
          <a:off x="0" y="0"/>
          <a:ext cx="0" cy="0"/>
          <a:chOff x="0" y="0"/>
          <a:chExt cx="0" cy="0"/>
        </a:xfrm>
      </p:grpSpPr>
      <p:sp>
        <p:nvSpPr>
          <p:cNvPr id="2" name="Shape 0"/>
          <p:cNvSpPr/>
          <p:nvPr/>
        </p:nvSpPr>
        <p:spPr>
          <a:xfrm>
            <a:off x="0" y="0"/>
            <a:ext cx="12192000" cy="41148"/>
          </a:xfrm>
          <a:prstGeom prst="rect">
            <a:avLst/>
          </a:prstGeom>
          <a:solidFill>
            <a:srgbClr val="87B7B2"/>
          </a:solidFill>
          <a:ln w="12700">
            <a:solidFill>
              <a:srgbClr val="87B7B2">
                <a:alpha val="0"/>
              </a:srgbClr>
            </a:solidFill>
            <a:prstDash val="solid"/>
          </a:ln>
        </p:spPr>
      </p:sp>
      <p:sp>
        <p:nvSpPr>
          <p:cNvPr id="3" name="Text 1"/>
          <p:cNvSpPr/>
          <p:nvPr/>
        </p:nvSpPr>
        <p:spPr>
          <a:xfrm>
            <a:off x="585216" y="246888"/>
            <a:ext cx="10972800" cy="201168"/>
          </a:xfrm>
          <a:prstGeom prst="rect">
            <a:avLst/>
          </a:prstGeom>
          <a:noFill/>
          <a:ln/>
        </p:spPr>
        <p:txBody>
          <a:bodyPr wrap="square" lIns="0" tIns="0" rIns="0" bIns="0" rtlCol="0" anchor="t"/>
          <a:lstStyle/>
          <a:p>
            <a:pPr indent="0" marL="0">
              <a:buNone/>
            </a:pPr>
            <a:r>
              <a:rPr lang="en-US" sz="1000" b="1" dirty="0">
                <a:solidFill>
                  <a:srgbClr val="317F7B"/>
                </a:solidFill>
                <a:latin typeface="Arial" pitchFamily="34" charset="0"/>
                <a:ea typeface="Arial" pitchFamily="34" charset="-122"/>
                <a:cs typeface="Arial" pitchFamily="34" charset="-120"/>
              </a:rPr>
              <a:t>In summary: who does what?</a:t>
            </a:r>
            <a:endParaRPr lang="en-US" sz="1000" dirty="0"/>
          </a:p>
        </p:txBody>
      </p:sp>
      <p:sp>
        <p:nvSpPr>
          <p:cNvPr id="4" name="Text 2"/>
          <p:cNvSpPr/>
          <p:nvPr/>
        </p:nvSpPr>
        <p:spPr>
          <a:xfrm>
            <a:off x="585216" y="658368"/>
            <a:ext cx="11027664" cy="594360"/>
          </a:xfrm>
          <a:prstGeom prst="rect">
            <a:avLst/>
          </a:prstGeom>
          <a:noFill/>
          <a:ln/>
        </p:spPr>
        <p:txBody>
          <a:bodyPr wrap="square" lIns="0" tIns="0" rIns="0" bIns="0" rtlCol="0" anchor="t"/>
          <a:lstStyle/>
          <a:p>
            <a:pPr indent="0" marL="0">
              <a:buNone/>
            </a:pPr>
            <a:r>
              <a:rPr lang="en-US" sz="2800" b="1" dirty="0">
                <a:solidFill>
                  <a:srgbClr val="233F4C"/>
                </a:solidFill>
                <a:latin typeface="Arial" pitchFamily="34" charset="0"/>
                <a:ea typeface="Arial" pitchFamily="34" charset="-122"/>
                <a:cs typeface="Arial" pitchFamily="34" charset="-120"/>
              </a:rPr>
              <a:t>The tool handles repetition. Payroll keeps judgment.</a:t>
            </a:r>
            <a:endParaRPr lang="en-US" sz="2800" dirty="0"/>
          </a:p>
        </p:txBody>
      </p:sp>
      <p:sp>
        <p:nvSpPr>
          <p:cNvPr id="5" name="Text 3"/>
          <p:cNvSpPr/>
          <p:nvPr/>
        </p:nvSpPr>
        <p:spPr>
          <a:xfrm>
            <a:off x="594360" y="1307592"/>
            <a:ext cx="10945368" cy="530352"/>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The first release helps people investigate. Corrections still happen in the existing applications.</a:t>
            </a:r>
            <a:endParaRPr lang="en-US" sz="1660" dirty="0"/>
          </a:p>
        </p:txBody>
      </p:sp>
      <p:sp>
        <p:nvSpPr>
          <p:cNvPr id="6" name="Shape 4"/>
          <p:cNvSpPr/>
          <p:nvPr/>
        </p:nvSpPr>
        <p:spPr>
          <a:xfrm>
            <a:off x="585216" y="6510528"/>
            <a:ext cx="11018520" cy="0"/>
          </a:xfrm>
          <a:prstGeom prst="line">
            <a:avLst/>
          </a:prstGeom>
          <a:noFill/>
          <a:ln w="10160">
            <a:solidFill>
              <a:srgbClr val="DCE6E9"/>
            </a:solidFill>
            <a:prstDash val="solid"/>
          </a:ln>
        </p:spPr>
      </p:sp>
      <p:sp>
        <p:nvSpPr>
          <p:cNvPr id="7" name="Text 5"/>
          <p:cNvSpPr/>
          <p:nvPr/>
        </p:nvSpPr>
        <p:spPr>
          <a:xfrm>
            <a:off x="594360" y="6611112"/>
            <a:ext cx="3749040" cy="164592"/>
          </a:xfrm>
          <a:prstGeom prst="rect">
            <a:avLst/>
          </a:prstGeom>
          <a:noFill/>
          <a:ln/>
        </p:spPr>
        <p:txBody>
          <a:bodyPr wrap="square" lIns="0" tIns="0" rIns="0" bIns="0" rtlCol="0" anchor="t"/>
          <a:lstStyle/>
          <a:p>
            <a:pPr indent="0" marL="0">
              <a:buNone/>
            </a:pPr>
            <a:r>
              <a:rPr lang="en-US" sz="820" dirty="0">
                <a:solidFill>
                  <a:srgbClr val="69808A"/>
                </a:solidFill>
                <a:latin typeface="Arial" pitchFamily="34" charset="0"/>
                <a:ea typeface="Arial" pitchFamily="34" charset="-122"/>
                <a:cs typeface="Arial" pitchFamily="34" charset="-120"/>
              </a:rPr>
              <a:t>Komlan Kouhiko  /  B&amp;S payroll proposal</a:t>
            </a:r>
            <a:endParaRPr lang="en-US" sz="820" dirty="0"/>
          </a:p>
        </p:txBody>
      </p:sp>
      <p:sp>
        <p:nvSpPr>
          <p:cNvPr id="8" name="Text 6"/>
          <p:cNvSpPr/>
          <p:nvPr/>
        </p:nvSpPr>
        <p:spPr>
          <a:xfrm>
            <a:off x="4023360" y="6611112"/>
            <a:ext cx="6903720" cy="164592"/>
          </a:xfrm>
          <a:prstGeom prst="rect">
            <a:avLst/>
          </a:prstGeom>
          <a:noFill/>
          <a:ln/>
        </p:spPr>
        <p:txBody>
          <a:bodyPr wrap="square" lIns="0" tIns="0" rIns="0" bIns="0" rtlCol="0" anchor="t"/>
          <a:lstStyle/>
          <a:p>
            <a:pPr algn="r" indent="0" marL="0">
              <a:buNone/>
            </a:pPr>
            <a:r>
              <a:rPr lang="en-US" sz="805" dirty="0">
                <a:solidFill>
                  <a:srgbClr val="69808A"/>
                </a:solidFill>
                <a:latin typeface="Arial" pitchFamily="34" charset="0"/>
                <a:ea typeface="Arial" pitchFamily="34" charset="-122"/>
                <a:cs typeface="Arial" pitchFamily="34" charset="-120"/>
              </a:rPr>
              <a:t>[S1] pp. 6, 20–22, 28–33, 53–61 • Proposed responsibilities</a:t>
            </a:r>
            <a:endParaRPr lang="en-US" sz="805" dirty="0"/>
          </a:p>
        </p:txBody>
      </p:sp>
      <p:sp>
        <p:nvSpPr>
          <p:cNvPr id="9" name="Text 7"/>
          <p:cNvSpPr/>
          <p:nvPr/>
        </p:nvSpPr>
        <p:spPr>
          <a:xfrm>
            <a:off x="11100816" y="6592824"/>
            <a:ext cx="502920" cy="201168"/>
          </a:xfrm>
          <a:prstGeom prst="rect">
            <a:avLst/>
          </a:prstGeom>
          <a:noFill/>
          <a:ln/>
        </p:spPr>
        <p:txBody>
          <a:bodyPr wrap="square" lIns="0" tIns="0" rIns="0" bIns="0" rtlCol="0" anchor="t"/>
          <a:lstStyle/>
          <a:p>
            <a:pPr algn="r" indent="0" marL="0">
              <a:buNone/>
            </a:pPr>
            <a:r>
              <a:rPr lang="en-US" sz="920" dirty="0">
                <a:solidFill>
                  <a:srgbClr val="69808A"/>
                </a:solidFill>
                <a:latin typeface="Arial" pitchFamily="34" charset="0"/>
                <a:ea typeface="Arial" pitchFamily="34" charset="-122"/>
                <a:cs typeface="Arial" pitchFamily="34" charset="-120"/>
              </a:rPr>
              <a:t>12 / 19</a:t>
            </a:r>
            <a:endParaRPr lang="en-US" sz="920" dirty="0"/>
          </a:p>
        </p:txBody>
      </p:sp>
      <p:sp>
        <p:nvSpPr>
          <p:cNvPr id="11" name="Shape 8"/>
          <p:cNvSpPr/>
          <p:nvPr/>
        </p:nvSpPr>
        <p:spPr>
          <a:xfrm>
            <a:off x="603504" y="2002536"/>
            <a:ext cx="5330952" cy="3575304"/>
          </a:xfrm>
          <a:prstGeom prst="roundRect">
            <a:avLst>
              <a:gd name="adj" fmla="val 4092"/>
            </a:avLst>
          </a:prstGeom>
          <a:solidFill>
            <a:srgbClr val="EAF5F4"/>
          </a:solidFill>
          <a:ln w="9525">
            <a:solidFill>
              <a:srgbClr val="87B7B2"/>
            </a:solidFill>
            <a:prstDash val="solid"/>
          </a:ln>
          <a:effectLst>
            <a:outerShdw sx="100000" sy="100000" kx="0" ky="0" algn="bl" rotWithShape="0" blurRad="27940" dist="13970" dir="5400000">
              <a:srgbClr val="90A3AB">
                <a:alpha val="10000"/>
              </a:srgbClr>
            </a:outerShdw>
          </a:effectLst>
        </p:spPr>
      </p:sp>
      <p:sp>
        <p:nvSpPr>
          <p:cNvPr id="12" name="Shape 9"/>
          <p:cNvSpPr/>
          <p:nvPr/>
        </p:nvSpPr>
        <p:spPr>
          <a:xfrm>
            <a:off x="6208776" y="2002536"/>
            <a:ext cx="5330952" cy="3575304"/>
          </a:xfrm>
          <a:prstGeom prst="roundRect">
            <a:avLst>
              <a:gd name="adj" fmla="val 4092"/>
            </a:avLst>
          </a:prstGeom>
          <a:solidFill>
            <a:srgbClr val="EDF8F1"/>
          </a:solidFill>
          <a:ln w="9525">
            <a:solidFill>
              <a:srgbClr val="A4CCB9"/>
            </a:solidFill>
            <a:prstDash val="solid"/>
          </a:ln>
          <a:effectLst>
            <a:outerShdw sx="100000" sy="100000" kx="0" ky="0" algn="bl" rotWithShape="0" blurRad="27940" dist="13970" dir="5400000">
              <a:srgbClr val="90A3AB">
                <a:alpha val="10000"/>
              </a:srgbClr>
            </a:outerShdw>
          </a:effectLst>
        </p:spPr>
      </p:sp>
      <p:sp>
        <p:nvSpPr>
          <p:cNvPr id="13" name="Text 10"/>
          <p:cNvSpPr/>
          <p:nvPr/>
        </p:nvSpPr>
        <p:spPr>
          <a:xfrm>
            <a:off x="841248" y="2249424"/>
            <a:ext cx="4800600" cy="384048"/>
          </a:xfrm>
          <a:prstGeom prst="rect">
            <a:avLst/>
          </a:prstGeom>
          <a:noFill/>
          <a:ln/>
        </p:spPr>
        <p:txBody>
          <a:bodyPr wrap="square" lIns="0" tIns="0" rIns="0" bIns="0" rtlCol="0" anchor="t"/>
          <a:lstStyle/>
          <a:p>
            <a:pPr indent="0" marL="0">
              <a:buNone/>
            </a:pPr>
            <a:r>
              <a:rPr lang="en-US" sz="2000" b="1" dirty="0">
                <a:solidFill>
                  <a:srgbClr val="317F7B"/>
                </a:solidFill>
                <a:latin typeface="Arial" pitchFamily="34" charset="0"/>
                <a:ea typeface="Arial" pitchFamily="34" charset="-122"/>
                <a:cs typeface="Arial" pitchFamily="34" charset="-120"/>
              </a:rPr>
              <a:t>The tool would handle</a:t>
            </a:r>
            <a:endParaRPr lang="en-US" sz="2000" dirty="0"/>
          </a:p>
        </p:txBody>
      </p:sp>
      <p:sp>
        <p:nvSpPr>
          <p:cNvPr id="14" name="Text 11"/>
          <p:cNvSpPr/>
          <p:nvPr/>
        </p:nvSpPr>
        <p:spPr>
          <a:xfrm>
            <a:off x="6446520" y="2249424"/>
            <a:ext cx="4773168" cy="384048"/>
          </a:xfrm>
          <a:prstGeom prst="rect">
            <a:avLst/>
          </a:prstGeom>
          <a:noFill/>
          <a:ln/>
        </p:spPr>
        <p:txBody>
          <a:bodyPr wrap="square" lIns="0" tIns="0" rIns="0" bIns="0" rtlCol="0" anchor="t"/>
          <a:lstStyle/>
          <a:p>
            <a:pPr indent="0" marL="0">
              <a:buNone/>
            </a:pPr>
            <a:r>
              <a:rPr lang="en-US" sz="2000" b="1" dirty="0">
                <a:solidFill>
                  <a:srgbClr val="287B5B"/>
                </a:solidFill>
                <a:latin typeface="Arial" pitchFamily="34" charset="0"/>
                <a:ea typeface="Arial" pitchFamily="34" charset="-122"/>
                <a:cs typeface="Arial" pitchFamily="34" charset="-120"/>
              </a:rPr>
              <a:t>Payroll / Finance would keep</a:t>
            </a:r>
            <a:endParaRPr lang="en-US" sz="2000" dirty="0"/>
          </a:p>
        </p:txBody>
      </p:sp>
      <p:sp>
        <p:nvSpPr>
          <p:cNvPr id="15" name="Shape 12"/>
          <p:cNvSpPr/>
          <p:nvPr/>
        </p:nvSpPr>
        <p:spPr>
          <a:xfrm>
            <a:off x="841248" y="2907792"/>
            <a:ext cx="137160" cy="137160"/>
          </a:xfrm>
          <a:prstGeom prst="ellipse">
            <a:avLst/>
          </a:prstGeom>
          <a:solidFill>
            <a:srgbClr val="FFFFFF"/>
          </a:solidFill>
          <a:ln w="12700">
            <a:solidFill>
              <a:srgbClr val="FFFFFF"/>
            </a:solidFill>
            <a:prstDash val="solid"/>
          </a:ln>
        </p:spPr>
      </p:sp>
      <p:sp>
        <p:nvSpPr>
          <p:cNvPr id="16" name="Text 13"/>
          <p:cNvSpPr/>
          <p:nvPr/>
        </p:nvSpPr>
        <p:spPr>
          <a:xfrm>
            <a:off x="841248" y="2944368"/>
            <a:ext cx="137160" cy="118872"/>
          </a:xfrm>
          <a:prstGeom prst="rect">
            <a:avLst/>
          </a:prstGeom>
          <a:noFill/>
          <a:ln/>
        </p:spPr>
        <p:txBody>
          <a:bodyPr wrap="square" lIns="0" tIns="0" rIns="0" bIns="0" rtlCol="0" anchor="t"/>
          <a:lstStyle/>
          <a:p>
            <a:pPr algn="ctr" indent="0" marL="0">
              <a:buNone/>
            </a:pPr>
            <a:endParaRPr lang="en-US" sz="1320" dirty="0"/>
          </a:p>
        </p:txBody>
      </p:sp>
      <p:sp>
        <p:nvSpPr>
          <p:cNvPr id="17" name="Text 14"/>
          <p:cNvSpPr/>
          <p:nvPr/>
        </p:nvSpPr>
        <p:spPr>
          <a:xfrm>
            <a:off x="1115568" y="2862072"/>
            <a:ext cx="4480560" cy="393192"/>
          </a:xfrm>
          <a:prstGeom prst="rect">
            <a:avLst/>
          </a:prstGeom>
          <a:noFill/>
          <a:ln/>
        </p:spPr>
        <p:txBody>
          <a:bodyPr wrap="square" lIns="0" tIns="0" rIns="0" bIns="0" rtlCol="0" anchor="t"/>
          <a:lstStyle/>
          <a:p>
            <a:pPr indent="0" marL="0">
              <a:buNone/>
            </a:pPr>
            <a:r>
              <a:rPr lang="en-US" sz="1680" dirty="0">
                <a:solidFill>
                  <a:srgbClr val="465D68"/>
                </a:solidFill>
                <a:latin typeface="Arial" pitchFamily="34" charset="0"/>
                <a:ea typeface="Arial" pitchFamily="34" charset="-122"/>
                <a:cs typeface="Arial" pitchFamily="34" charset="-120"/>
              </a:rPr>
              <a:t>Bring available records into one view</a:t>
            </a:r>
            <a:endParaRPr lang="en-US" sz="1680" dirty="0"/>
          </a:p>
        </p:txBody>
      </p:sp>
      <p:sp>
        <p:nvSpPr>
          <p:cNvPr id="18" name="Shape 15"/>
          <p:cNvSpPr/>
          <p:nvPr/>
        </p:nvSpPr>
        <p:spPr>
          <a:xfrm>
            <a:off x="841248" y="3355848"/>
            <a:ext cx="137160" cy="137160"/>
          </a:xfrm>
          <a:prstGeom prst="ellipse">
            <a:avLst/>
          </a:prstGeom>
          <a:solidFill>
            <a:srgbClr val="FFFFFF"/>
          </a:solidFill>
          <a:ln w="12700">
            <a:solidFill>
              <a:srgbClr val="FFFFFF"/>
            </a:solidFill>
            <a:prstDash val="solid"/>
          </a:ln>
        </p:spPr>
      </p:sp>
      <p:sp>
        <p:nvSpPr>
          <p:cNvPr id="19" name="Text 16"/>
          <p:cNvSpPr/>
          <p:nvPr/>
        </p:nvSpPr>
        <p:spPr>
          <a:xfrm>
            <a:off x="841248" y="3392424"/>
            <a:ext cx="137160" cy="118872"/>
          </a:xfrm>
          <a:prstGeom prst="rect">
            <a:avLst/>
          </a:prstGeom>
          <a:noFill/>
          <a:ln/>
        </p:spPr>
        <p:txBody>
          <a:bodyPr wrap="square" lIns="0" tIns="0" rIns="0" bIns="0" rtlCol="0" anchor="t"/>
          <a:lstStyle/>
          <a:p>
            <a:pPr algn="ctr" indent="0" marL="0">
              <a:buNone/>
            </a:pPr>
            <a:endParaRPr lang="en-US" sz="1320" dirty="0"/>
          </a:p>
        </p:txBody>
      </p:sp>
      <p:sp>
        <p:nvSpPr>
          <p:cNvPr id="20" name="Text 17"/>
          <p:cNvSpPr/>
          <p:nvPr/>
        </p:nvSpPr>
        <p:spPr>
          <a:xfrm>
            <a:off x="1115568" y="3310128"/>
            <a:ext cx="4480560" cy="393192"/>
          </a:xfrm>
          <a:prstGeom prst="rect">
            <a:avLst/>
          </a:prstGeom>
          <a:noFill/>
          <a:ln/>
        </p:spPr>
        <p:txBody>
          <a:bodyPr wrap="square" lIns="0" tIns="0" rIns="0" bIns="0" rtlCol="0" anchor="t"/>
          <a:lstStyle/>
          <a:p>
            <a:pPr indent="0" marL="0">
              <a:buNone/>
            </a:pPr>
            <a:r>
              <a:rPr lang="en-US" sz="1680" dirty="0">
                <a:solidFill>
                  <a:srgbClr val="465D68"/>
                </a:solidFill>
                <a:latin typeface="Arial" pitchFamily="34" charset="0"/>
                <a:ea typeface="Arial" pitchFamily="34" charset="-122"/>
                <a:cs typeface="Arial" pitchFamily="34" charset="-120"/>
              </a:rPr>
              <a:t>Run the agreed employee-level checks</a:t>
            </a:r>
            <a:endParaRPr lang="en-US" sz="1680" dirty="0"/>
          </a:p>
        </p:txBody>
      </p:sp>
      <p:sp>
        <p:nvSpPr>
          <p:cNvPr id="21" name="Shape 18"/>
          <p:cNvSpPr/>
          <p:nvPr/>
        </p:nvSpPr>
        <p:spPr>
          <a:xfrm>
            <a:off x="841248" y="3803904"/>
            <a:ext cx="137160" cy="137160"/>
          </a:xfrm>
          <a:prstGeom prst="ellipse">
            <a:avLst/>
          </a:prstGeom>
          <a:solidFill>
            <a:srgbClr val="FFFFFF"/>
          </a:solidFill>
          <a:ln w="12700">
            <a:solidFill>
              <a:srgbClr val="FFFFFF"/>
            </a:solidFill>
            <a:prstDash val="solid"/>
          </a:ln>
        </p:spPr>
      </p:sp>
      <p:sp>
        <p:nvSpPr>
          <p:cNvPr id="22" name="Text 19"/>
          <p:cNvSpPr/>
          <p:nvPr/>
        </p:nvSpPr>
        <p:spPr>
          <a:xfrm>
            <a:off x="841248" y="3840480"/>
            <a:ext cx="137160" cy="118872"/>
          </a:xfrm>
          <a:prstGeom prst="rect">
            <a:avLst/>
          </a:prstGeom>
          <a:noFill/>
          <a:ln/>
        </p:spPr>
        <p:txBody>
          <a:bodyPr wrap="square" lIns="0" tIns="0" rIns="0" bIns="0" rtlCol="0" anchor="t"/>
          <a:lstStyle/>
          <a:p>
            <a:pPr algn="ctr" indent="0" marL="0">
              <a:buNone/>
            </a:pPr>
            <a:endParaRPr lang="en-US" sz="1320" dirty="0"/>
          </a:p>
        </p:txBody>
      </p:sp>
      <p:sp>
        <p:nvSpPr>
          <p:cNvPr id="23" name="Text 20"/>
          <p:cNvSpPr/>
          <p:nvPr/>
        </p:nvSpPr>
        <p:spPr>
          <a:xfrm>
            <a:off x="1115568" y="3758184"/>
            <a:ext cx="4480560" cy="393192"/>
          </a:xfrm>
          <a:prstGeom prst="rect">
            <a:avLst/>
          </a:prstGeom>
          <a:noFill/>
          <a:ln/>
        </p:spPr>
        <p:txBody>
          <a:bodyPr wrap="square" lIns="0" tIns="0" rIns="0" bIns="0" rtlCol="0" anchor="t"/>
          <a:lstStyle/>
          <a:p>
            <a:pPr indent="0" marL="0">
              <a:buNone/>
            </a:pPr>
            <a:r>
              <a:rPr lang="en-US" sz="1680" dirty="0">
                <a:solidFill>
                  <a:srgbClr val="465D68"/>
                </a:solidFill>
                <a:latin typeface="Arial" pitchFamily="34" charset="0"/>
                <a:ea typeface="Arial" pitchFamily="34" charset="-122"/>
                <a:cs typeface="Arial" pitchFamily="34" charset="-120"/>
              </a:rPr>
              <a:t>Flag missing records and differences</a:t>
            </a:r>
            <a:endParaRPr lang="en-US" sz="1680" dirty="0"/>
          </a:p>
        </p:txBody>
      </p:sp>
      <p:sp>
        <p:nvSpPr>
          <p:cNvPr id="24" name="Shape 21"/>
          <p:cNvSpPr/>
          <p:nvPr/>
        </p:nvSpPr>
        <p:spPr>
          <a:xfrm>
            <a:off x="841248" y="4251960"/>
            <a:ext cx="137160" cy="137160"/>
          </a:xfrm>
          <a:prstGeom prst="ellipse">
            <a:avLst/>
          </a:prstGeom>
          <a:solidFill>
            <a:srgbClr val="FFFFFF"/>
          </a:solidFill>
          <a:ln w="12700">
            <a:solidFill>
              <a:srgbClr val="FFFFFF"/>
            </a:solidFill>
            <a:prstDash val="solid"/>
          </a:ln>
        </p:spPr>
      </p:sp>
      <p:sp>
        <p:nvSpPr>
          <p:cNvPr id="25" name="Text 22"/>
          <p:cNvSpPr/>
          <p:nvPr/>
        </p:nvSpPr>
        <p:spPr>
          <a:xfrm>
            <a:off x="841248" y="4288536"/>
            <a:ext cx="137160" cy="118872"/>
          </a:xfrm>
          <a:prstGeom prst="rect">
            <a:avLst/>
          </a:prstGeom>
          <a:noFill/>
          <a:ln/>
        </p:spPr>
        <p:txBody>
          <a:bodyPr wrap="square" lIns="0" tIns="0" rIns="0" bIns="0" rtlCol="0" anchor="t"/>
          <a:lstStyle/>
          <a:p>
            <a:pPr algn="ctr" indent="0" marL="0">
              <a:buNone/>
            </a:pPr>
            <a:endParaRPr lang="en-US" sz="1320" dirty="0"/>
          </a:p>
        </p:txBody>
      </p:sp>
      <p:sp>
        <p:nvSpPr>
          <p:cNvPr id="26" name="Text 23"/>
          <p:cNvSpPr/>
          <p:nvPr/>
        </p:nvSpPr>
        <p:spPr>
          <a:xfrm>
            <a:off x="1115568" y="4206240"/>
            <a:ext cx="4480560" cy="393192"/>
          </a:xfrm>
          <a:prstGeom prst="rect">
            <a:avLst/>
          </a:prstGeom>
          <a:noFill/>
          <a:ln/>
        </p:spPr>
        <p:txBody>
          <a:bodyPr wrap="square" lIns="0" tIns="0" rIns="0" bIns="0" rtlCol="0" anchor="t"/>
          <a:lstStyle/>
          <a:p>
            <a:pPr indent="0" marL="0">
              <a:buNone/>
            </a:pPr>
            <a:r>
              <a:rPr lang="en-US" sz="1680" dirty="0">
                <a:solidFill>
                  <a:srgbClr val="465D68"/>
                </a:solidFill>
                <a:latin typeface="Arial" pitchFamily="34" charset="0"/>
                <a:ea typeface="Arial" pitchFamily="34" charset="-122"/>
                <a:cs typeface="Arial" pitchFamily="34" charset="-120"/>
              </a:rPr>
              <a:t>Show Trace and recheck updated records</a:t>
            </a:r>
            <a:endParaRPr lang="en-US" sz="1680" dirty="0"/>
          </a:p>
        </p:txBody>
      </p:sp>
      <p:sp>
        <p:nvSpPr>
          <p:cNvPr id="27" name="Shape 24"/>
          <p:cNvSpPr/>
          <p:nvPr/>
        </p:nvSpPr>
        <p:spPr>
          <a:xfrm>
            <a:off x="841248" y="4700016"/>
            <a:ext cx="137160" cy="137160"/>
          </a:xfrm>
          <a:prstGeom prst="ellipse">
            <a:avLst/>
          </a:prstGeom>
          <a:solidFill>
            <a:srgbClr val="FFFFFF"/>
          </a:solidFill>
          <a:ln w="12700">
            <a:solidFill>
              <a:srgbClr val="FFFFFF"/>
            </a:solidFill>
            <a:prstDash val="solid"/>
          </a:ln>
        </p:spPr>
      </p:sp>
      <p:sp>
        <p:nvSpPr>
          <p:cNvPr id="28" name="Text 25"/>
          <p:cNvSpPr/>
          <p:nvPr/>
        </p:nvSpPr>
        <p:spPr>
          <a:xfrm>
            <a:off x="841248" y="4736592"/>
            <a:ext cx="137160" cy="118872"/>
          </a:xfrm>
          <a:prstGeom prst="rect">
            <a:avLst/>
          </a:prstGeom>
          <a:noFill/>
          <a:ln/>
        </p:spPr>
        <p:txBody>
          <a:bodyPr wrap="square" lIns="0" tIns="0" rIns="0" bIns="0" rtlCol="0" anchor="t"/>
          <a:lstStyle/>
          <a:p>
            <a:pPr algn="ctr" indent="0" marL="0">
              <a:buNone/>
            </a:pPr>
            <a:endParaRPr lang="en-US" sz="1320" dirty="0"/>
          </a:p>
        </p:txBody>
      </p:sp>
      <p:sp>
        <p:nvSpPr>
          <p:cNvPr id="29" name="Text 26"/>
          <p:cNvSpPr/>
          <p:nvPr/>
        </p:nvSpPr>
        <p:spPr>
          <a:xfrm>
            <a:off x="1115568" y="4654296"/>
            <a:ext cx="4480560" cy="393192"/>
          </a:xfrm>
          <a:prstGeom prst="rect">
            <a:avLst/>
          </a:prstGeom>
          <a:noFill/>
          <a:ln/>
        </p:spPr>
        <p:txBody>
          <a:bodyPr wrap="square" lIns="0" tIns="0" rIns="0" bIns="0" rtlCol="0" anchor="t"/>
          <a:lstStyle/>
          <a:p>
            <a:pPr indent="0" marL="0">
              <a:buNone/>
            </a:pPr>
            <a:r>
              <a:rPr lang="en-US" sz="1680" dirty="0">
                <a:solidFill>
                  <a:srgbClr val="465D68"/>
                </a:solidFill>
                <a:latin typeface="Arial" pitchFamily="34" charset="0"/>
                <a:ea typeface="Arial" pitchFamily="34" charset="-122"/>
                <a:cs typeface="Arial" pitchFamily="34" charset="-120"/>
              </a:rPr>
              <a:t>Prepare the review queue and evidence packet</a:t>
            </a:r>
            <a:endParaRPr lang="en-US" sz="1680" dirty="0"/>
          </a:p>
        </p:txBody>
      </p:sp>
      <p:sp>
        <p:nvSpPr>
          <p:cNvPr id="30" name="Shape 27"/>
          <p:cNvSpPr/>
          <p:nvPr/>
        </p:nvSpPr>
        <p:spPr>
          <a:xfrm>
            <a:off x="6446520" y="2907792"/>
            <a:ext cx="137160" cy="137160"/>
          </a:xfrm>
          <a:prstGeom prst="ellipse">
            <a:avLst/>
          </a:prstGeom>
          <a:solidFill>
            <a:srgbClr val="FFFFFF"/>
          </a:solidFill>
          <a:ln w="12700">
            <a:solidFill>
              <a:srgbClr val="FFFFFF"/>
            </a:solidFill>
            <a:prstDash val="solid"/>
          </a:ln>
        </p:spPr>
      </p:sp>
      <p:sp>
        <p:nvSpPr>
          <p:cNvPr id="31" name="Text 28"/>
          <p:cNvSpPr/>
          <p:nvPr/>
        </p:nvSpPr>
        <p:spPr>
          <a:xfrm>
            <a:off x="6446520" y="2944368"/>
            <a:ext cx="137160" cy="118872"/>
          </a:xfrm>
          <a:prstGeom prst="rect">
            <a:avLst/>
          </a:prstGeom>
          <a:noFill/>
          <a:ln/>
        </p:spPr>
        <p:txBody>
          <a:bodyPr wrap="square" lIns="0" tIns="0" rIns="0" bIns="0" rtlCol="0" anchor="t"/>
          <a:lstStyle/>
          <a:p>
            <a:pPr algn="ctr" indent="0" marL="0">
              <a:buNone/>
            </a:pPr>
            <a:endParaRPr lang="en-US" sz="1320" dirty="0"/>
          </a:p>
        </p:txBody>
      </p:sp>
      <p:sp>
        <p:nvSpPr>
          <p:cNvPr id="32" name="Text 29"/>
          <p:cNvSpPr/>
          <p:nvPr/>
        </p:nvSpPr>
        <p:spPr>
          <a:xfrm>
            <a:off x="6720840" y="2862072"/>
            <a:ext cx="4480560" cy="393192"/>
          </a:xfrm>
          <a:prstGeom prst="rect">
            <a:avLst/>
          </a:prstGeom>
          <a:noFill/>
          <a:ln/>
        </p:spPr>
        <p:txBody>
          <a:bodyPr wrap="square" lIns="0" tIns="0" rIns="0" bIns="0" rtlCol="0" anchor="t"/>
          <a:lstStyle/>
          <a:p>
            <a:pPr indent="0" marL="0">
              <a:buNone/>
            </a:pPr>
            <a:r>
              <a:rPr lang="en-US" sz="1680" dirty="0">
                <a:solidFill>
                  <a:srgbClr val="465D68"/>
                </a:solidFill>
                <a:latin typeface="Arial" pitchFamily="34" charset="0"/>
                <a:ea typeface="Arial" pitchFamily="34" charset="-122"/>
                <a:cs typeface="Arial" pitchFamily="34" charset="-120"/>
              </a:rPr>
              <a:t>Decide which conflicting value is correct</a:t>
            </a:r>
            <a:endParaRPr lang="en-US" sz="1680" dirty="0"/>
          </a:p>
        </p:txBody>
      </p:sp>
      <p:sp>
        <p:nvSpPr>
          <p:cNvPr id="33" name="Shape 30"/>
          <p:cNvSpPr/>
          <p:nvPr/>
        </p:nvSpPr>
        <p:spPr>
          <a:xfrm>
            <a:off x="6446520" y="3355848"/>
            <a:ext cx="137160" cy="137160"/>
          </a:xfrm>
          <a:prstGeom prst="ellipse">
            <a:avLst/>
          </a:prstGeom>
          <a:solidFill>
            <a:srgbClr val="FFFFFF"/>
          </a:solidFill>
          <a:ln w="12700">
            <a:solidFill>
              <a:srgbClr val="FFFFFF"/>
            </a:solidFill>
            <a:prstDash val="solid"/>
          </a:ln>
        </p:spPr>
      </p:sp>
      <p:sp>
        <p:nvSpPr>
          <p:cNvPr id="34" name="Text 31"/>
          <p:cNvSpPr/>
          <p:nvPr/>
        </p:nvSpPr>
        <p:spPr>
          <a:xfrm>
            <a:off x="6446520" y="3392424"/>
            <a:ext cx="137160" cy="118872"/>
          </a:xfrm>
          <a:prstGeom prst="rect">
            <a:avLst/>
          </a:prstGeom>
          <a:noFill/>
          <a:ln/>
        </p:spPr>
        <p:txBody>
          <a:bodyPr wrap="square" lIns="0" tIns="0" rIns="0" bIns="0" rtlCol="0" anchor="t"/>
          <a:lstStyle/>
          <a:p>
            <a:pPr algn="ctr" indent="0" marL="0">
              <a:buNone/>
            </a:pPr>
            <a:endParaRPr lang="en-US" sz="1320" dirty="0"/>
          </a:p>
        </p:txBody>
      </p:sp>
      <p:sp>
        <p:nvSpPr>
          <p:cNvPr id="35" name="Text 32"/>
          <p:cNvSpPr/>
          <p:nvPr/>
        </p:nvSpPr>
        <p:spPr>
          <a:xfrm>
            <a:off x="6720840" y="3310128"/>
            <a:ext cx="4480560" cy="393192"/>
          </a:xfrm>
          <a:prstGeom prst="rect">
            <a:avLst/>
          </a:prstGeom>
          <a:noFill/>
          <a:ln/>
        </p:spPr>
        <p:txBody>
          <a:bodyPr wrap="square" lIns="0" tIns="0" rIns="0" bIns="0" rtlCol="0" anchor="t"/>
          <a:lstStyle/>
          <a:p>
            <a:pPr indent="0" marL="0">
              <a:buNone/>
            </a:pPr>
            <a:r>
              <a:rPr lang="en-US" sz="1680" dirty="0">
                <a:solidFill>
                  <a:srgbClr val="465D68"/>
                </a:solidFill>
                <a:latin typeface="Arial" pitchFamily="34" charset="0"/>
                <a:ea typeface="Arial" pitchFamily="34" charset="-122"/>
                <a:cs typeface="Arial" pitchFamily="34" charset="-120"/>
              </a:rPr>
              <a:t>Own pay, leave, per-diem and coding rules</a:t>
            </a:r>
            <a:endParaRPr lang="en-US" sz="1680" dirty="0"/>
          </a:p>
        </p:txBody>
      </p:sp>
      <p:sp>
        <p:nvSpPr>
          <p:cNvPr id="36" name="Shape 33"/>
          <p:cNvSpPr/>
          <p:nvPr/>
        </p:nvSpPr>
        <p:spPr>
          <a:xfrm>
            <a:off x="6446520" y="3803904"/>
            <a:ext cx="137160" cy="137160"/>
          </a:xfrm>
          <a:prstGeom prst="ellipse">
            <a:avLst/>
          </a:prstGeom>
          <a:solidFill>
            <a:srgbClr val="FFFFFF"/>
          </a:solidFill>
          <a:ln w="12700">
            <a:solidFill>
              <a:srgbClr val="FFFFFF"/>
            </a:solidFill>
            <a:prstDash val="solid"/>
          </a:ln>
        </p:spPr>
      </p:sp>
      <p:sp>
        <p:nvSpPr>
          <p:cNvPr id="37" name="Text 34"/>
          <p:cNvSpPr/>
          <p:nvPr/>
        </p:nvSpPr>
        <p:spPr>
          <a:xfrm>
            <a:off x="6446520" y="3840480"/>
            <a:ext cx="137160" cy="118872"/>
          </a:xfrm>
          <a:prstGeom prst="rect">
            <a:avLst/>
          </a:prstGeom>
          <a:noFill/>
          <a:ln/>
        </p:spPr>
        <p:txBody>
          <a:bodyPr wrap="square" lIns="0" tIns="0" rIns="0" bIns="0" rtlCol="0" anchor="t"/>
          <a:lstStyle/>
          <a:p>
            <a:pPr algn="ctr" indent="0" marL="0">
              <a:buNone/>
            </a:pPr>
            <a:endParaRPr lang="en-US" sz="1320" dirty="0"/>
          </a:p>
        </p:txBody>
      </p:sp>
      <p:sp>
        <p:nvSpPr>
          <p:cNvPr id="38" name="Text 35"/>
          <p:cNvSpPr/>
          <p:nvPr/>
        </p:nvSpPr>
        <p:spPr>
          <a:xfrm>
            <a:off x="6720840" y="3758184"/>
            <a:ext cx="4480560" cy="393192"/>
          </a:xfrm>
          <a:prstGeom prst="rect">
            <a:avLst/>
          </a:prstGeom>
          <a:noFill/>
          <a:ln/>
        </p:spPr>
        <p:txBody>
          <a:bodyPr wrap="square" lIns="0" tIns="0" rIns="0" bIns="0" rtlCol="0" anchor="t"/>
          <a:lstStyle/>
          <a:p>
            <a:pPr indent="0" marL="0">
              <a:buNone/>
            </a:pPr>
            <a:r>
              <a:rPr lang="en-US" sz="1680" dirty="0">
                <a:solidFill>
                  <a:srgbClr val="465D68"/>
                </a:solidFill>
                <a:latin typeface="Arial" pitchFamily="34" charset="0"/>
                <a:ea typeface="Arial" pitchFamily="34" charset="-122"/>
                <a:cs typeface="Arial" pitchFamily="34" charset="-120"/>
              </a:rPr>
              <a:t>Handle unusual or incomplete cases</a:t>
            </a:r>
            <a:endParaRPr lang="en-US" sz="1680" dirty="0"/>
          </a:p>
        </p:txBody>
      </p:sp>
      <p:sp>
        <p:nvSpPr>
          <p:cNvPr id="39" name="Shape 36"/>
          <p:cNvSpPr/>
          <p:nvPr/>
        </p:nvSpPr>
        <p:spPr>
          <a:xfrm>
            <a:off x="6446520" y="4251960"/>
            <a:ext cx="137160" cy="137160"/>
          </a:xfrm>
          <a:prstGeom prst="ellipse">
            <a:avLst/>
          </a:prstGeom>
          <a:solidFill>
            <a:srgbClr val="FFFFFF"/>
          </a:solidFill>
          <a:ln w="12700">
            <a:solidFill>
              <a:srgbClr val="FFFFFF"/>
            </a:solidFill>
            <a:prstDash val="solid"/>
          </a:ln>
        </p:spPr>
      </p:sp>
      <p:sp>
        <p:nvSpPr>
          <p:cNvPr id="40" name="Text 37"/>
          <p:cNvSpPr/>
          <p:nvPr/>
        </p:nvSpPr>
        <p:spPr>
          <a:xfrm>
            <a:off x="6446520" y="4288536"/>
            <a:ext cx="137160" cy="118872"/>
          </a:xfrm>
          <a:prstGeom prst="rect">
            <a:avLst/>
          </a:prstGeom>
          <a:noFill/>
          <a:ln/>
        </p:spPr>
        <p:txBody>
          <a:bodyPr wrap="square" lIns="0" tIns="0" rIns="0" bIns="0" rtlCol="0" anchor="t"/>
          <a:lstStyle/>
          <a:p>
            <a:pPr algn="ctr" indent="0" marL="0">
              <a:buNone/>
            </a:pPr>
            <a:endParaRPr lang="en-US" sz="1320" dirty="0"/>
          </a:p>
        </p:txBody>
      </p:sp>
      <p:sp>
        <p:nvSpPr>
          <p:cNvPr id="41" name="Text 38"/>
          <p:cNvSpPr/>
          <p:nvPr/>
        </p:nvSpPr>
        <p:spPr>
          <a:xfrm>
            <a:off x="6720840" y="4206240"/>
            <a:ext cx="4480560" cy="393192"/>
          </a:xfrm>
          <a:prstGeom prst="rect">
            <a:avLst/>
          </a:prstGeom>
          <a:noFill/>
          <a:ln/>
        </p:spPr>
        <p:txBody>
          <a:bodyPr wrap="square" lIns="0" tIns="0" rIns="0" bIns="0" rtlCol="0" anchor="t"/>
          <a:lstStyle/>
          <a:p>
            <a:pPr indent="0" marL="0">
              <a:buNone/>
            </a:pPr>
            <a:r>
              <a:rPr lang="en-US" sz="1680" dirty="0">
                <a:solidFill>
                  <a:srgbClr val="465D68"/>
                </a:solidFill>
                <a:latin typeface="Arial" pitchFamily="34" charset="0"/>
                <a:ea typeface="Arial" pitchFamily="34" charset="-122"/>
                <a:cs typeface="Arial" pitchFamily="34" charset="-120"/>
              </a:rPr>
              <a:t>Correct source records in the first release</a:t>
            </a:r>
            <a:endParaRPr lang="en-US" sz="1680" dirty="0"/>
          </a:p>
        </p:txBody>
      </p:sp>
      <p:sp>
        <p:nvSpPr>
          <p:cNvPr id="42" name="Shape 39"/>
          <p:cNvSpPr/>
          <p:nvPr/>
        </p:nvSpPr>
        <p:spPr>
          <a:xfrm>
            <a:off x="6446520" y="4700016"/>
            <a:ext cx="137160" cy="137160"/>
          </a:xfrm>
          <a:prstGeom prst="ellipse">
            <a:avLst/>
          </a:prstGeom>
          <a:solidFill>
            <a:srgbClr val="FFFFFF"/>
          </a:solidFill>
          <a:ln w="12700">
            <a:solidFill>
              <a:srgbClr val="FFFFFF"/>
            </a:solidFill>
            <a:prstDash val="solid"/>
          </a:ln>
        </p:spPr>
      </p:sp>
      <p:sp>
        <p:nvSpPr>
          <p:cNvPr id="43" name="Text 40"/>
          <p:cNvSpPr/>
          <p:nvPr/>
        </p:nvSpPr>
        <p:spPr>
          <a:xfrm>
            <a:off x="6446520" y="4736592"/>
            <a:ext cx="137160" cy="118872"/>
          </a:xfrm>
          <a:prstGeom prst="rect">
            <a:avLst/>
          </a:prstGeom>
          <a:noFill/>
          <a:ln/>
        </p:spPr>
        <p:txBody>
          <a:bodyPr wrap="square" lIns="0" tIns="0" rIns="0" bIns="0" rtlCol="0" anchor="t"/>
          <a:lstStyle/>
          <a:p>
            <a:pPr algn="ctr" indent="0" marL="0">
              <a:buNone/>
            </a:pPr>
            <a:endParaRPr lang="en-US" sz="1320" dirty="0"/>
          </a:p>
        </p:txBody>
      </p:sp>
      <p:sp>
        <p:nvSpPr>
          <p:cNvPr id="44" name="Text 41"/>
          <p:cNvSpPr/>
          <p:nvPr/>
        </p:nvSpPr>
        <p:spPr>
          <a:xfrm>
            <a:off x="6720840" y="4654296"/>
            <a:ext cx="4480560" cy="393192"/>
          </a:xfrm>
          <a:prstGeom prst="rect">
            <a:avLst/>
          </a:prstGeom>
          <a:noFill/>
          <a:ln/>
        </p:spPr>
        <p:txBody>
          <a:bodyPr wrap="square" lIns="0" tIns="0" rIns="0" bIns="0" rtlCol="0" anchor="t"/>
          <a:lstStyle/>
          <a:p>
            <a:pPr indent="0" marL="0">
              <a:buNone/>
            </a:pPr>
            <a:r>
              <a:rPr lang="en-US" sz="1680" dirty="0">
                <a:solidFill>
                  <a:srgbClr val="465D68"/>
                </a:solidFill>
                <a:latin typeface="Arial" pitchFamily="34" charset="0"/>
                <a:ea typeface="Arial" pitchFamily="34" charset="-122"/>
                <a:cs typeface="Arial" pitchFamily="34" charset="-120"/>
              </a:rPr>
              <a:t>Approve payroll, then submit it separately</a:t>
            </a:r>
            <a:endParaRPr lang="en-US" sz="1680" dirty="0"/>
          </a:p>
        </p:txBody>
      </p:sp>
      <p:sp>
        <p:nvSpPr>
          <p:cNvPr id="45" name="Shape 42"/>
          <p:cNvSpPr/>
          <p:nvPr/>
        </p:nvSpPr>
        <p:spPr>
          <a:xfrm>
            <a:off x="585216" y="5907024"/>
            <a:ext cx="11018520" cy="475488"/>
          </a:xfrm>
          <a:prstGeom prst="roundRect">
            <a:avLst>
              <a:gd name="adj" fmla="val 21154"/>
            </a:avLst>
          </a:prstGeom>
          <a:solidFill>
            <a:srgbClr val="EAF5F4"/>
          </a:solidFill>
          <a:ln w="9525">
            <a:solidFill>
              <a:srgbClr val="87B7B2"/>
            </a:solidFill>
            <a:prstDash val="solid"/>
          </a:ln>
        </p:spPr>
      </p:sp>
      <p:sp>
        <p:nvSpPr>
          <p:cNvPr id="46" name="Text 43"/>
          <p:cNvSpPr/>
          <p:nvPr/>
        </p:nvSpPr>
        <p:spPr>
          <a:xfrm>
            <a:off x="786384" y="6044184"/>
            <a:ext cx="1078992" cy="310896"/>
          </a:xfrm>
          <a:prstGeom prst="rect">
            <a:avLst/>
          </a:prstGeom>
          <a:noFill/>
          <a:ln/>
        </p:spPr>
        <p:txBody>
          <a:bodyPr wrap="square" lIns="0" tIns="0" rIns="0" bIns="0" rtlCol="0" anchor="t"/>
          <a:lstStyle/>
          <a:p>
            <a:pPr indent="0" marL="0">
              <a:buNone/>
            </a:pPr>
            <a:r>
              <a:rPr lang="en-US" sz="1550" b="1" dirty="0">
                <a:solidFill>
                  <a:srgbClr val="317F7B"/>
                </a:solidFill>
                <a:latin typeface="Arial" pitchFamily="34" charset="0"/>
                <a:ea typeface="Arial" pitchFamily="34" charset="-122"/>
                <a:cs typeface="Arial" pitchFamily="34" charset="-120"/>
              </a:rPr>
              <a:t>The goal</a:t>
            </a:r>
            <a:endParaRPr lang="en-US" sz="1550" dirty="0"/>
          </a:p>
        </p:txBody>
      </p:sp>
      <p:sp>
        <p:nvSpPr>
          <p:cNvPr id="47" name="Text 44"/>
          <p:cNvSpPr/>
          <p:nvPr/>
        </p:nvSpPr>
        <p:spPr>
          <a:xfrm>
            <a:off x="1956816" y="6044184"/>
            <a:ext cx="9427464" cy="310896"/>
          </a:xfrm>
          <a:prstGeom prst="rect">
            <a:avLst/>
          </a:prstGeom>
          <a:noFill/>
          <a:ln/>
        </p:spPr>
        <p:txBody>
          <a:bodyPr wrap="square" lIns="0" tIns="0" rIns="0" bIns="0" rtlCol="0" anchor="t"/>
          <a:lstStyle/>
          <a:p>
            <a:pPr indent="0" marL="0">
              <a:buNone/>
            </a:pPr>
            <a:r>
              <a:rPr lang="en-US" sz="1550" dirty="0">
                <a:solidFill>
                  <a:srgbClr val="465D68"/>
                </a:solidFill>
                <a:latin typeface="Arial" pitchFamily="34" charset="0"/>
                <a:ea typeface="Arial" pitchFamily="34" charset="-122"/>
                <a:cs typeface="Arial" pitchFamily="34" charset="-120"/>
              </a:rPr>
              <a:t>Remove repetitive work before the human decision—not remove Payroll from payroll.</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AFC"/>
        </a:solidFill>
      </p:bgPr>
    </p:bg>
    <p:spTree>
      <p:nvGrpSpPr>
        <p:cNvPr id="1" name=""/>
        <p:cNvGrpSpPr/>
        <p:nvPr/>
      </p:nvGrpSpPr>
      <p:grpSpPr>
        <a:xfrm>
          <a:off x="0" y="0"/>
          <a:ext cx="0" cy="0"/>
          <a:chOff x="0" y="0"/>
          <a:chExt cx="0" cy="0"/>
        </a:xfrm>
      </p:grpSpPr>
      <p:sp>
        <p:nvSpPr>
          <p:cNvPr id="2" name="Shape 0"/>
          <p:cNvSpPr/>
          <p:nvPr/>
        </p:nvSpPr>
        <p:spPr>
          <a:xfrm>
            <a:off x="0" y="0"/>
            <a:ext cx="12192000" cy="41148"/>
          </a:xfrm>
          <a:prstGeom prst="rect">
            <a:avLst/>
          </a:prstGeom>
          <a:solidFill>
            <a:srgbClr val="87B7B2"/>
          </a:solidFill>
          <a:ln w="12700">
            <a:solidFill>
              <a:srgbClr val="87B7B2">
                <a:alpha val="0"/>
              </a:srgbClr>
            </a:solidFill>
            <a:prstDash val="solid"/>
          </a:ln>
        </p:spPr>
      </p:sp>
      <p:sp>
        <p:nvSpPr>
          <p:cNvPr id="3" name="Text 1"/>
          <p:cNvSpPr/>
          <p:nvPr/>
        </p:nvSpPr>
        <p:spPr>
          <a:xfrm>
            <a:off x="585216" y="246888"/>
            <a:ext cx="10972800" cy="201168"/>
          </a:xfrm>
          <a:prstGeom prst="rect">
            <a:avLst/>
          </a:prstGeom>
          <a:noFill/>
          <a:ln/>
        </p:spPr>
        <p:txBody>
          <a:bodyPr wrap="square" lIns="0" tIns="0" rIns="0" bIns="0" rtlCol="0" anchor="t"/>
          <a:lstStyle/>
          <a:p>
            <a:pPr indent="0" marL="0">
              <a:buNone/>
            </a:pPr>
            <a:r>
              <a:rPr lang="en-US" sz="1000" b="1" dirty="0">
                <a:solidFill>
                  <a:srgbClr val="317F7B"/>
                </a:solidFill>
                <a:latin typeface="Arial" pitchFamily="34" charset="0"/>
                <a:ea typeface="Arial" pitchFamily="34" charset="-122"/>
                <a:cs typeface="Arial" pitchFamily="34" charset="-120"/>
              </a:rPr>
              <a:t>Look beyond the first release</a:t>
            </a:r>
            <a:endParaRPr lang="en-US" sz="1000" dirty="0"/>
          </a:p>
        </p:txBody>
      </p:sp>
      <p:sp>
        <p:nvSpPr>
          <p:cNvPr id="4" name="Text 2"/>
          <p:cNvSpPr/>
          <p:nvPr/>
        </p:nvSpPr>
        <p:spPr>
          <a:xfrm>
            <a:off x="585216" y="658368"/>
            <a:ext cx="11027664" cy="594360"/>
          </a:xfrm>
          <a:prstGeom prst="rect">
            <a:avLst/>
          </a:prstGeom>
          <a:noFill/>
          <a:ln/>
        </p:spPr>
        <p:txBody>
          <a:bodyPr wrap="square" lIns="0" tIns="0" rIns="0" bIns="0" rtlCol="0" anchor="t"/>
          <a:lstStyle/>
          <a:p>
            <a:pPr indent="0" marL="0">
              <a:buNone/>
            </a:pPr>
            <a:r>
              <a:rPr lang="en-US" sz="2800" b="1" dirty="0">
                <a:solidFill>
                  <a:srgbClr val="233F4C"/>
                </a:solidFill>
                <a:latin typeface="Arial" pitchFamily="34" charset="0"/>
                <a:ea typeface="Arial" pitchFamily="34" charset="-122"/>
                <a:cs typeface="Arial" pitchFamily="34" charset="-120"/>
              </a:rPr>
              <a:t>What could it do later?</a:t>
            </a:r>
            <a:endParaRPr lang="en-US" sz="2800" dirty="0"/>
          </a:p>
        </p:txBody>
      </p:sp>
      <p:sp>
        <p:nvSpPr>
          <p:cNvPr id="5" name="Text 3"/>
          <p:cNvSpPr/>
          <p:nvPr/>
        </p:nvSpPr>
        <p:spPr>
          <a:xfrm>
            <a:off x="594360" y="1307592"/>
            <a:ext cx="10945368" cy="530352"/>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B&amp;S can choose task by task—for example, automatic checks but manual corrections.</a:t>
            </a:r>
            <a:endParaRPr lang="en-US" sz="1660" dirty="0"/>
          </a:p>
        </p:txBody>
      </p:sp>
      <p:sp>
        <p:nvSpPr>
          <p:cNvPr id="6" name="Shape 4"/>
          <p:cNvSpPr/>
          <p:nvPr/>
        </p:nvSpPr>
        <p:spPr>
          <a:xfrm>
            <a:off x="585216" y="6510528"/>
            <a:ext cx="11018520" cy="0"/>
          </a:xfrm>
          <a:prstGeom prst="line">
            <a:avLst/>
          </a:prstGeom>
          <a:noFill/>
          <a:ln w="10160">
            <a:solidFill>
              <a:srgbClr val="DCE6E9"/>
            </a:solidFill>
            <a:prstDash val="solid"/>
          </a:ln>
        </p:spPr>
      </p:sp>
      <p:sp>
        <p:nvSpPr>
          <p:cNvPr id="7" name="Text 5"/>
          <p:cNvSpPr/>
          <p:nvPr/>
        </p:nvSpPr>
        <p:spPr>
          <a:xfrm>
            <a:off x="594360" y="6611112"/>
            <a:ext cx="3749040" cy="164592"/>
          </a:xfrm>
          <a:prstGeom prst="rect">
            <a:avLst/>
          </a:prstGeom>
          <a:noFill/>
          <a:ln/>
        </p:spPr>
        <p:txBody>
          <a:bodyPr wrap="square" lIns="0" tIns="0" rIns="0" bIns="0" rtlCol="0" anchor="t"/>
          <a:lstStyle/>
          <a:p>
            <a:pPr indent="0" marL="0">
              <a:buNone/>
            </a:pPr>
            <a:r>
              <a:rPr lang="en-US" sz="820" dirty="0">
                <a:solidFill>
                  <a:srgbClr val="69808A"/>
                </a:solidFill>
                <a:latin typeface="Arial" pitchFamily="34" charset="0"/>
                <a:ea typeface="Arial" pitchFamily="34" charset="-122"/>
                <a:cs typeface="Arial" pitchFamily="34" charset="-120"/>
              </a:rPr>
              <a:t>Komlan Kouhiko  /  B&amp;S payroll proposal</a:t>
            </a:r>
            <a:endParaRPr lang="en-US" sz="820" dirty="0"/>
          </a:p>
        </p:txBody>
      </p:sp>
      <p:sp>
        <p:nvSpPr>
          <p:cNvPr id="8" name="Text 6"/>
          <p:cNvSpPr/>
          <p:nvPr/>
        </p:nvSpPr>
        <p:spPr>
          <a:xfrm>
            <a:off x="4023360" y="6611112"/>
            <a:ext cx="6903720" cy="164592"/>
          </a:xfrm>
          <a:prstGeom prst="rect">
            <a:avLst/>
          </a:prstGeom>
          <a:noFill/>
          <a:ln/>
        </p:spPr>
        <p:txBody>
          <a:bodyPr wrap="square" lIns="0" tIns="0" rIns="0" bIns="0" rtlCol="0" anchor="t"/>
          <a:lstStyle/>
          <a:p>
            <a:pPr algn="r" indent="0" marL="0">
              <a:buNone/>
            </a:pPr>
            <a:r>
              <a:rPr lang="en-US" sz="805" dirty="0">
                <a:solidFill>
                  <a:srgbClr val="69808A"/>
                </a:solidFill>
                <a:latin typeface="Arial" pitchFamily="34" charset="0"/>
                <a:ea typeface="Arial" pitchFamily="34" charset="-122"/>
                <a:cs typeface="Arial" pitchFamily="34" charset="-120"/>
              </a:rPr>
              <a:t>[S1] pp. 19–33, 40–44, 58–61 • Optional future capabilities</a:t>
            </a:r>
            <a:endParaRPr lang="en-US" sz="805" dirty="0"/>
          </a:p>
        </p:txBody>
      </p:sp>
      <p:sp>
        <p:nvSpPr>
          <p:cNvPr id="9" name="Text 7"/>
          <p:cNvSpPr/>
          <p:nvPr/>
        </p:nvSpPr>
        <p:spPr>
          <a:xfrm>
            <a:off x="11100816" y="6592824"/>
            <a:ext cx="502920" cy="201168"/>
          </a:xfrm>
          <a:prstGeom prst="rect">
            <a:avLst/>
          </a:prstGeom>
          <a:noFill/>
          <a:ln/>
        </p:spPr>
        <p:txBody>
          <a:bodyPr wrap="square" lIns="0" tIns="0" rIns="0" bIns="0" rtlCol="0" anchor="t"/>
          <a:lstStyle/>
          <a:p>
            <a:pPr algn="r" indent="0" marL="0">
              <a:buNone/>
            </a:pPr>
            <a:r>
              <a:rPr lang="en-US" sz="920" dirty="0">
                <a:solidFill>
                  <a:srgbClr val="69808A"/>
                </a:solidFill>
                <a:latin typeface="Arial" pitchFamily="34" charset="0"/>
                <a:ea typeface="Arial" pitchFamily="34" charset="-122"/>
                <a:cs typeface="Arial" pitchFamily="34" charset="-120"/>
              </a:rPr>
              <a:t>13 / 19</a:t>
            </a:r>
            <a:endParaRPr lang="en-US" sz="920" dirty="0"/>
          </a:p>
        </p:txBody>
      </p:sp>
      <p:sp>
        <p:nvSpPr>
          <p:cNvPr id="11" name="Shape 8"/>
          <p:cNvSpPr/>
          <p:nvPr/>
        </p:nvSpPr>
        <p:spPr>
          <a:xfrm>
            <a:off x="594360" y="2002536"/>
            <a:ext cx="3502152" cy="3593592"/>
          </a:xfrm>
          <a:prstGeom prst="roundRect">
            <a:avLst>
              <a:gd name="adj" fmla="val 4178"/>
            </a:avLst>
          </a:prstGeom>
          <a:solidFill>
            <a:srgbClr val="EEF4FD"/>
          </a:solidFill>
          <a:ln w="9525">
            <a:solidFill>
              <a:srgbClr val="B3CDED"/>
            </a:solidFill>
            <a:prstDash val="solid"/>
          </a:ln>
          <a:effectLst>
            <a:outerShdw sx="100000" sy="100000" kx="0" ky="0" algn="bl" rotWithShape="0" blurRad="27940" dist="13970" dir="5400000">
              <a:srgbClr val="90A3AB">
                <a:alpha val="10000"/>
              </a:srgbClr>
            </a:outerShdw>
          </a:effectLst>
        </p:spPr>
      </p:sp>
      <p:sp>
        <p:nvSpPr>
          <p:cNvPr id="12" name="Text 9"/>
          <p:cNvSpPr/>
          <p:nvPr/>
        </p:nvSpPr>
        <p:spPr>
          <a:xfrm>
            <a:off x="813816" y="2221992"/>
            <a:ext cx="2926080" cy="201168"/>
          </a:xfrm>
          <a:prstGeom prst="rect">
            <a:avLst/>
          </a:prstGeom>
          <a:noFill/>
          <a:ln/>
        </p:spPr>
        <p:txBody>
          <a:bodyPr wrap="square" lIns="0" tIns="0" rIns="0" bIns="0" rtlCol="0" anchor="t"/>
          <a:lstStyle/>
          <a:p>
            <a:pPr indent="0" marL="0">
              <a:buNone/>
            </a:pPr>
            <a:r>
              <a:rPr lang="en-US" sz="1000" b="1" dirty="0">
                <a:solidFill>
                  <a:srgbClr val="346DA9"/>
                </a:solidFill>
                <a:latin typeface="Arial" pitchFamily="34" charset="0"/>
                <a:ea typeface="Arial" pitchFamily="34" charset="-122"/>
                <a:cs typeface="Arial" pitchFamily="34" charset="-120"/>
              </a:rPr>
              <a:t>Possible next step 1</a:t>
            </a:r>
            <a:endParaRPr lang="en-US" sz="1000" dirty="0"/>
          </a:p>
        </p:txBody>
      </p:sp>
      <p:sp>
        <p:nvSpPr>
          <p:cNvPr id="13" name="Text 10"/>
          <p:cNvSpPr/>
          <p:nvPr/>
        </p:nvSpPr>
        <p:spPr>
          <a:xfrm>
            <a:off x="813816" y="2578608"/>
            <a:ext cx="3054096" cy="685800"/>
          </a:xfrm>
          <a:prstGeom prst="rect">
            <a:avLst/>
          </a:prstGeom>
          <a:noFill/>
          <a:ln/>
        </p:spPr>
        <p:txBody>
          <a:bodyPr wrap="square" lIns="0" tIns="0" rIns="0" bIns="0" rtlCol="0" anchor="t"/>
          <a:lstStyle/>
          <a:p>
            <a:pPr indent="0" marL="0">
              <a:buNone/>
            </a:pPr>
            <a:r>
              <a:rPr lang="en-US" sz="2300" b="1" dirty="0">
                <a:solidFill>
                  <a:srgbClr val="233F4C"/>
                </a:solidFill>
                <a:latin typeface="Arial" pitchFamily="34" charset="0"/>
                <a:ea typeface="Arial" pitchFamily="34" charset="-122"/>
                <a:cs typeface="Arial" pitchFamily="34" charset="-120"/>
              </a:rPr>
              <a:t>Prepare files for review</a:t>
            </a:r>
            <a:endParaRPr lang="en-US" sz="2300" dirty="0"/>
          </a:p>
        </p:txBody>
      </p:sp>
      <p:sp>
        <p:nvSpPr>
          <p:cNvPr id="14" name="Text 11"/>
          <p:cNvSpPr/>
          <p:nvPr/>
        </p:nvSpPr>
        <p:spPr>
          <a:xfrm>
            <a:off x="813816" y="3364992"/>
            <a:ext cx="3054096" cy="521208"/>
          </a:xfrm>
          <a:prstGeom prst="rect">
            <a:avLst/>
          </a:prstGeom>
          <a:noFill/>
          <a:ln/>
        </p:spPr>
        <p:txBody>
          <a:bodyPr wrap="square" lIns="0" tIns="0" rIns="0" bIns="0" rtlCol="0" anchor="t"/>
          <a:lstStyle/>
          <a:p>
            <a:pPr indent="0" marL="0">
              <a:buNone/>
            </a:pPr>
            <a:r>
              <a:rPr lang="en-US" sz="1670" b="1" dirty="0">
                <a:solidFill>
                  <a:srgbClr val="346DA9"/>
                </a:solidFill>
                <a:latin typeface="Arial" pitchFamily="34" charset="0"/>
                <a:ea typeface="Arial" pitchFamily="34" charset="-122"/>
                <a:cs typeface="Arial" pitchFamily="34" charset="-120"/>
              </a:rPr>
              <a:t>Reduce repeated spreadsheet handling.</a:t>
            </a:r>
            <a:endParaRPr lang="en-US" sz="1670" dirty="0"/>
          </a:p>
        </p:txBody>
      </p:sp>
      <p:sp>
        <p:nvSpPr>
          <p:cNvPr id="15" name="Text 12"/>
          <p:cNvSpPr/>
          <p:nvPr/>
        </p:nvSpPr>
        <p:spPr>
          <a:xfrm>
            <a:off x="813816" y="4023360"/>
            <a:ext cx="3054096" cy="960120"/>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Map employees and job codes, apply approved rules and generate reviewed Jonas-ready files.</a:t>
            </a:r>
            <a:endParaRPr lang="en-US" sz="1660" dirty="0"/>
          </a:p>
        </p:txBody>
      </p:sp>
      <p:sp>
        <p:nvSpPr>
          <p:cNvPr id="16" name="Text 13"/>
          <p:cNvSpPr/>
          <p:nvPr/>
        </p:nvSpPr>
        <p:spPr>
          <a:xfrm>
            <a:off x="813816" y="5157216"/>
            <a:ext cx="3035808" cy="320040"/>
          </a:xfrm>
          <a:prstGeom prst="rect">
            <a:avLst/>
          </a:prstGeom>
          <a:noFill/>
          <a:ln/>
        </p:spPr>
        <p:txBody>
          <a:bodyPr wrap="square" lIns="0" tIns="0" rIns="0" bIns="0" rtlCol="0" anchor="t"/>
          <a:lstStyle/>
          <a:p>
            <a:pPr indent="0" marL="0">
              <a:buNone/>
            </a:pPr>
            <a:r>
              <a:rPr lang="en-US" sz="1250" dirty="0">
                <a:solidFill>
                  <a:srgbClr val="69808A"/>
                </a:solidFill>
                <a:latin typeface="Arial" pitchFamily="34" charset="0"/>
                <a:ea typeface="Arial" pitchFamily="34" charset="-122"/>
                <a:cs typeface="Arial" pitchFamily="34" charset="-120"/>
              </a:rPr>
              <a:t>First: agree rules and test formats.</a:t>
            </a:r>
            <a:endParaRPr lang="en-US" sz="1250" dirty="0"/>
          </a:p>
        </p:txBody>
      </p:sp>
      <p:sp>
        <p:nvSpPr>
          <p:cNvPr id="17" name="Shape 14"/>
          <p:cNvSpPr/>
          <p:nvPr/>
        </p:nvSpPr>
        <p:spPr>
          <a:xfrm>
            <a:off x="4343400" y="2002536"/>
            <a:ext cx="3502152" cy="3593592"/>
          </a:xfrm>
          <a:prstGeom prst="roundRect">
            <a:avLst>
              <a:gd name="adj" fmla="val 4178"/>
            </a:avLst>
          </a:prstGeom>
          <a:solidFill>
            <a:srgbClr val="EDF8F1"/>
          </a:solidFill>
          <a:ln w="9525">
            <a:solidFill>
              <a:srgbClr val="A4CCB9"/>
            </a:solidFill>
            <a:prstDash val="solid"/>
          </a:ln>
          <a:effectLst>
            <a:outerShdw sx="100000" sy="100000" kx="0" ky="0" algn="bl" rotWithShape="0" blurRad="27940" dist="13970" dir="5400000">
              <a:srgbClr val="90A3AB">
                <a:alpha val="10000"/>
              </a:srgbClr>
            </a:outerShdw>
          </a:effectLst>
        </p:spPr>
      </p:sp>
      <p:sp>
        <p:nvSpPr>
          <p:cNvPr id="18" name="Text 15"/>
          <p:cNvSpPr/>
          <p:nvPr/>
        </p:nvSpPr>
        <p:spPr>
          <a:xfrm>
            <a:off x="4562856" y="2221992"/>
            <a:ext cx="2926080" cy="201168"/>
          </a:xfrm>
          <a:prstGeom prst="rect">
            <a:avLst/>
          </a:prstGeom>
          <a:noFill/>
          <a:ln/>
        </p:spPr>
        <p:txBody>
          <a:bodyPr wrap="square" lIns="0" tIns="0" rIns="0" bIns="0" rtlCol="0" anchor="t"/>
          <a:lstStyle/>
          <a:p>
            <a:pPr indent="0" marL="0">
              <a:buNone/>
            </a:pPr>
            <a:r>
              <a:rPr lang="en-US" sz="1000" b="1" dirty="0">
                <a:solidFill>
                  <a:srgbClr val="287B5B"/>
                </a:solidFill>
                <a:latin typeface="Arial" pitchFamily="34" charset="0"/>
                <a:ea typeface="Arial" pitchFamily="34" charset="-122"/>
                <a:cs typeface="Arial" pitchFamily="34" charset="-120"/>
              </a:rPr>
              <a:t>Possible next step 2</a:t>
            </a:r>
            <a:endParaRPr lang="en-US" sz="1000" dirty="0"/>
          </a:p>
        </p:txBody>
      </p:sp>
      <p:sp>
        <p:nvSpPr>
          <p:cNvPr id="19" name="Text 16"/>
          <p:cNvSpPr/>
          <p:nvPr/>
        </p:nvSpPr>
        <p:spPr>
          <a:xfrm>
            <a:off x="4562856" y="2578608"/>
            <a:ext cx="3054096" cy="685800"/>
          </a:xfrm>
          <a:prstGeom prst="rect">
            <a:avLst/>
          </a:prstGeom>
          <a:noFill/>
          <a:ln/>
        </p:spPr>
        <p:txBody>
          <a:bodyPr wrap="square" lIns="0" tIns="0" rIns="0" bIns="0" rtlCol="0" anchor="t"/>
          <a:lstStyle/>
          <a:p>
            <a:pPr indent="0" marL="0">
              <a:buNone/>
            </a:pPr>
            <a:r>
              <a:rPr lang="en-US" sz="2300" b="1" dirty="0">
                <a:solidFill>
                  <a:srgbClr val="233F4C"/>
                </a:solidFill>
                <a:latin typeface="Arial" pitchFamily="34" charset="0"/>
                <a:ea typeface="Arial" pitchFamily="34" charset="-122"/>
                <a:cs typeface="Arial" pitchFamily="34" charset="-120"/>
              </a:rPr>
              <a:t>Carry out approved changes</a:t>
            </a:r>
            <a:endParaRPr lang="en-US" sz="2300" dirty="0"/>
          </a:p>
        </p:txBody>
      </p:sp>
      <p:sp>
        <p:nvSpPr>
          <p:cNvPr id="20" name="Text 17"/>
          <p:cNvSpPr/>
          <p:nvPr/>
        </p:nvSpPr>
        <p:spPr>
          <a:xfrm>
            <a:off x="4562856" y="3364992"/>
            <a:ext cx="3054096" cy="521208"/>
          </a:xfrm>
          <a:prstGeom prst="rect">
            <a:avLst/>
          </a:prstGeom>
          <a:noFill/>
          <a:ln/>
        </p:spPr>
        <p:txBody>
          <a:bodyPr wrap="square" lIns="0" tIns="0" rIns="0" bIns="0" rtlCol="0" anchor="t"/>
          <a:lstStyle/>
          <a:p>
            <a:pPr indent="0" marL="0">
              <a:buNone/>
            </a:pPr>
            <a:r>
              <a:rPr lang="en-US" sz="1670" b="1" dirty="0">
                <a:solidFill>
                  <a:srgbClr val="287B5B"/>
                </a:solidFill>
                <a:latin typeface="Arial" pitchFamily="34" charset="0"/>
                <a:ea typeface="Arial" pitchFamily="34" charset="-122"/>
                <a:cs typeface="Arial" pitchFamily="34" charset="-120"/>
              </a:rPr>
              <a:t>Reduce approved manual transfers.</a:t>
            </a:r>
            <a:endParaRPr lang="en-US" sz="1670" dirty="0"/>
          </a:p>
        </p:txBody>
      </p:sp>
      <p:sp>
        <p:nvSpPr>
          <p:cNvPr id="21" name="Text 18"/>
          <p:cNvSpPr/>
          <p:nvPr/>
        </p:nvSpPr>
        <p:spPr>
          <a:xfrm>
            <a:off x="4562856" y="4023360"/>
            <a:ext cx="3054096" cy="960120"/>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For a supported import or change, get permission, send it and check the result in the destination.</a:t>
            </a:r>
            <a:endParaRPr lang="en-US" sz="1660" dirty="0"/>
          </a:p>
        </p:txBody>
      </p:sp>
      <p:sp>
        <p:nvSpPr>
          <p:cNvPr id="22" name="Text 19"/>
          <p:cNvSpPr/>
          <p:nvPr/>
        </p:nvSpPr>
        <p:spPr>
          <a:xfrm>
            <a:off x="4562856" y="5157216"/>
            <a:ext cx="3035808" cy="320040"/>
          </a:xfrm>
          <a:prstGeom prst="rect">
            <a:avLst/>
          </a:prstGeom>
          <a:noFill/>
          <a:ln/>
        </p:spPr>
        <p:txBody>
          <a:bodyPr wrap="square" lIns="0" tIns="0" rIns="0" bIns="0" rtlCol="0" anchor="t"/>
          <a:lstStyle/>
          <a:p>
            <a:pPr indent="0" marL="0">
              <a:buNone/>
            </a:pPr>
            <a:r>
              <a:rPr lang="en-US" sz="1250" dirty="0">
                <a:solidFill>
                  <a:srgbClr val="69808A"/>
                </a:solidFill>
                <a:latin typeface="Arial" pitchFamily="34" charset="0"/>
                <a:ea typeface="Arial" pitchFamily="34" charset="-122"/>
                <a:cs typeface="Arial" pitchFamily="34" charset="-120"/>
              </a:rPr>
              <a:t>First: confirm vendor support and permission.</a:t>
            </a:r>
            <a:endParaRPr lang="en-US" sz="1250" dirty="0"/>
          </a:p>
        </p:txBody>
      </p:sp>
      <p:sp>
        <p:nvSpPr>
          <p:cNvPr id="23" name="Shape 20"/>
          <p:cNvSpPr/>
          <p:nvPr/>
        </p:nvSpPr>
        <p:spPr>
          <a:xfrm>
            <a:off x="8092440" y="2002536"/>
            <a:ext cx="3502152" cy="3593592"/>
          </a:xfrm>
          <a:prstGeom prst="roundRect">
            <a:avLst>
              <a:gd name="adj" fmla="val 4178"/>
            </a:avLst>
          </a:prstGeom>
          <a:solidFill>
            <a:srgbClr val="EAF5F4"/>
          </a:solidFill>
          <a:ln w="9525">
            <a:solidFill>
              <a:srgbClr val="87B7B2"/>
            </a:solidFill>
            <a:prstDash val="solid"/>
          </a:ln>
          <a:effectLst>
            <a:outerShdw sx="100000" sy="100000" kx="0" ky="0" algn="bl" rotWithShape="0" blurRad="27940" dist="13970" dir="5400000">
              <a:srgbClr val="90A3AB">
                <a:alpha val="10000"/>
              </a:srgbClr>
            </a:outerShdw>
          </a:effectLst>
        </p:spPr>
      </p:sp>
      <p:sp>
        <p:nvSpPr>
          <p:cNvPr id="24" name="Text 21"/>
          <p:cNvSpPr/>
          <p:nvPr/>
        </p:nvSpPr>
        <p:spPr>
          <a:xfrm>
            <a:off x="8311896" y="2221992"/>
            <a:ext cx="2926080" cy="201168"/>
          </a:xfrm>
          <a:prstGeom prst="rect">
            <a:avLst/>
          </a:prstGeom>
          <a:noFill/>
          <a:ln/>
        </p:spPr>
        <p:txBody>
          <a:bodyPr wrap="square" lIns="0" tIns="0" rIns="0" bIns="0" rtlCol="0" anchor="t"/>
          <a:lstStyle/>
          <a:p>
            <a:pPr indent="0" marL="0">
              <a:buNone/>
            </a:pPr>
            <a:r>
              <a:rPr lang="en-US" sz="1000" b="1" dirty="0">
                <a:solidFill>
                  <a:srgbClr val="317F7B"/>
                </a:solidFill>
                <a:latin typeface="Arial" pitchFamily="34" charset="0"/>
                <a:ea typeface="Arial" pitchFamily="34" charset="-122"/>
                <a:cs typeface="Arial" pitchFamily="34" charset="-120"/>
              </a:rPr>
              <a:t>Possible next step 3</a:t>
            </a:r>
            <a:endParaRPr lang="en-US" sz="1000" dirty="0"/>
          </a:p>
        </p:txBody>
      </p:sp>
      <p:sp>
        <p:nvSpPr>
          <p:cNvPr id="25" name="Text 22"/>
          <p:cNvSpPr/>
          <p:nvPr/>
        </p:nvSpPr>
        <p:spPr>
          <a:xfrm>
            <a:off x="8311896" y="2578608"/>
            <a:ext cx="3054096" cy="685800"/>
          </a:xfrm>
          <a:prstGeom prst="rect">
            <a:avLst/>
          </a:prstGeom>
          <a:noFill/>
          <a:ln/>
        </p:spPr>
        <p:txBody>
          <a:bodyPr wrap="square" lIns="0" tIns="0" rIns="0" bIns="0" rtlCol="0" anchor="t"/>
          <a:lstStyle/>
          <a:p>
            <a:pPr indent="0" marL="0">
              <a:buNone/>
            </a:pPr>
            <a:r>
              <a:rPr lang="en-US" sz="2300" b="1" dirty="0">
                <a:solidFill>
                  <a:srgbClr val="233F4C"/>
                </a:solidFill>
                <a:latin typeface="Arial" pitchFamily="34" charset="0"/>
                <a:ea typeface="Arial" pitchFamily="34" charset="-122"/>
                <a:cs typeface="Arial" pitchFamily="34" charset="-120"/>
              </a:rPr>
              <a:t>Keep the work moving</a:t>
            </a:r>
            <a:endParaRPr lang="en-US" sz="2300" dirty="0"/>
          </a:p>
        </p:txBody>
      </p:sp>
      <p:sp>
        <p:nvSpPr>
          <p:cNvPr id="26" name="Text 23"/>
          <p:cNvSpPr/>
          <p:nvPr/>
        </p:nvSpPr>
        <p:spPr>
          <a:xfrm>
            <a:off x="8311896" y="3364992"/>
            <a:ext cx="3054096" cy="521208"/>
          </a:xfrm>
          <a:prstGeom prst="rect">
            <a:avLst/>
          </a:prstGeom>
          <a:noFill/>
          <a:ln/>
        </p:spPr>
        <p:txBody>
          <a:bodyPr wrap="square" lIns="0" tIns="0" rIns="0" bIns="0" rtlCol="0" anchor="t"/>
          <a:lstStyle/>
          <a:p>
            <a:pPr indent="0" marL="0">
              <a:buNone/>
            </a:pPr>
            <a:r>
              <a:rPr lang="en-US" sz="1670" b="1" dirty="0">
                <a:solidFill>
                  <a:srgbClr val="317F7B"/>
                </a:solidFill>
                <a:latin typeface="Arial" pitchFamily="34" charset="0"/>
                <a:ea typeface="Arial" pitchFamily="34" charset="-122"/>
                <a:cs typeface="Arial" pitchFamily="34" charset="-120"/>
              </a:rPr>
              <a:t>Reduce chasing and repeated follow-up.</a:t>
            </a:r>
            <a:endParaRPr lang="en-US" sz="1670" dirty="0"/>
          </a:p>
        </p:txBody>
      </p:sp>
      <p:sp>
        <p:nvSpPr>
          <p:cNvPr id="27" name="Text 24"/>
          <p:cNvSpPr/>
          <p:nvPr/>
        </p:nvSpPr>
        <p:spPr>
          <a:xfrm>
            <a:off x="8311896" y="4023360"/>
            <a:ext cx="3054096" cy="960120"/>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Start checks on new data, send issues to owners, spot recurring problems and guide closeout.</a:t>
            </a:r>
            <a:endParaRPr lang="en-US" sz="1660" dirty="0"/>
          </a:p>
        </p:txBody>
      </p:sp>
      <p:sp>
        <p:nvSpPr>
          <p:cNvPr id="28" name="Text 25"/>
          <p:cNvSpPr/>
          <p:nvPr/>
        </p:nvSpPr>
        <p:spPr>
          <a:xfrm>
            <a:off x="8311896" y="5157216"/>
            <a:ext cx="3035808" cy="320040"/>
          </a:xfrm>
          <a:prstGeom prst="rect">
            <a:avLst/>
          </a:prstGeom>
          <a:noFill/>
          <a:ln/>
        </p:spPr>
        <p:txBody>
          <a:bodyPr wrap="square" lIns="0" tIns="0" rIns="0" bIns="0" rtlCol="0" anchor="t"/>
          <a:lstStyle/>
          <a:p>
            <a:pPr indent="0" marL="0">
              <a:buNone/>
            </a:pPr>
            <a:r>
              <a:rPr lang="en-US" sz="1250" dirty="0">
                <a:solidFill>
                  <a:srgbClr val="69808A"/>
                </a:solidFill>
                <a:latin typeface="Arial" pitchFamily="34" charset="0"/>
                <a:ea typeface="Arial" pitchFamily="34" charset="-122"/>
                <a:cs typeface="Arial" pitchFamily="34" charset="-120"/>
              </a:rPr>
              <a:t>First: agree owners, triggers and recovery.</a:t>
            </a:r>
            <a:endParaRPr lang="en-US" sz="1250" dirty="0"/>
          </a:p>
        </p:txBody>
      </p:sp>
      <p:sp>
        <p:nvSpPr>
          <p:cNvPr id="29" name="Shape 26"/>
          <p:cNvSpPr/>
          <p:nvPr/>
        </p:nvSpPr>
        <p:spPr>
          <a:xfrm>
            <a:off x="585216" y="5879592"/>
            <a:ext cx="11018520" cy="521208"/>
          </a:xfrm>
          <a:prstGeom prst="roundRect">
            <a:avLst>
              <a:gd name="adj" fmla="val 19298"/>
            </a:avLst>
          </a:prstGeom>
          <a:solidFill>
            <a:srgbClr val="EAF5F4"/>
          </a:solidFill>
          <a:ln w="9525">
            <a:solidFill>
              <a:srgbClr val="87B7B2"/>
            </a:solidFill>
            <a:prstDash val="solid"/>
          </a:ln>
        </p:spPr>
      </p:sp>
      <p:sp>
        <p:nvSpPr>
          <p:cNvPr id="30" name="Text 27"/>
          <p:cNvSpPr/>
          <p:nvPr/>
        </p:nvSpPr>
        <p:spPr>
          <a:xfrm>
            <a:off x="786384" y="6016752"/>
            <a:ext cx="1691640" cy="356616"/>
          </a:xfrm>
          <a:prstGeom prst="rect">
            <a:avLst/>
          </a:prstGeom>
          <a:noFill/>
          <a:ln/>
        </p:spPr>
        <p:txBody>
          <a:bodyPr wrap="square" lIns="0" tIns="0" rIns="0" bIns="0" rtlCol="0" anchor="t"/>
          <a:lstStyle/>
          <a:p>
            <a:pPr indent="0" marL="0">
              <a:buNone/>
            </a:pPr>
            <a:r>
              <a:rPr lang="en-US" sz="1500" b="1" dirty="0">
                <a:solidFill>
                  <a:srgbClr val="317F7B"/>
                </a:solidFill>
                <a:latin typeface="Arial" pitchFamily="34" charset="0"/>
                <a:ea typeface="Arial" pitchFamily="34" charset="-122"/>
                <a:cs typeface="Arial" pitchFamily="34" charset="-120"/>
              </a:rPr>
              <a:t>Always human</a:t>
            </a:r>
            <a:endParaRPr lang="en-US" sz="1500" dirty="0"/>
          </a:p>
        </p:txBody>
      </p:sp>
      <p:sp>
        <p:nvSpPr>
          <p:cNvPr id="31" name="Text 28"/>
          <p:cNvSpPr/>
          <p:nvPr/>
        </p:nvSpPr>
        <p:spPr>
          <a:xfrm>
            <a:off x="2569464" y="6016752"/>
            <a:ext cx="8814816" cy="356616"/>
          </a:xfrm>
          <a:prstGeom prst="rect">
            <a:avLst/>
          </a:prstGeom>
          <a:noFill/>
          <a:ln/>
        </p:spPr>
        <p:txBody>
          <a:bodyPr wrap="square" lIns="0" tIns="0" rIns="0" bIns="0" rtlCol="0" anchor="t"/>
          <a:lstStyle/>
          <a:p>
            <a:pPr indent="0" marL="0">
              <a:buNone/>
            </a:pPr>
            <a:r>
              <a:rPr lang="en-US" sz="1500" dirty="0">
                <a:solidFill>
                  <a:srgbClr val="465D68"/>
                </a:solidFill>
                <a:latin typeface="Arial" pitchFamily="34" charset="0"/>
                <a:ea typeface="Arial" pitchFamily="34" charset="-122"/>
                <a:cs typeface="Arial" pitchFamily="34" charset="-120"/>
              </a:rPr>
              <a:t>Approve payroll → Submit payroll. B&amp;S decides where every other automation stops.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AFC"/>
        </a:solidFill>
      </p:bgPr>
    </p:bg>
    <p:spTree>
      <p:nvGrpSpPr>
        <p:cNvPr id="1" name=""/>
        <p:cNvGrpSpPr/>
        <p:nvPr/>
      </p:nvGrpSpPr>
      <p:grpSpPr>
        <a:xfrm>
          <a:off x="0" y="0"/>
          <a:ext cx="0" cy="0"/>
          <a:chOff x="0" y="0"/>
          <a:chExt cx="0" cy="0"/>
        </a:xfrm>
      </p:grpSpPr>
      <p:sp>
        <p:nvSpPr>
          <p:cNvPr id="2" name="Shape 0"/>
          <p:cNvSpPr/>
          <p:nvPr/>
        </p:nvSpPr>
        <p:spPr>
          <a:xfrm>
            <a:off x="0" y="0"/>
            <a:ext cx="12192000" cy="41148"/>
          </a:xfrm>
          <a:prstGeom prst="rect">
            <a:avLst/>
          </a:prstGeom>
          <a:solidFill>
            <a:srgbClr val="87B7B2"/>
          </a:solidFill>
          <a:ln w="12700">
            <a:solidFill>
              <a:srgbClr val="87B7B2">
                <a:alpha val="0"/>
              </a:srgbClr>
            </a:solidFill>
            <a:prstDash val="solid"/>
          </a:ln>
        </p:spPr>
      </p:sp>
      <p:sp>
        <p:nvSpPr>
          <p:cNvPr id="3" name="Text 1"/>
          <p:cNvSpPr/>
          <p:nvPr/>
        </p:nvSpPr>
        <p:spPr>
          <a:xfrm>
            <a:off x="585216" y="246888"/>
            <a:ext cx="10972800" cy="201168"/>
          </a:xfrm>
          <a:prstGeom prst="rect">
            <a:avLst/>
          </a:prstGeom>
          <a:noFill/>
          <a:ln/>
        </p:spPr>
        <p:txBody>
          <a:bodyPr wrap="square" lIns="0" tIns="0" rIns="0" bIns="0" rtlCol="0" anchor="t"/>
          <a:lstStyle/>
          <a:p>
            <a:pPr indent="0" marL="0">
              <a:buNone/>
            </a:pPr>
            <a:r>
              <a:rPr lang="en-US" sz="1000" b="1" dirty="0">
                <a:solidFill>
                  <a:srgbClr val="317F7B"/>
                </a:solidFill>
                <a:latin typeface="Arial" pitchFamily="34" charset="0"/>
                <a:ea typeface="Arial" pitchFamily="34" charset="-122"/>
                <a:cs typeface="Arial" pitchFamily="34" charset="-120"/>
              </a:rPr>
              <a:t>How it connects and runs</a:t>
            </a:r>
            <a:endParaRPr lang="en-US" sz="1000" dirty="0"/>
          </a:p>
        </p:txBody>
      </p:sp>
      <p:sp>
        <p:nvSpPr>
          <p:cNvPr id="4" name="Text 2"/>
          <p:cNvSpPr/>
          <p:nvPr/>
        </p:nvSpPr>
        <p:spPr>
          <a:xfrm>
            <a:off x="585216" y="658368"/>
            <a:ext cx="11027664" cy="594360"/>
          </a:xfrm>
          <a:prstGeom prst="rect">
            <a:avLst/>
          </a:prstGeom>
          <a:noFill/>
          <a:ln/>
        </p:spPr>
        <p:txBody>
          <a:bodyPr wrap="square" lIns="0" tIns="0" rIns="0" bIns="0" rtlCol="0" anchor="t"/>
          <a:lstStyle/>
          <a:p>
            <a:pPr indent="0" marL="0">
              <a:buNone/>
            </a:pPr>
            <a:r>
              <a:rPr lang="en-US" sz="2800" b="1" dirty="0">
                <a:solidFill>
                  <a:srgbClr val="233F4C"/>
                </a:solidFill>
                <a:latin typeface="Arial" pitchFamily="34" charset="0"/>
                <a:ea typeface="Arial" pitchFamily="34" charset="-122"/>
                <a:cs typeface="Arial" pitchFamily="34" charset="-120"/>
              </a:rPr>
              <a:t>Payroll opens a browser. IT handles the connections.</a:t>
            </a:r>
            <a:endParaRPr lang="en-US" sz="2800" dirty="0"/>
          </a:p>
        </p:txBody>
      </p:sp>
      <p:sp>
        <p:nvSpPr>
          <p:cNvPr id="5" name="Text 3"/>
          <p:cNvSpPr/>
          <p:nvPr/>
        </p:nvSpPr>
        <p:spPr>
          <a:xfrm>
            <a:off x="594360" y="1307592"/>
            <a:ext cx="10945368" cy="530352"/>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The real application would run in B&amp;S-approved infrastructure—not in the public demo.</a:t>
            </a:r>
            <a:endParaRPr lang="en-US" sz="1660" dirty="0"/>
          </a:p>
        </p:txBody>
      </p:sp>
      <p:sp>
        <p:nvSpPr>
          <p:cNvPr id="6" name="Shape 4"/>
          <p:cNvSpPr/>
          <p:nvPr/>
        </p:nvSpPr>
        <p:spPr>
          <a:xfrm>
            <a:off x="585216" y="6510528"/>
            <a:ext cx="11018520" cy="0"/>
          </a:xfrm>
          <a:prstGeom prst="line">
            <a:avLst/>
          </a:prstGeom>
          <a:noFill/>
          <a:ln w="10160">
            <a:solidFill>
              <a:srgbClr val="DCE6E9"/>
            </a:solidFill>
            <a:prstDash val="solid"/>
          </a:ln>
        </p:spPr>
      </p:sp>
      <p:sp>
        <p:nvSpPr>
          <p:cNvPr id="7" name="Text 5"/>
          <p:cNvSpPr/>
          <p:nvPr/>
        </p:nvSpPr>
        <p:spPr>
          <a:xfrm>
            <a:off x="594360" y="6611112"/>
            <a:ext cx="3749040" cy="164592"/>
          </a:xfrm>
          <a:prstGeom prst="rect">
            <a:avLst/>
          </a:prstGeom>
          <a:noFill/>
          <a:ln/>
        </p:spPr>
        <p:txBody>
          <a:bodyPr wrap="square" lIns="0" tIns="0" rIns="0" bIns="0" rtlCol="0" anchor="t"/>
          <a:lstStyle/>
          <a:p>
            <a:pPr indent="0" marL="0">
              <a:buNone/>
            </a:pPr>
            <a:r>
              <a:rPr lang="en-US" sz="820" dirty="0">
                <a:solidFill>
                  <a:srgbClr val="69808A"/>
                </a:solidFill>
                <a:latin typeface="Arial" pitchFamily="34" charset="0"/>
                <a:ea typeface="Arial" pitchFamily="34" charset="-122"/>
                <a:cs typeface="Arial" pitchFamily="34" charset="-120"/>
              </a:rPr>
              <a:t>Komlan Kouhiko  /  B&amp;S payroll proposal</a:t>
            </a:r>
            <a:endParaRPr lang="en-US" sz="820" dirty="0"/>
          </a:p>
        </p:txBody>
      </p:sp>
      <p:sp>
        <p:nvSpPr>
          <p:cNvPr id="8" name="Text 6"/>
          <p:cNvSpPr/>
          <p:nvPr/>
        </p:nvSpPr>
        <p:spPr>
          <a:xfrm>
            <a:off x="4023360" y="6611112"/>
            <a:ext cx="6903720" cy="164592"/>
          </a:xfrm>
          <a:prstGeom prst="rect">
            <a:avLst/>
          </a:prstGeom>
          <a:noFill/>
          <a:ln/>
        </p:spPr>
        <p:txBody>
          <a:bodyPr wrap="square" lIns="0" tIns="0" rIns="0" bIns="0" rtlCol="0" anchor="t"/>
          <a:lstStyle/>
          <a:p>
            <a:pPr algn="r" indent="0" marL="0">
              <a:buNone/>
            </a:pPr>
            <a:r>
              <a:rPr lang="en-US" sz="805" dirty="0">
                <a:solidFill>
                  <a:srgbClr val="69808A"/>
                </a:solidFill>
                <a:latin typeface="Arial" pitchFamily="34" charset="0"/>
                <a:ea typeface="Arial" pitchFamily="34" charset="-122"/>
                <a:cs typeface="Arial" pitchFamily="34" charset="-120"/>
              </a:rPr>
              <a:t>Proposed architecture • [S1] pp. 40–44 • [V3–V5]</a:t>
            </a:r>
            <a:endParaRPr lang="en-US" sz="805" dirty="0"/>
          </a:p>
        </p:txBody>
      </p:sp>
      <p:sp>
        <p:nvSpPr>
          <p:cNvPr id="9" name="Text 7"/>
          <p:cNvSpPr/>
          <p:nvPr/>
        </p:nvSpPr>
        <p:spPr>
          <a:xfrm>
            <a:off x="11100816" y="6592824"/>
            <a:ext cx="502920" cy="201168"/>
          </a:xfrm>
          <a:prstGeom prst="rect">
            <a:avLst/>
          </a:prstGeom>
          <a:noFill/>
          <a:ln/>
        </p:spPr>
        <p:txBody>
          <a:bodyPr wrap="square" lIns="0" tIns="0" rIns="0" bIns="0" rtlCol="0" anchor="t"/>
          <a:lstStyle/>
          <a:p>
            <a:pPr algn="r" indent="0" marL="0">
              <a:buNone/>
            </a:pPr>
            <a:r>
              <a:rPr lang="en-US" sz="920" dirty="0">
                <a:solidFill>
                  <a:srgbClr val="69808A"/>
                </a:solidFill>
                <a:latin typeface="Arial" pitchFamily="34" charset="0"/>
                <a:ea typeface="Arial" pitchFamily="34" charset="-122"/>
                <a:cs typeface="Arial" pitchFamily="34" charset="-120"/>
              </a:rPr>
              <a:t>14 / 19</a:t>
            </a:r>
            <a:endParaRPr lang="en-US" sz="920" dirty="0"/>
          </a:p>
        </p:txBody>
      </p:sp>
      <p:sp>
        <p:nvSpPr>
          <p:cNvPr id="11" name="Shape 8"/>
          <p:cNvSpPr/>
          <p:nvPr/>
        </p:nvSpPr>
        <p:spPr>
          <a:xfrm>
            <a:off x="694944" y="2093976"/>
            <a:ext cx="3291840" cy="1527048"/>
          </a:xfrm>
          <a:prstGeom prst="roundRect">
            <a:avLst>
              <a:gd name="adj" fmla="val 9581"/>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12" name="Text 9"/>
          <p:cNvSpPr/>
          <p:nvPr/>
        </p:nvSpPr>
        <p:spPr>
          <a:xfrm>
            <a:off x="905256" y="2304288"/>
            <a:ext cx="2880360" cy="475488"/>
          </a:xfrm>
          <a:prstGeom prst="rect">
            <a:avLst/>
          </a:prstGeom>
          <a:noFill/>
          <a:ln/>
        </p:spPr>
        <p:txBody>
          <a:bodyPr wrap="square" lIns="0" tIns="0" rIns="0" bIns="0" rtlCol="0" anchor="t"/>
          <a:lstStyle/>
          <a:p>
            <a:pPr indent="0" marL="0">
              <a:buNone/>
            </a:pPr>
            <a:r>
              <a:rPr lang="en-US" sz="1900" b="1" dirty="0">
                <a:solidFill>
                  <a:srgbClr val="233F4C"/>
                </a:solidFill>
                <a:latin typeface="Arial" pitchFamily="34" charset="0"/>
                <a:ea typeface="Arial" pitchFamily="34" charset="-122"/>
                <a:cs typeface="Arial" pitchFamily="34" charset="-120"/>
              </a:rPr>
              <a:t>Payroll’s browser</a:t>
            </a:r>
            <a:endParaRPr lang="en-US" sz="1900" dirty="0"/>
          </a:p>
        </p:txBody>
      </p:sp>
      <p:sp>
        <p:nvSpPr>
          <p:cNvPr id="13" name="Text 10"/>
          <p:cNvSpPr/>
          <p:nvPr/>
        </p:nvSpPr>
        <p:spPr>
          <a:xfrm>
            <a:off x="905256" y="2715768"/>
            <a:ext cx="2871216" cy="740664"/>
          </a:xfrm>
          <a:prstGeom prst="rect">
            <a:avLst/>
          </a:prstGeom>
          <a:noFill/>
          <a:ln/>
        </p:spPr>
        <p:txBody>
          <a:bodyPr wrap="square" lIns="0" tIns="0" rIns="0" bIns="0" rtlCol="0" anchor="t"/>
          <a:lstStyle/>
          <a:p>
            <a:pPr indent="0" marL="0">
              <a:buNone/>
            </a:pPr>
            <a:r>
              <a:rPr lang="en-US" sz="1700" dirty="0">
                <a:solidFill>
                  <a:srgbClr val="465D68"/>
                </a:solidFill>
                <a:latin typeface="Arial" pitchFamily="34" charset="0"/>
                <a:ea typeface="Arial" pitchFamily="34" charset="-122"/>
                <a:cs typeface="Arial" pitchFamily="34" charset="-120"/>
              </a:rPr>
              <a:t>A company-approved link to the internal application.</a:t>
            </a:r>
            <a:endParaRPr lang="en-US" sz="1700" dirty="0"/>
          </a:p>
        </p:txBody>
      </p:sp>
      <p:sp>
        <p:nvSpPr>
          <p:cNvPr id="14" name="Shape 11"/>
          <p:cNvSpPr/>
          <p:nvPr/>
        </p:nvSpPr>
        <p:spPr>
          <a:xfrm>
            <a:off x="4050792" y="2871216"/>
            <a:ext cx="301752" cy="0"/>
          </a:xfrm>
          <a:prstGeom prst="line">
            <a:avLst/>
          </a:prstGeom>
          <a:noFill/>
          <a:ln w="15240">
            <a:solidFill>
              <a:srgbClr val="69808A"/>
            </a:solidFill>
            <a:prstDash val="solid"/>
            <a:tailEnd type="triangle"/>
          </a:ln>
        </p:spPr>
      </p:sp>
      <p:sp>
        <p:nvSpPr>
          <p:cNvPr id="15" name="Shape 12"/>
          <p:cNvSpPr/>
          <p:nvPr/>
        </p:nvSpPr>
        <p:spPr>
          <a:xfrm>
            <a:off x="4462272" y="2093976"/>
            <a:ext cx="3291840" cy="1527048"/>
          </a:xfrm>
          <a:prstGeom prst="roundRect">
            <a:avLst>
              <a:gd name="adj" fmla="val 9581"/>
            </a:avLst>
          </a:prstGeom>
          <a:solidFill>
            <a:srgbClr val="EAF5F4"/>
          </a:solidFill>
          <a:ln w="9525">
            <a:solidFill>
              <a:srgbClr val="87B7B2"/>
            </a:solidFill>
            <a:prstDash val="solid"/>
          </a:ln>
          <a:effectLst>
            <a:outerShdw sx="100000" sy="100000" kx="0" ky="0" algn="bl" rotWithShape="0" blurRad="27940" dist="13970" dir="5400000">
              <a:srgbClr val="90A3AB">
                <a:alpha val="10000"/>
              </a:srgbClr>
            </a:outerShdw>
          </a:effectLst>
        </p:spPr>
      </p:sp>
      <p:sp>
        <p:nvSpPr>
          <p:cNvPr id="16" name="Text 13"/>
          <p:cNvSpPr/>
          <p:nvPr/>
        </p:nvSpPr>
        <p:spPr>
          <a:xfrm>
            <a:off x="4672584" y="2304288"/>
            <a:ext cx="2880360" cy="475488"/>
          </a:xfrm>
          <a:prstGeom prst="rect">
            <a:avLst/>
          </a:prstGeom>
          <a:noFill/>
          <a:ln/>
        </p:spPr>
        <p:txBody>
          <a:bodyPr wrap="square" lIns="0" tIns="0" rIns="0" bIns="0" rtlCol="0" anchor="t"/>
          <a:lstStyle/>
          <a:p>
            <a:pPr indent="0" marL="0">
              <a:buNone/>
            </a:pPr>
            <a:r>
              <a:rPr lang="en-US" sz="1900" b="1" dirty="0">
                <a:solidFill>
                  <a:srgbClr val="317F7B"/>
                </a:solidFill>
                <a:latin typeface="Arial" pitchFamily="34" charset="0"/>
                <a:ea typeface="Arial" pitchFamily="34" charset="-122"/>
                <a:cs typeface="Arial" pitchFamily="34" charset="-120"/>
              </a:rPr>
              <a:t>B&amp;S application server</a:t>
            </a:r>
            <a:endParaRPr lang="en-US" sz="1900" dirty="0"/>
          </a:p>
        </p:txBody>
      </p:sp>
      <p:sp>
        <p:nvSpPr>
          <p:cNvPr id="17" name="Text 14"/>
          <p:cNvSpPr/>
          <p:nvPr/>
        </p:nvSpPr>
        <p:spPr>
          <a:xfrm>
            <a:off x="4672584" y="2715768"/>
            <a:ext cx="2871216" cy="740664"/>
          </a:xfrm>
          <a:prstGeom prst="rect">
            <a:avLst/>
          </a:prstGeom>
          <a:noFill/>
          <a:ln/>
        </p:spPr>
        <p:txBody>
          <a:bodyPr wrap="square" lIns="0" tIns="0" rIns="0" bIns="0" rtlCol="0" anchor="t"/>
          <a:lstStyle/>
          <a:p>
            <a:pPr indent="0" marL="0">
              <a:buNone/>
            </a:pPr>
            <a:r>
              <a:rPr lang="en-US" sz="1700" dirty="0">
                <a:solidFill>
                  <a:srgbClr val="465D68"/>
                </a:solidFill>
                <a:latin typeface="Arial" pitchFamily="34" charset="0"/>
                <a:ea typeface="Arial" pitchFamily="34" charset="-122"/>
                <a:cs typeface="Arial" pitchFamily="34" charset="-120"/>
              </a:rPr>
              <a:t>Checks access, compares records and runs authorized jobs.</a:t>
            </a:r>
            <a:endParaRPr lang="en-US" sz="1700" dirty="0"/>
          </a:p>
        </p:txBody>
      </p:sp>
      <p:sp>
        <p:nvSpPr>
          <p:cNvPr id="18" name="Shape 15"/>
          <p:cNvSpPr/>
          <p:nvPr/>
        </p:nvSpPr>
        <p:spPr>
          <a:xfrm>
            <a:off x="7818120" y="2871216"/>
            <a:ext cx="301752" cy="0"/>
          </a:xfrm>
          <a:prstGeom prst="line">
            <a:avLst/>
          </a:prstGeom>
          <a:noFill/>
          <a:ln w="15240">
            <a:solidFill>
              <a:srgbClr val="69808A"/>
            </a:solidFill>
            <a:prstDash val="solid"/>
            <a:tailEnd type="triangle"/>
          </a:ln>
        </p:spPr>
      </p:sp>
      <p:sp>
        <p:nvSpPr>
          <p:cNvPr id="19" name="Shape 16"/>
          <p:cNvSpPr/>
          <p:nvPr/>
        </p:nvSpPr>
        <p:spPr>
          <a:xfrm>
            <a:off x="8229600" y="2093976"/>
            <a:ext cx="3291840" cy="1527048"/>
          </a:xfrm>
          <a:prstGeom prst="roundRect">
            <a:avLst>
              <a:gd name="adj" fmla="val 9581"/>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20" name="Text 17"/>
          <p:cNvSpPr/>
          <p:nvPr/>
        </p:nvSpPr>
        <p:spPr>
          <a:xfrm>
            <a:off x="8439912" y="2304288"/>
            <a:ext cx="2880360" cy="475488"/>
          </a:xfrm>
          <a:prstGeom prst="rect">
            <a:avLst/>
          </a:prstGeom>
          <a:noFill/>
          <a:ln/>
        </p:spPr>
        <p:txBody>
          <a:bodyPr wrap="square" lIns="0" tIns="0" rIns="0" bIns="0" rtlCol="0" anchor="t"/>
          <a:lstStyle/>
          <a:p>
            <a:pPr indent="0" marL="0">
              <a:buNone/>
            </a:pPr>
            <a:r>
              <a:rPr lang="en-US" sz="1900" b="1" dirty="0">
                <a:solidFill>
                  <a:srgbClr val="233F4C"/>
                </a:solidFill>
                <a:latin typeface="Arial" pitchFamily="34" charset="0"/>
                <a:ea typeface="Arial" pitchFamily="34" charset="-122"/>
                <a:cs typeface="Arial" pitchFamily="34" charset="-120"/>
              </a:rPr>
              <a:t>Existing systems</a:t>
            </a:r>
            <a:endParaRPr lang="en-US" sz="1900" dirty="0"/>
          </a:p>
        </p:txBody>
      </p:sp>
      <p:sp>
        <p:nvSpPr>
          <p:cNvPr id="21" name="Text 18"/>
          <p:cNvSpPr/>
          <p:nvPr/>
        </p:nvSpPr>
        <p:spPr>
          <a:xfrm>
            <a:off x="8439912" y="2715768"/>
            <a:ext cx="2871216" cy="740664"/>
          </a:xfrm>
          <a:prstGeom prst="rect">
            <a:avLst/>
          </a:prstGeom>
          <a:noFill/>
          <a:ln/>
        </p:spPr>
        <p:txBody>
          <a:bodyPr wrap="square" lIns="0" tIns="0" rIns="0" bIns="0" rtlCol="0" anchor="t"/>
          <a:lstStyle/>
          <a:p>
            <a:pPr indent="0" marL="0">
              <a:buNone/>
            </a:pPr>
            <a:r>
              <a:rPr lang="en-US" sz="1700" dirty="0">
                <a:solidFill>
                  <a:srgbClr val="465D68"/>
                </a:solidFill>
                <a:latin typeface="Arial" pitchFamily="34" charset="0"/>
                <a:ea typeface="Arial" pitchFamily="34" charset="-122"/>
                <a:cs typeface="Arial" pitchFamily="34" charset="-120"/>
              </a:rPr>
              <a:t>Raken, Jonas Enterprise and Paylocity keep their roles.</a:t>
            </a:r>
            <a:endParaRPr lang="en-US" sz="1700" dirty="0"/>
          </a:p>
        </p:txBody>
      </p:sp>
      <p:sp>
        <p:nvSpPr>
          <p:cNvPr id="22" name="Shape 19"/>
          <p:cNvSpPr/>
          <p:nvPr/>
        </p:nvSpPr>
        <p:spPr>
          <a:xfrm>
            <a:off x="694944" y="4032504"/>
            <a:ext cx="5239512" cy="1417320"/>
          </a:xfrm>
          <a:prstGeom prst="roundRect">
            <a:avLst>
              <a:gd name="adj" fmla="val 10323"/>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23" name="Text 20"/>
          <p:cNvSpPr/>
          <p:nvPr/>
        </p:nvSpPr>
        <p:spPr>
          <a:xfrm>
            <a:off x="905256" y="4242816"/>
            <a:ext cx="4828032" cy="475488"/>
          </a:xfrm>
          <a:prstGeom prst="rect">
            <a:avLst/>
          </a:prstGeom>
          <a:noFill/>
          <a:ln/>
        </p:spPr>
        <p:txBody>
          <a:bodyPr wrap="square" lIns="0" tIns="0" rIns="0" bIns="0" rtlCol="0" anchor="t"/>
          <a:lstStyle/>
          <a:p>
            <a:pPr indent="0" marL="0">
              <a:buNone/>
            </a:pPr>
            <a:r>
              <a:rPr lang="en-US" sz="1840" b="1" dirty="0">
                <a:solidFill>
                  <a:srgbClr val="233F4C"/>
                </a:solidFill>
                <a:latin typeface="Arial" pitchFamily="34" charset="0"/>
                <a:ea typeface="Arial" pitchFamily="34" charset="-122"/>
                <a:cs typeface="Arial" pitchFamily="34" charset="-120"/>
              </a:rPr>
              <a:t>Use connections each vendor supports</a:t>
            </a:r>
            <a:endParaRPr lang="en-US" sz="1840" dirty="0"/>
          </a:p>
        </p:txBody>
      </p:sp>
      <p:sp>
        <p:nvSpPr>
          <p:cNvPr id="24" name="Text 21"/>
          <p:cNvSpPr/>
          <p:nvPr/>
        </p:nvSpPr>
        <p:spPr>
          <a:xfrm>
            <a:off x="905256" y="4590288"/>
            <a:ext cx="4818888" cy="694944"/>
          </a:xfrm>
          <a:prstGeom prst="rect">
            <a:avLst/>
          </a:prstGeom>
          <a:noFill/>
          <a:ln/>
        </p:spPr>
        <p:txBody>
          <a:bodyPr wrap="square" lIns="0" tIns="0" rIns="0" bIns="0" rtlCol="0" anchor="t"/>
          <a:lstStyle/>
          <a:p>
            <a:pPr indent="0" marL="0">
              <a:buNone/>
            </a:pPr>
            <a:r>
              <a:rPr lang="en-US" sz="1650" dirty="0">
                <a:solidFill>
                  <a:srgbClr val="465D68"/>
                </a:solidFill>
                <a:latin typeface="Arial" pitchFamily="34" charset="0"/>
                <a:ea typeface="Arial" pitchFamily="34" charset="-122"/>
                <a:cs typeface="Arial" pitchFamily="34" charset="-120"/>
              </a:rPr>
              <a:t>Use an approved API—a way for software to exchange data—or structured exports, reports and import files.</a:t>
            </a:r>
            <a:endParaRPr lang="en-US" sz="1650" dirty="0"/>
          </a:p>
        </p:txBody>
      </p:sp>
      <p:sp>
        <p:nvSpPr>
          <p:cNvPr id="25" name="Shape 22"/>
          <p:cNvSpPr/>
          <p:nvPr/>
        </p:nvSpPr>
        <p:spPr>
          <a:xfrm>
            <a:off x="6208776" y="4032504"/>
            <a:ext cx="5239512" cy="1417320"/>
          </a:xfrm>
          <a:prstGeom prst="roundRect">
            <a:avLst>
              <a:gd name="adj" fmla="val 10323"/>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26" name="Text 23"/>
          <p:cNvSpPr/>
          <p:nvPr/>
        </p:nvSpPr>
        <p:spPr>
          <a:xfrm>
            <a:off x="6419088" y="4242816"/>
            <a:ext cx="4828032" cy="475488"/>
          </a:xfrm>
          <a:prstGeom prst="rect">
            <a:avLst/>
          </a:prstGeom>
          <a:noFill/>
          <a:ln/>
        </p:spPr>
        <p:txBody>
          <a:bodyPr wrap="square" lIns="0" tIns="0" rIns="0" bIns="0" rtlCol="0" anchor="t"/>
          <a:lstStyle/>
          <a:p>
            <a:pPr indent="0" marL="0">
              <a:buNone/>
            </a:pPr>
            <a:r>
              <a:rPr lang="en-US" sz="1840" b="1" dirty="0">
                <a:solidFill>
                  <a:srgbClr val="233F4C"/>
                </a:solidFill>
                <a:latin typeface="Arial" pitchFamily="34" charset="0"/>
                <a:ea typeface="Arial" pitchFamily="34" charset="-122"/>
                <a:cs typeface="Arial" pitchFamily="34" charset="-120"/>
              </a:rPr>
              <a:t>Keep the service under B&amp;S control</a:t>
            </a:r>
            <a:endParaRPr lang="en-US" sz="1840" dirty="0"/>
          </a:p>
        </p:txBody>
      </p:sp>
      <p:sp>
        <p:nvSpPr>
          <p:cNvPr id="27" name="Text 24"/>
          <p:cNvSpPr/>
          <p:nvPr/>
        </p:nvSpPr>
        <p:spPr>
          <a:xfrm>
            <a:off x="6419088" y="4590288"/>
            <a:ext cx="4818888" cy="694944"/>
          </a:xfrm>
          <a:prstGeom prst="rect">
            <a:avLst/>
          </a:prstGeom>
          <a:noFill/>
          <a:ln/>
        </p:spPr>
        <p:txBody>
          <a:bodyPr wrap="square" lIns="0" tIns="0" rIns="0" bIns="0" rtlCol="0" anchor="t"/>
          <a:lstStyle/>
          <a:p>
            <a:pPr indent="0" marL="0">
              <a:buNone/>
            </a:pPr>
            <a:r>
              <a:rPr lang="en-US" sz="1650" dirty="0">
                <a:solidFill>
                  <a:srgbClr val="465D68"/>
                </a:solidFill>
                <a:latin typeface="Arial" pitchFamily="34" charset="0"/>
                <a:ea typeface="Arial" pitchFamily="34" charset="-122"/>
                <a:cs typeface="Arial" pitchFamily="34" charset="-120"/>
              </a:rPr>
              <a:t>B&amp;S owns the code, hosting, service credentials, restricted payroll storage and backups.</a:t>
            </a:r>
            <a:endParaRPr lang="en-US" sz="1650" dirty="0"/>
          </a:p>
        </p:txBody>
      </p:sp>
      <p:sp>
        <p:nvSpPr>
          <p:cNvPr id="28" name="Shape 25"/>
          <p:cNvSpPr/>
          <p:nvPr/>
        </p:nvSpPr>
        <p:spPr>
          <a:xfrm>
            <a:off x="585216" y="5888736"/>
            <a:ext cx="11018520" cy="512064"/>
          </a:xfrm>
          <a:prstGeom prst="roundRect">
            <a:avLst>
              <a:gd name="adj" fmla="val 19643"/>
            </a:avLst>
          </a:prstGeom>
          <a:solidFill>
            <a:srgbClr val="EAF5F4"/>
          </a:solidFill>
          <a:ln w="9525">
            <a:solidFill>
              <a:srgbClr val="87B7B2"/>
            </a:solidFill>
            <a:prstDash val="solid"/>
          </a:ln>
        </p:spPr>
      </p:sp>
      <p:sp>
        <p:nvSpPr>
          <p:cNvPr id="29" name="Text 26"/>
          <p:cNvSpPr/>
          <p:nvPr/>
        </p:nvSpPr>
        <p:spPr>
          <a:xfrm>
            <a:off x="786384" y="6025896"/>
            <a:ext cx="1783080" cy="347472"/>
          </a:xfrm>
          <a:prstGeom prst="rect">
            <a:avLst/>
          </a:prstGeom>
          <a:noFill/>
          <a:ln/>
        </p:spPr>
        <p:txBody>
          <a:bodyPr wrap="square" lIns="0" tIns="0" rIns="0" bIns="0" rtlCol="0" anchor="t"/>
          <a:lstStyle/>
          <a:p>
            <a:pPr indent="0" marL="0">
              <a:buNone/>
            </a:pPr>
            <a:r>
              <a:rPr lang="en-US" sz="1460" b="1" dirty="0">
                <a:solidFill>
                  <a:srgbClr val="317F7B"/>
                </a:solidFill>
                <a:latin typeface="Arial" pitchFamily="34" charset="0"/>
                <a:ea typeface="Arial" pitchFamily="34" charset="-122"/>
                <a:cs typeface="Arial" pitchFamily="34" charset="-120"/>
              </a:rPr>
              <a:t>Read is not write</a:t>
            </a:r>
            <a:endParaRPr lang="en-US" sz="1460" dirty="0"/>
          </a:p>
        </p:txBody>
      </p:sp>
      <p:sp>
        <p:nvSpPr>
          <p:cNvPr id="30" name="Text 27"/>
          <p:cNvSpPr/>
          <p:nvPr/>
        </p:nvSpPr>
        <p:spPr>
          <a:xfrm>
            <a:off x="2660904" y="6025896"/>
            <a:ext cx="8723376" cy="347472"/>
          </a:xfrm>
          <a:prstGeom prst="rect">
            <a:avLst/>
          </a:prstGeom>
          <a:noFill/>
          <a:ln/>
        </p:spPr>
        <p:txBody>
          <a:bodyPr wrap="square" lIns="0" tIns="0" rIns="0" bIns="0" rtlCol="0" anchor="t"/>
          <a:lstStyle/>
          <a:p>
            <a:pPr indent="0" marL="0">
              <a:buNone/>
            </a:pPr>
            <a:r>
              <a:rPr lang="en-US" sz="1460" dirty="0">
                <a:solidFill>
                  <a:srgbClr val="465D68"/>
                </a:solidFill>
                <a:latin typeface="Arial" pitchFamily="34" charset="0"/>
                <a:ea typeface="Arial" pitchFamily="34" charset="-122"/>
                <a:cs typeface="Arial" pitchFamily="34" charset="-120"/>
              </a:rPr>
              <a:t>A connection can read records without permission to change them. Vendor credentials stay on the server.</a:t>
            </a:r>
            <a:endParaRPr lang="en-US" sz="146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AFC"/>
        </a:solidFill>
      </p:bgPr>
    </p:bg>
    <p:spTree>
      <p:nvGrpSpPr>
        <p:cNvPr id="1" name=""/>
        <p:cNvGrpSpPr/>
        <p:nvPr/>
      </p:nvGrpSpPr>
      <p:grpSpPr>
        <a:xfrm>
          <a:off x="0" y="0"/>
          <a:ext cx="0" cy="0"/>
          <a:chOff x="0" y="0"/>
          <a:chExt cx="0" cy="0"/>
        </a:xfrm>
      </p:grpSpPr>
      <p:sp>
        <p:nvSpPr>
          <p:cNvPr id="2" name="Shape 0"/>
          <p:cNvSpPr/>
          <p:nvPr/>
        </p:nvSpPr>
        <p:spPr>
          <a:xfrm>
            <a:off x="0" y="0"/>
            <a:ext cx="12192000" cy="41148"/>
          </a:xfrm>
          <a:prstGeom prst="rect">
            <a:avLst/>
          </a:prstGeom>
          <a:solidFill>
            <a:srgbClr val="87B7B2"/>
          </a:solidFill>
          <a:ln w="12700">
            <a:solidFill>
              <a:srgbClr val="87B7B2">
                <a:alpha val="0"/>
              </a:srgbClr>
            </a:solidFill>
            <a:prstDash val="solid"/>
          </a:ln>
        </p:spPr>
      </p:sp>
      <p:sp>
        <p:nvSpPr>
          <p:cNvPr id="3" name="Text 1"/>
          <p:cNvSpPr/>
          <p:nvPr/>
        </p:nvSpPr>
        <p:spPr>
          <a:xfrm>
            <a:off x="585216" y="246888"/>
            <a:ext cx="10972800" cy="201168"/>
          </a:xfrm>
          <a:prstGeom prst="rect">
            <a:avLst/>
          </a:prstGeom>
          <a:noFill/>
          <a:ln/>
        </p:spPr>
        <p:txBody>
          <a:bodyPr wrap="square" lIns="0" tIns="0" rIns="0" bIns="0" rtlCol="0" anchor="t"/>
          <a:lstStyle/>
          <a:p>
            <a:pPr indent="0" marL="0">
              <a:buNone/>
            </a:pPr>
            <a:r>
              <a:rPr lang="en-US" sz="1000" b="1" dirty="0">
                <a:solidFill>
                  <a:srgbClr val="317F7B"/>
                </a:solidFill>
                <a:latin typeface="Arial" pitchFamily="34" charset="0"/>
                <a:ea typeface="Arial" pitchFamily="34" charset="-122"/>
                <a:cs typeface="Arial" pitchFamily="34" charset="-120"/>
              </a:rPr>
              <a:t>Sign-in and security</a:t>
            </a:r>
            <a:endParaRPr lang="en-US" sz="1000" dirty="0"/>
          </a:p>
        </p:txBody>
      </p:sp>
      <p:sp>
        <p:nvSpPr>
          <p:cNvPr id="4" name="Text 2"/>
          <p:cNvSpPr/>
          <p:nvPr/>
        </p:nvSpPr>
        <p:spPr>
          <a:xfrm>
            <a:off x="585216" y="658368"/>
            <a:ext cx="11027664" cy="594360"/>
          </a:xfrm>
          <a:prstGeom prst="rect">
            <a:avLst/>
          </a:prstGeom>
          <a:noFill/>
          <a:ln/>
        </p:spPr>
        <p:txBody>
          <a:bodyPr wrap="square" lIns="0" tIns="0" rIns="0" bIns="0" rtlCol="0" anchor="t"/>
          <a:lstStyle/>
          <a:p>
            <a:pPr indent="0" marL="0">
              <a:buNone/>
            </a:pPr>
            <a:r>
              <a:rPr lang="en-US" sz="2800" b="1" dirty="0">
                <a:solidFill>
                  <a:srgbClr val="233F4C"/>
                </a:solidFill>
                <a:latin typeface="Arial" pitchFamily="34" charset="0"/>
                <a:ea typeface="Arial" pitchFamily="34" charset="-122"/>
                <a:cs typeface="Arial" pitchFamily="34" charset="-120"/>
              </a:rPr>
              <a:t>Use the B&amp;S Microsoft work account—not a new password</a:t>
            </a:r>
            <a:endParaRPr lang="en-US" sz="2800" dirty="0"/>
          </a:p>
        </p:txBody>
      </p:sp>
      <p:sp>
        <p:nvSpPr>
          <p:cNvPr id="5" name="Text 3"/>
          <p:cNvSpPr/>
          <p:nvPr/>
        </p:nvSpPr>
        <p:spPr>
          <a:xfrm>
            <a:off x="594360" y="1307592"/>
            <a:ext cx="10945368" cy="530352"/>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Microsoft verifies who the person is. The application checks what that person is allowed to see and do.</a:t>
            </a:r>
            <a:endParaRPr lang="en-US" sz="1660" dirty="0"/>
          </a:p>
        </p:txBody>
      </p:sp>
      <p:sp>
        <p:nvSpPr>
          <p:cNvPr id="6" name="Shape 4"/>
          <p:cNvSpPr/>
          <p:nvPr/>
        </p:nvSpPr>
        <p:spPr>
          <a:xfrm>
            <a:off x="585216" y="6510528"/>
            <a:ext cx="11018520" cy="0"/>
          </a:xfrm>
          <a:prstGeom prst="line">
            <a:avLst/>
          </a:prstGeom>
          <a:noFill/>
          <a:ln w="10160">
            <a:solidFill>
              <a:srgbClr val="DCE6E9"/>
            </a:solidFill>
            <a:prstDash val="solid"/>
          </a:ln>
        </p:spPr>
      </p:sp>
      <p:sp>
        <p:nvSpPr>
          <p:cNvPr id="7" name="Text 5"/>
          <p:cNvSpPr/>
          <p:nvPr/>
        </p:nvSpPr>
        <p:spPr>
          <a:xfrm>
            <a:off x="594360" y="6611112"/>
            <a:ext cx="3749040" cy="164592"/>
          </a:xfrm>
          <a:prstGeom prst="rect">
            <a:avLst/>
          </a:prstGeom>
          <a:noFill/>
          <a:ln/>
        </p:spPr>
        <p:txBody>
          <a:bodyPr wrap="square" lIns="0" tIns="0" rIns="0" bIns="0" rtlCol="0" anchor="t"/>
          <a:lstStyle/>
          <a:p>
            <a:pPr indent="0" marL="0">
              <a:buNone/>
            </a:pPr>
            <a:r>
              <a:rPr lang="en-US" sz="820" dirty="0">
                <a:solidFill>
                  <a:srgbClr val="69808A"/>
                </a:solidFill>
                <a:latin typeface="Arial" pitchFamily="34" charset="0"/>
                <a:ea typeface="Arial" pitchFamily="34" charset="-122"/>
                <a:cs typeface="Arial" pitchFamily="34" charset="-120"/>
              </a:rPr>
              <a:t>Komlan Kouhiko  /  B&amp;S payroll proposal</a:t>
            </a:r>
            <a:endParaRPr lang="en-US" sz="820" dirty="0"/>
          </a:p>
        </p:txBody>
      </p:sp>
      <p:sp>
        <p:nvSpPr>
          <p:cNvPr id="8" name="Text 6"/>
          <p:cNvSpPr/>
          <p:nvPr/>
        </p:nvSpPr>
        <p:spPr>
          <a:xfrm>
            <a:off x="4023360" y="6611112"/>
            <a:ext cx="6903720" cy="164592"/>
          </a:xfrm>
          <a:prstGeom prst="rect">
            <a:avLst/>
          </a:prstGeom>
          <a:noFill/>
          <a:ln/>
        </p:spPr>
        <p:txBody>
          <a:bodyPr wrap="square" lIns="0" tIns="0" rIns="0" bIns="0" rtlCol="0" anchor="t"/>
          <a:lstStyle/>
          <a:p>
            <a:pPr algn="r" indent="0" marL="0">
              <a:buNone/>
            </a:pPr>
            <a:r>
              <a:rPr lang="en-US" sz="805" dirty="0">
                <a:solidFill>
                  <a:srgbClr val="69808A"/>
                </a:solidFill>
                <a:latin typeface="Arial" pitchFamily="34" charset="0"/>
                <a:ea typeface="Arial" pitchFamily="34" charset="-122"/>
                <a:cs typeface="Arial" pitchFamily="34" charset="-120"/>
              </a:rPr>
              <a:t>Proposed access and security • [V1–V2]</a:t>
            </a:r>
            <a:endParaRPr lang="en-US" sz="805" dirty="0"/>
          </a:p>
        </p:txBody>
      </p:sp>
      <p:sp>
        <p:nvSpPr>
          <p:cNvPr id="9" name="Text 7"/>
          <p:cNvSpPr/>
          <p:nvPr/>
        </p:nvSpPr>
        <p:spPr>
          <a:xfrm>
            <a:off x="11100816" y="6592824"/>
            <a:ext cx="502920" cy="201168"/>
          </a:xfrm>
          <a:prstGeom prst="rect">
            <a:avLst/>
          </a:prstGeom>
          <a:noFill/>
          <a:ln/>
        </p:spPr>
        <p:txBody>
          <a:bodyPr wrap="square" lIns="0" tIns="0" rIns="0" bIns="0" rtlCol="0" anchor="t"/>
          <a:lstStyle/>
          <a:p>
            <a:pPr algn="r" indent="0" marL="0">
              <a:buNone/>
            </a:pPr>
            <a:r>
              <a:rPr lang="en-US" sz="920" dirty="0">
                <a:solidFill>
                  <a:srgbClr val="69808A"/>
                </a:solidFill>
                <a:latin typeface="Arial" pitchFamily="34" charset="0"/>
                <a:ea typeface="Arial" pitchFamily="34" charset="-122"/>
                <a:cs typeface="Arial" pitchFamily="34" charset="-120"/>
              </a:rPr>
              <a:t>15 / 19</a:t>
            </a:r>
            <a:endParaRPr lang="en-US" sz="920" dirty="0"/>
          </a:p>
        </p:txBody>
      </p:sp>
      <p:sp>
        <p:nvSpPr>
          <p:cNvPr id="11" name="Shape 8"/>
          <p:cNvSpPr/>
          <p:nvPr/>
        </p:nvSpPr>
        <p:spPr>
          <a:xfrm>
            <a:off x="594360" y="2020824"/>
            <a:ext cx="3502152" cy="1655064"/>
          </a:xfrm>
          <a:prstGeom prst="roundRect">
            <a:avLst>
              <a:gd name="adj" fmla="val 8840"/>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12" name="Shape 9"/>
          <p:cNvSpPr/>
          <p:nvPr/>
        </p:nvSpPr>
        <p:spPr>
          <a:xfrm>
            <a:off x="804672" y="2217420"/>
            <a:ext cx="310896" cy="310896"/>
          </a:xfrm>
          <a:prstGeom prst="ellipse">
            <a:avLst/>
          </a:prstGeom>
          <a:solidFill>
            <a:srgbClr val="EAF5F4"/>
          </a:solidFill>
          <a:ln w="12700">
            <a:solidFill>
              <a:srgbClr val="EAF5F4"/>
            </a:solidFill>
            <a:prstDash val="solid"/>
          </a:ln>
        </p:spPr>
      </p:sp>
      <p:sp>
        <p:nvSpPr>
          <p:cNvPr id="13" name="Text 10"/>
          <p:cNvSpPr/>
          <p:nvPr/>
        </p:nvSpPr>
        <p:spPr>
          <a:xfrm>
            <a:off x="804672" y="2253996"/>
            <a:ext cx="310896" cy="292608"/>
          </a:xfrm>
          <a:prstGeom prst="rect">
            <a:avLst/>
          </a:prstGeom>
          <a:noFill/>
          <a:ln/>
        </p:spPr>
        <p:txBody>
          <a:bodyPr wrap="square" lIns="0" tIns="0" rIns="0" bIns="0" rtlCol="0" anchor="t"/>
          <a:lstStyle/>
          <a:p>
            <a:pPr algn="ctr" indent="0" marL="0">
              <a:buNone/>
            </a:pPr>
            <a:r>
              <a:rPr lang="en-US" sz="1320" b="1" dirty="0">
                <a:solidFill>
                  <a:srgbClr val="465D68"/>
                </a:solidFill>
                <a:latin typeface="Arial" pitchFamily="34" charset="0"/>
                <a:ea typeface="Arial" pitchFamily="34" charset="-122"/>
                <a:cs typeface="Arial" pitchFamily="34" charset="-120"/>
              </a:rPr>
              <a:t>1</a:t>
            </a:r>
            <a:endParaRPr lang="en-US" sz="1320" dirty="0"/>
          </a:p>
        </p:txBody>
      </p:sp>
      <p:sp>
        <p:nvSpPr>
          <p:cNvPr id="14" name="Text 11"/>
          <p:cNvSpPr/>
          <p:nvPr/>
        </p:nvSpPr>
        <p:spPr>
          <a:xfrm>
            <a:off x="1243584" y="2231136"/>
            <a:ext cx="2651760" cy="475488"/>
          </a:xfrm>
          <a:prstGeom prst="rect">
            <a:avLst/>
          </a:prstGeom>
          <a:noFill/>
          <a:ln/>
        </p:spPr>
        <p:txBody>
          <a:bodyPr wrap="square" lIns="0" tIns="0" rIns="0" bIns="0" rtlCol="0" anchor="t"/>
          <a:lstStyle/>
          <a:p>
            <a:pPr indent="0" marL="0">
              <a:buNone/>
            </a:pPr>
            <a:r>
              <a:rPr lang="en-US" sz="1800" b="1" dirty="0">
                <a:solidFill>
                  <a:srgbClr val="233F4C"/>
                </a:solidFill>
                <a:latin typeface="Arial" pitchFamily="34" charset="0"/>
                <a:ea typeface="Arial" pitchFamily="34" charset="-122"/>
                <a:cs typeface="Arial" pitchFamily="34" charset="-120"/>
              </a:rPr>
              <a:t>Open the B&amp;S link</a:t>
            </a:r>
            <a:endParaRPr lang="en-US" sz="1800" dirty="0"/>
          </a:p>
        </p:txBody>
      </p:sp>
      <p:sp>
        <p:nvSpPr>
          <p:cNvPr id="15" name="Text 12"/>
          <p:cNvSpPr/>
          <p:nvPr/>
        </p:nvSpPr>
        <p:spPr>
          <a:xfrm>
            <a:off x="804672" y="2734056"/>
            <a:ext cx="3081528" cy="777240"/>
          </a:xfrm>
          <a:prstGeom prst="rect">
            <a:avLst/>
          </a:prstGeom>
          <a:noFill/>
          <a:ln/>
        </p:spPr>
        <p:txBody>
          <a:bodyPr wrap="square" lIns="0" tIns="0" rIns="0" bIns="0" rtlCol="0" anchor="t"/>
          <a:lstStyle/>
          <a:p>
            <a:pPr indent="0" marL="0">
              <a:buNone/>
            </a:pPr>
            <a:r>
              <a:rPr lang="en-US" sz="1650" dirty="0">
                <a:solidFill>
                  <a:srgbClr val="465D68"/>
                </a:solidFill>
                <a:latin typeface="Arial" pitchFamily="34" charset="0"/>
                <a:ea typeface="Arial" pitchFamily="34" charset="-122"/>
                <a:cs typeface="Arial" pitchFamily="34" charset="-120"/>
              </a:rPr>
              <a:t>Use an approved bookmark or company app launcher.</a:t>
            </a:r>
            <a:endParaRPr lang="en-US" sz="1650" dirty="0"/>
          </a:p>
        </p:txBody>
      </p:sp>
      <p:sp>
        <p:nvSpPr>
          <p:cNvPr id="16" name="Shape 13"/>
          <p:cNvSpPr/>
          <p:nvPr/>
        </p:nvSpPr>
        <p:spPr>
          <a:xfrm>
            <a:off x="4343400" y="2020824"/>
            <a:ext cx="3502152" cy="1655064"/>
          </a:xfrm>
          <a:prstGeom prst="roundRect">
            <a:avLst>
              <a:gd name="adj" fmla="val 8840"/>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17" name="Shape 14"/>
          <p:cNvSpPr/>
          <p:nvPr/>
        </p:nvSpPr>
        <p:spPr>
          <a:xfrm>
            <a:off x="4553712" y="2217420"/>
            <a:ext cx="310896" cy="310896"/>
          </a:xfrm>
          <a:prstGeom prst="ellipse">
            <a:avLst/>
          </a:prstGeom>
          <a:solidFill>
            <a:srgbClr val="EAF5F4"/>
          </a:solidFill>
          <a:ln w="12700">
            <a:solidFill>
              <a:srgbClr val="EAF5F4"/>
            </a:solidFill>
            <a:prstDash val="solid"/>
          </a:ln>
        </p:spPr>
      </p:sp>
      <p:sp>
        <p:nvSpPr>
          <p:cNvPr id="18" name="Text 15"/>
          <p:cNvSpPr/>
          <p:nvPr/>
        </p:nvSpPr>
        <p:spPr>
          <a:xfrm>
            <a:off x="4553712" y="2253996"/>
            <a:ext cx="310896" cy="292608"/>
          </a:xfrm>
          <a:prstGeom prst="rect">
            <a:avLst/>
          </a:prstGeom>
          <a:noFill/>
          <a:ln/>
        </p:spPr>
        <p:txBody>
          <a:bodyPr wrap="square" lIns="0" tIns="0" rIns="0" bIns="0" rtlCol="0" anchor="t"/>
          <a:lstStyle/>
          <a:p>
            <a:pPr algn="ctr" indent="0" marL="0">
              <a:buNone/>
            </a:pPr>
            <a:r>
              <a:rPr lang="en-US" sz="1320" b="1" dirty="0">
                <a:solidFill>
                  <a:srgbClr val="465D68"/>
                </a:solidFill>
                <a:latin typeface="Arial" pitchFamily="34" charset="0"/>
                <a:ea typeface="Arial" pitchFamily="34" charset="-122"/>
                <a:cs typeface="Arial" pitchFamily="34" charset="-120"/>
              </a:rPr>
              <a:t>2</a:t>
            </a:r>
            <a:endParaRPr lang="en-US" sz="1320" dirty="0"/>
          </a:p>
        </p:txBody>
      </p:sp>
      <p:sp>
        <p:nvSpPr>
          <p:cNvPr id="19" name="Text 16"/>
          <p:cNvSpPr/>
          <p:nvPr/>
        </p:nvSpPr>
        <p:spPr>
          <a:xfrm>
            <a:off x="4992624" y="2231136"/>
            <a:ext cx="2651760" cy="475488"/>
          </a:xfrm>
          <a:prstGeom prst="rect">
            <a:avLst/>
          </a:prstGeom>
          <a:noFill/>
          <a:ln/>
        </p:spPr>
        <p:txBody>
          <a:bodyPr wrap="square" lIns="0" tIns="0" rIns="0" bIns="0" rtlCol="0" anchor="t"/>
          <a:lstStyle/>
          <a:p>
            <a:pPr indent="0" marL="0">
              <a:buNone/>
            </a:pPr>
            <a:r>
              <a:rPr lang="en-US" sz="1800" b="1" dirty="0">
                <a:solidFill>
                  <a:srgbClr val="233F4C"/>
                </a:solidFill>
                <a:latin typeface="Arial" pitchFamily="34" charset="0"/>
                <a:ea typeface="Arial" pitchFamily="34" charset="-122"/>
                <a:cs typeface="Arial" pitchFamily="34" charset="-120"/>
              </a:rPr>
              <a:t>Sign in with Microsoft</a:t>
            </a:r>
            <a:endParaRPr lang="en-US" sz="1800" dirty="0"/>
          </a:p>
        </p:txBody>
      </p:sp>
      <p:sp>
        <p:nvSpPr>
          <p:cNvPr id="20" name="Text 17"/>
          <p:cNvSpPr/>
          <p:nvPr/>
        </p:nvSpPr>
        <p:spPr>
          <a:xfrm>
            <a:off x="4553712" y="2734056"/>
            <a:ext cx="3081528" cy="777240"/>
          </a:xfrm>
          <a:prstGeom prst="rect">
            <a:avLst/>
          </a:prstGeom>
          <a:noFill/>
          <a:ln/>
        </p:spPr>
        <p:txBody>
          <a:bodyPr wrap="square" lIns="0" tIns="0" rIns="0" bIns="0" rtlCol="0" anchor="t"/>
          <a:lstStyle/>
          <a:p>
            <a:pPr indent="0" marL="0">
              <a:buNone/>
            </a:pPr>
            <a:r>
              <a:rPr lang="en-US" sz="1650" dirty="0">
                <a:solidFill>
                  <a:srgbClr val="465D68"/>
                </a:solidFill>
                <a:latin typeface="Arial" pitchFamily="34" charset="0"/>
                <a:ea typeface="Arial" pitchFamily="34" charset="-122"/>
                <a:cs typeface="Arial" pitchFamily="34" charset="-120"/>
              </a:rPr>
              <a:t>Use the work account and the security checks B&amp;S requires.</a:t>
            </a:r>
            <a:endParaRPr lang="en-US" sz="1650" dirty="0"/>
          </a:p>
        </p:txBody>
      </p:sp>
      <p:sp>
        <p:nvSpPr>
          <p:cNvPr id="21" name="Shape 18"/>
          <p:cNvSpPr/>
          <p:nvPr/>
        </p:nvSpPr>
        <p:spPr>
          <a:xfrm>
            <a:off x="8092440" y="2020824"/>
            <a:ext cx="3502152" cy="1655064"/>
          </a:xfrm>
          <a:prstGeom prst="roundRect">
            <a:avLst>
              <a:gd name="adj" fmla="val 8840"/>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22" name="Shape 19"/>
          <p:cNvSpPr/>
          <p:nvPr/>
        </p:nvSpPr>
        <p:spPr>
          <a:xfrm>
            <a:off x="8302752" y="2217420"/>
            <a:ext cx="310896" cy="310896"/>
          </a:xfrm>
          <a:prstGeom prst="ellipse">
            <a:avLst/>
          </a:prstGeom>
          <a:solidFill>
            <a:srgbClr val="EAF5F4"/>
          </a:solidFill>
          <a:ln w="12700">
            <a:solidFill>
              <a:srgbClr val="EAF5F4"/>
            </a:solidFill>
            <a:prstDash val="solid"/>
          </a:ln>
        </p:spPr>
      </p:sp>
      <p:sp>
        <p:nvSpPr>
          <p:cNvPr id="23" name="Text 20"/>
          <p:cNvSpPr/>
          <p:nvPr/>
        </p:nvSpPr>
        <p:spPr>
          <a:xfrm>
            <a:off x="8302752" y="2253996"/>
            <a:ext cx="310896" cy="292608"/>
          </a:xfrm>
          <a:prstGeom prst="rect">
            <a:avLst/>
          </a:prstGeom>
          <a:noFill/>
          <a:ln/>
        </p:spPr>
        <p:txBody>
          <a:bodyPr wrap="square" lIns="0" tIns="0" rIns="0" bIns="0" rtlCol="0" anchor="t"/>
          <a:lstStyle/>
          <a:p>
            <a:pPr algn="ctr" indent="0" marL="0">
              <a:buNone/>
            </a:pPr>
            <a:r>
              <a:rPr lang="en-US" sz="1320" b="1" dirty="0">
                <a:solidFill>
                  <a:srgbClr val="465D68"/>
                </a:solidFill>
                <a:latin typeface="Arial" pitchFamily="34" charset="0"/>
                <a:ea typeface="Arial" pitchFamily="34" charset="-122"/>
                <a:cs typeface="Arial" pitchFamily="34" charset="-120"/>
              </a:rPr>
              <a:t>3</a:t>
            </a:r>
            <a:endParaRPr lang="en-US" sz="1320" dirty="0"/>
          </a:p>
        </p:txBody>
      </p:sp>
      <p:sp>
        <p:nvSpPr>
          <p:cNvPr id="24" name="Text 21"/>
          <p:cNvSpPr/>
          <p:nvPr/>
        </p:nvSpPr>
        <p:spPr>
          <a:xfrm>
            <a:off x="8741664" y="2231136"/>
            <a:ext cx="2651760" cy="475488"/>
          </a:xfrm>
          <a:prstGeom prst="rect">
            <a:avLst/>
          </a:prstGeom>
          <a:noFill/>
          <a:ln/>
        </p:spPr>
        <p:txBody>
          <a:bodyPr wrap="square" lIns="0" tIns="0" rIns="0" bIns="0" rtlCol="0" anchor="t"/>
          <a:lstStyle/>
          <a:p>
            <a:pPr indent="0" marL="0">
              <a:buNone/>
            </a:pPr>
            <a:r>
              <a:rPr lang="en-US" sz="1800" b="1" dirty="0">
                <a:solidFill>
                  <a:srgbClr val="233F4C"/>
                </a:solidFill>
                <a:latin typeface="Arial" pitchFamily="34" charset="0"/>
                <a:ea typeface="Arial" pitchFamily="34" charset="-122"/>
                <a:cs typeface="Arial" pitchFamily="34" charset="-120"/>
              </a:rPr>
              <a:t>Check permissions</a:t>
            </a:r>
            <a:endParaRPr lang="en-US" sz="1800" dirty="0"/>
          </a:p>
        </p:txBody>
      </p:sp>
      <p:sp>
        <p:nvSpPr>
          <p:cNvPr id="25" name="Text 22"/>
          <p:cNvSpPr/>
          <p:nvPr/>
        </p:nvSpPr>
        <p:spPr>
          <a:xfrm>
            <a:off x="8302752" y="2734056"/>
            <a:ext cx="3081528" cy="777240"/>
          </a:xfrm>
          <a:prstGeom prst="rect">
            <a:avLst/>
          </a:prstGeom>
          <a:noFill/>
          <a:ln/>
        </p:spPr>
        <p:txBody>
          <a:bodyPr wrap="square" lIns="0" tIns="0" rIns="0" bIns="0" rtlCol="0" anchor="t"/>
          <a:lstStyle/>
          <a:p>
            <a:pPr indent="0" marL="0">
              <a:buNone/>
            </a:pPr>
            <a:r>
              <a:rPr lang="en-US" sz="1650" dirty="0">
                <a:solidFill>
                  <a:srgbClr val="465D68"/>
                </a:solidFill>
                <a:latin typeface="Arial" pitchFamily="34" charset="0"/>
                <a:ea typeface="Arial" pitchFamily="34" charset="-122"/>
                <a:cs typeface="Arial" pitchFamily="34" charset="-120"/>
              </a:rPr>
              <a:t>Only assigned staff get access to their permitted payroll data and actions.</a:t>
            </a:r>
            <a:endParaRPr lang="en-US" sz="1650" dirty="0"/>
          </a:p>
        </p:txBody>
      </p:sp>
      <p:sp>
        <p:nvSpPr>
          <p:cNvPr id="26" name="Shape 23"/>
          <p:cNvSpPr/>
          <p:nvPr/>
        </p:nvSpPr>
        <p:spPr>
          <a:xfrm>
            <a:off x="594360" y="4023360"/>
            <a:ext cx="3502152" cy="1572768"/>
          </a:xfrm>
          <a:prstGeom prst="roundRect">
            <a:avLst>
              <a:gd name="adj" fmla="val 9302"/>
            </a:avLst>
          </a:prstGeom>
          <a:solidFill>
            <a:srgbClr val="EEF4FD"/>
          </a:solidFill>
          <a:ln w="9525">
            <a:solidFill>
              <a:srgbClr val="B3CDED"/>
            </a:solidFill>
            <a:prstDash val="solid"/>
          </a:ln>
          <a:effectLst>
            <a:outerShdw sx="100000" sy="100000" kx="0" ky="0" algn="bl" rotWithShape="0" blurRad="27940" dist="13970" dir="5400000">
              <a:srgbClr val="90A3AB">
                <a:alpha val="10000"/>
              </a:srgbClr>
            </a:outerShdw>
          </a:effectLst>
        </p:spPr>
      </p:sp>
      <p:sp>
        <p:nvSpPr>
          <p:cNvPr id="27" name="Text 24"/>
          <p:cNvSpPr/>
          <p:nvPr/>
        </p:nvSpPr>
        <p:spPr>
          <a:xfrm>
            <a:off x="804672" y="4233672"/>
            <a:ext cx="3090672" cy="475488"/>
          </a:xfrm>
          <a:prstGeom prst="rect">
            <a:avLst/>
          </a:prstGeom>
          <a:noFill/>
          <a:ln/>
        </p:spPr>
        <p:txBody>
          <a:bodyPr wrap="square" lIns="0" tIns="0" rIns="0" bIns="0" rtlCol="0" anchor="t"/>
          <a:lstStyle/>
          <a:p>
            <a:pPr indent="0" marL="0">
              <a:buNone/>
            </a:pPr>
            <a:r>
              <a:rPr lang="en-US" sz="1850" b="1" dirty="0">
                <a:solidFill>
                  <a:srgbClr val="346DA9"/>
                </a:solidFill>
                <a:latin typeface="Arial" pitchFamily="34" charset="0"/>
                <a:ea typeface="Arial" pitchFamily="34" charset="-122"/>
                <a:cs typeface="Arial" pitchFamily="34" charset="-120"/>
              </a:rPr>
              <a:t>Limit access</a:t>
            </a:r>
            <a:endParaRPr lang="en-US" sz="1850" dirty="0"/>
          </a:p>
        </p:txBody>
      </p:sp>
      <p:sp>
        <p:nvSpPr>
          <p:cNvPr id="28" name="Text 25"/>
          <p:cNvSpPr/>
          <p:nvPr/>
        </p:nvSpPr>
        <p:spPr>
          <a:xfrm>
            <a:off x="804672" y="4636008"/>
            <a:ext cx="3081528" cy="795528"/>
          </a:xfrm>
          <a:prstGeom prst="rect">
            <a:avLst/>
          </a:prstGeom>
          <a:noFill/>
          <a:ln/>
        </p:spPr>
        <p:txBody>
          <a:bodyPr wrap="square" lIns="0" tIns="0" rIns="0" bIns="0" rtlCol="0" anchor="t"/>
          <a:lstStyle/>
          <a:p>
            <a:pPr indent="0" marL="0">
              <a:buNone/>
            </a:pPr>
            <a:r>
              <a:rPr lang="en-US" sz="1630" dirty="0">
                <a:solidFill>
                  <a:srgbClr val="465D68"/>
                </a:solidFill>
                <a:latin typeface="Arial" pitchFamily="34" charset="0"/>
                <a:ea typeface="Arial" pitchFamily="34" charset="-122"/>
                <a:cs typeface="Arial" pitchFamily="34" charset="-120"/>
              </a:rPr>
              <a:t>Use narrow roles. Test that unassigned or out-of-scope users are denied.</a:t>
            </a:r>
            <a:endParaRPr lang="en-US" sz="1630" dirty="0"/>
          </a:p>
        </p:txBody>
      </p:sp>
      <p:sp>
        <p:nvSpPr>
          <p:cNvPr id="29" name="Shape 26"/>
          <p:cNvSpPr/>
          <p:nvPr/>
        </p:nvSpPr>
        <p:spPr>
          <a:xfrm>
            <a:off x="4343400" y="4023360"/>
            <a:ext cx="3502152" cy="1572768"/>
          </a:xfrm>
          <a:prstGeom prst="roundRect">
            <a:avLst>
              <a:gd name="adj" fmla="val 9302"/>
            </a:avLst>
          </a:prstGeom>
          <a:solidFill>
            <a:srgbClr val="EAF5F4"/>
          </a:solidFill>
          <a:ln w="9525">
            <a:solidFill>
              <a:srgbClr val="87B7B2"/>
            </a:solidFill>
            <a:prstDash val="solid"/>
          </a:ln>
          <a:effectLst>
            <a:outerShdw sx="100000" sy="100000" kx="0" ky="0" algn="bl" rotWithShape="0" blurRad="27940" dist="13970" dir="5400000">
              <a:srgbClr val="90A3AB">
                <a:alpha val="10000"/>
              </a:srgbClr>
            </a:outerShdw>
          </a:effectLst>
        </p:spPr>
      </p:sp>
      <p:sp>
        <p:nvSpPr>
          <p:cNvPr id="30" name="Text 27"/>
          <p:cNvSpPr/>
          <p:nvPr/>
        </p:nvSpPr>
        <p:spPr>
          <a:xfrm>
            <a:off x="4553712" y="4233672"/>
            <a:ext cx="3090672" cy="475488"/>
          </a:xfrm>
          <a:prstGeom prst="rect">
            <a:avLst/>
          </a:prstGeom>
          <a:noFill/>
          <a:ln/>
        </p:spPr>
        <p:txBody>
          <a:bodyPr wrap="square" lIns="0" tIns="0" rIns="0" bIns="0" rtlCol="0" anchor="t"/>
          <a:lstStyle/>
          <a:p>
            <a:pPr indent="0" marL="0">
              <a:buNone/>
            </a:pPr>
            <a:r>
              <a:rPr lang="en-US" sz="1850" b="1" dirty="0">
                <a:solidFill>
                  <a:srgbClr val="317F7B"/>
                </a:solidFill>
                <a:latin typeface="Arial" pitchFamily="34" charset="0"/>
                <a:ea typeface="Arial" pitchFamily="34" charset="-122"/>
                <a:cs typeface="Arial" pitchFamily="34" charset="-120"/>
              </a:rPr>
              <a:t>Protect the data</a:t>
            </a:r>
            <a:endParaRPr lang="en-US" sz="1850" dirty="0"/>
          </a:p>
        </p:txBody>
      </p:sp>
      <p:sp>
        <p:nvSpPr>
          <p:cNvPr id="31" name="Text 28"/>
          <p:cNvSpPr/>
          <p:nvPr/>
        </p:nvSpPr>
        <p:spPr>
          <a:xfrm>
            <a:off x="4553712" y="4636008"/>
            <a:ext cx="3081528" cy="795528"/>
          </a:xfrm>
          <a:prstGeom prst="rect">
            <a:avLst/>
          </a:prstGeom>
          <a:noFill/>
          <a:ln/>
        </p:spPr>
        <p:txBody>
          <a:bodyPr wrap="square" lIns="0" tIns="0" rIns="0" bIns="0" rtlCol="0" anchor="t"/>
          <a:lstStyle/>
          <a:p>
            <a:pPr indent="0" marL="0">
              <a:buNone/>
            </a:pPr>
            <a:r>
              <a:rPr lang="en-US" sz="1630" dirty="0">
                <a:solidFill>
                  <a:srgbClr val="465D68"/>
                </a:solidFill>
                <a:latin typeface="Arial" pitchFamily="34" charset="0"/>
                <a:ea typeface="Arial" pitchFamily="34" charset="-122"/>
                <a:cs typeface="Arial" pitchFamily="34" charset="-120"/>
              </a:rPr>
              <a:t>Encrypt stored and transferred data. Restrict credentials, logs and exports.</a:t>
            </a:r>
            <a:endParaRPr lang="en-US" sz="1630" dirty="0"/>
          </a:p>
        </p:txBody>
      </p:sp>
      <p:sp>
        <p:nvSpPr>
          <p:cNvPr id="32" name="Shape 29"/>
          <p:cNvSpPr/>
          <p:nvPr/>
        </p:nvSpPr>
        <p:spPr>
          <a:xfrm>
            <a:off x="8092440" y="4023360"/>
            <a:ext cx="3502152" cy="1572768"/>
          </a:xfrm>
          <a:prstGeom prst="roundRect">
            <a:avLst>
              <a:gd name="adj" fmla="val 9302"/>
            </a:avLst>
          </a:prstGeom>
          <a:solidFill>
            <a:srgbClr val="EDF8F1"/>
          </a:solidFill>
          <a:ln w="9525">
            <a:solidFill>
              <a:srgbClr val="A4CCB9"/>
            </a:solidFill>
            <a:prstDash val="solid"/>
          </a:ln>
          <a:effectLst>
            <a:outerShdw sx="100000" sy="100000" kx="0" ky="0" algn="bl" rotWithShape="0" blurRad="27940" dist="13970" dir="5400000">
              <a:srgbClr val="90A3AB">
                <a:alpha val="10000"/>
              </a:srgbClr>
            </a:outerShdw>
          </a:effectLst>
        </p:spPr>
      </p:sp>
      <p:sp>
        <p:nvSpPr>
          <p:cNvPr id="33" name="Text 30"/>
          <p:cNvSpPr/>
          <p:nvPr/>
        </p:nvSpPr>
        <p:spPr>
          <a:xfrm>
            <a:off x="8302752" y="4233672"/>
            <a:ext cx="3090672" cy="475488"/>
          </a:xfrm>
          <a:prstGeom prst="rect">
            <a:avLst/>
          </a:prstGeom>
          <a:noFill/>
          <a:ln/>
        </p:spPr>
        <p:txBody>
          <a:bodyPr wrap="square" lIns="0" tIns="0" rIns="0" bIns="0" rtlCol="0" anchor="t"/>
          <a:lstStyle/>
          <a:p>
            <a:pPr indent="0" marL="0">
              <a:buNone/>
            </a:pPr>
            <a:r>
              <a:rPr lang="en-US" sz="1850" b="1" dirty="0">
                <a:solidFill>
                  <a:srgbClr val="287B5B"/>
                </a:solidFill>
                <a:latin typeface="Arial" pitchFamily="34" charset="0"/>
                <a:ea typeface="Arial" pitchFamily="34" charset="-122"/>
                <a:cs typeface="Arial" pitchFamily="34" charset="-120"/>
              </a:rPr>
              <a:t>Recover safely</a:t>
            </a:r>
            <a:endParaRPr lang="en-US" sz="1850" dirty="0"/>
          </a:p>
        </p:txBody>
      </p:sp>
      <p:sp>
        <p:nvSpPr>
          <p:cNvPr id="34" name="Text 31"/>
          <p:cNvSpPr/>
          <p:nvPr/>
        </p:nvSpPr>
        <p:spPr>
          <a:xfrm>
            <a:off x="8302752" y="4636008"/>
            <a:ext cx="3081528" cy="795528"/>
          </a:xfrm>
          <a:prstGeom prst="rect">
            <a:avLst/>
          </a:prstGeom>
          <a:noFill/>
          <a:ln/>
        </p:spPr>
        <p:txBody>
          <a:bodyPr wrap="square" lIns="0" tIns="0" rIns="0" bIns="0" rtlCol="0" anchor="t"/>
          <a:lstStyle/>
          <a:p>
            <a:pPr indent="0" marL="0">
              <a:buNone/>
            </a:pPr>
            <a:r>
              <a:rPr lang="en-US" sz="1630" dirty="0">
                <a:solidFill>
                  <a:srgbClr val="465D68"/>
                </a:solidFill>
                <a:latin typeface="Arial" pitchFamily="34" charset="0"/>
                <a:ea typeface="Arial" pitchFamily="34" charset="-122"/>
                <a:cs typeface="Arial" pitchFamily="34" charset="-120"/>
              </a:rPr>
              <a:t>Keep alerts, backups and a practiced manual fallback with a trained backup operator.</a:t>
            </a:r>
            <a:endParaRPr lang="en-US" sz="1630" dirty="0"/>
          </a:p>
        </p:txBody>
      </p:sp>
      <p:sp>
        <p:nvSpPr>
          <p:cNvPr id="35" name="Shape 32"/>
          <p:cNvSpPr/>
          <p:nvPr/>
        </p:nvSpPr>
        <p:spPr>
          <a:xfrm>
            <a:off x="585216" y="5907024"/>
            <a:ext cx="11018520" cy="493776"/>
          </a:xfrm>
          <a:prstGeom prst="roundRect">
            <a:avLst>
              <a:gd name="adj" fmla="val 20370"/>
            </a:avLst>
          </a:prstGeom>
          <a:solidFill>
            <a:srgbClr val="EAF5F4"/>
          </a:solidFill>
          <a:ln w="9525">
            <a:solidFill>
              <a:srgbClr val="87B7B2"/>
            </a:solidFill>
            <a:prstDash val="solid"/>
          </a:ln>
        </p:spPr>
      </p:sp>
      <p:sp>
        <p:nvSpPr>
          <p:cNvPr id="36" name="Text 33"/>
          <p:cNvSpPr/>
          <p:nvPr/>
        </p:nvSpPr>
        <p:spPr>
          <a:xfrm>
            <a:off x="786384" y="6044184"/>
            <a:ext cx="1783080" cy="329184"/>
          </a:xfrm>
          <a:prstGeom prst="rect">
            <a:avLst/>
          </a:prstGeom>
          <a:noFill/>
          <a:ln/>
        </p:spPr>
        <p:txBody>
          <a:bodyPr wrap="square" lIns="0" tIns="0" rIns="0" bIns="0" rtlCol="0" anchor="t"/>
          <a:lstStyle/>
          <a:p>
            <a:pPr indent="0" marL="0">
              <a:buNone/>
            </a:pPr>
            <a:r>
              <a:rPr lang="en-US" sz="1490" b="1" dirty="0">
                <a:solidFill>
                  <a:srgbClr val="317F7B"/>
                </a:solidFill>
                <a:latin typeface="Arial" pitchFamily="34" charset="0"/>
                <a:ea typeface="Arial" pitchFamily="34" charset="-122"/>
                <a:cs typeface="Arial" pitchFamily="34" charset="-120"/>
              </a:rPr>
              <a:t>Before real data</a:t>
            </a:r>
            <a:endParaRPr lang="en-US" sz="1490" dirty="0"/>
          </a:p>
        </p:txBody>
      </p:sp>
      <p:sp>
        <p:nvSpPr>
          <p:cNvPr id="37" name="Text 34"/>
          <p:cNvSpPr/>
          <p:nvPr/>
        </p:nvSpPr>
        <p:spPr>
          <a:xfrm>
            <a:off x="2660904" y="6044184"/>
            <a:ext cx="8723376" cy="329184"/>
          </a:xfrm>
          <a:prstGeom prst="rect">
            <a:avLst/>
          </a:prstGeom>
          <a:noFill/>
          <a:ln/>
        </p:spPr>
        <p:txBody>
          <a:bodyPr wrap="square" lIns="0" tIns="0" rIns="0" bIns="0" rtlCol="0" anchor="t"/>
          <a:lstStyle/>
          <a:p>
            <a:pPr indent="0" marL="0">
              <a:buNone/>
            </a:pPr>
            <a:r>
              <a:rPr lang="en-US" sz="1490" dirty="0">
                <a:solidFill>
                  <a:srgbClr val="465D68"/>
                </a:solidFill>
                <a:latin typeface="Arial" pitchFamily="34" charset="0"/>
                <a:ea typeface="Arial" pitchFamily="34" charset="-122"/>
                <a:cs typeface="Arial" pitchFamily="34" charset="-120"/>
              </a:rPr>
              <a:t>Test access, privacy and recovery. The synthetic demo is not a security certification.</a:t>
            </a:r>
            <a:endParaRPr lang="en-US" sz="149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AFC"/>
        </a:solidFill>
      </p:bgPr>
    </p:bg>
    <p:spTree>
      <p:nvGrpSpPr>
        <p:cNvPr id="1" name=""/>
        <p:cNvGrpSpPr/>
        <p:nvPr/>
      </p:nvGrpSpPr>
      <p:grpSpPr>
        <a:xfrm>
          <a:off x="0" y="0"/>
          <a:ext cx="0" cy="0"/>
          <a:chOff x="0" y="0"/>
          <a:chExt cx="0" cy="0"/>
        </a:xfrm>
      </p:grpSpPr>
      <p:sp>
        <p:nvSpPr>
          <p:cNvPr id="2" name="Shape 0"/>
          <p:cNvSpPr/>
          <p:nvPr/>
        </p:nvSpPr>
        <p:spPr>
          <a:xfrm>
            <a:off x="0" y="0"/>
            <a:ext cx="12192000" cy="41148"/>
          </a:xfrm>
          <a:prstGeom prst="rect">
            <a:avLst/>
          </a:prstGeom>
          <a:solidFill>
            <a:srgbClr val="87B7B2"/>
          </a:solidFill>
          <a:ln w="12700">
            <a:solidFill>
              <a:srgbClr val="87B7B2">
                <a:alpha val="0"/>
              </a:srgbClr>
            </a:solidFill>
            <a:prstDash val="solid"/>
          </a:ln>
        </p:spPr>
      </p:sp>
      <p:sp>
        <p:nvSpPr>
          <p:cNvPr id="3" name="Text 1"/>
          <p:cNvSpPr/>
          <p:nvPr/>
        </p:nvSpPr>
        <p:spPr>
          <a:xfrm>
            <a:off x="585216" y="246888"/>
            <a:ext cx="10972800" cy="201168"/>
          </a:xfrm>
          <a:prstGeom prst="rect">
            <a:avLst/>
          </a:prstGeom>
          <a:noFill/>
          <a:ln/>
        </p:spPr>
        <p:txBody>
          <a:bodyPr wrap="square" lIns="0" tIns="0" rIns="0" bIns="0" rtlCol="0" anchor="t"/>
          <a:lstStyle/>
          <a:p>
            <a:pPr indent="0" marL="0">
              <a:buNone/>
            </a:pPr>
            <a:r>
              <a:rPr lang="en-US" sz="1000" b="1" dirty="0">
                <a:solidFill>
                  <a:srgbClr val="317F7B"/>
                </a:solidFill>
                <a:latin typeface="Arial" pitchFamily="34" charset="0"/>
                <a:ea typeface="Arial" pitchFamily="34" charset="-122"/>
                <a:cs typeface="Arial" pitchFamily="34" charset="-120"/>
              </a:rPr>
              <a:t>Who builds, owns and supports it?</a:t>
            </a:r>
            <a:endParaRPr lang="en-US" sz="1000" dirty="0"/>
          </a:p>
        </p:txBody>
      </p:sp>
      <p:sp>
        <p:nvSpPr>
          <p:cNvPr id="4" name="Text 2"/>
          <p:cNvSpPr/>
          <p:nvPr/>
        </p:nvSpPr>
        <p:spPr>
          <a:xfrm>
            <a:off x="585216" y="658368"/>
            <a:ext cx="11027664" cy="594360"/>
          </a:xfrm>
          <a:prstGeom prst="rect">
            <a:avLst/>
          </a:prstGeom>
          <a:noFill/>
          <a:ln/>
        </p:spPr>
        <p:txBody>
          <a:bodyPr wrap="square" lIns="0" tIns="0" rIns="0" bIns="0" rtlCol="0" anchor="t"/>
          <a:lstStyle/>
          <a:p>
            <a:pPr indent="0" marL="0">
              <a:buNone/>
            </a:pPr>
            <a:r>
              <a:rPr lang="en-US" sz="2800" b="1" dirty="0">
                <a:solidFill>
                  <a:srgbClr val="233F4C"/>
                </a:solidFill>
                <a:latin typeface="Arial" pitchFamily="34" charset="0"/>
                <a:ea typeface="Arial" pitchFamily="34" charset="-122"/>
                <a:cs typeface="Arial" pitchFamily="34" charset="-120"/>
              </a:rPr>
              <a:t>Komlan would build it. B&amp;S would own it.</a:t>
            </a:r>
            <a:endParaRPr lang="en-US" sz="2800" dirty="0"/>
          </a:p>
        </p:txBody>
      </p:sp>
      <p:sp>
        <p:nvSpPr>
          <p:cNvPr id="5" name="Text 3"/>
          <p:cNvSpPr/>
          <p:nvPr/>
        </p:nvSpPr>
        <p:spPr>
          <a:xfrm>
            <a:off x="594360" y="1307592"/>
            <a:ext cx="10945368" cy="530352"/>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IT maintains the software. Payroll/Finance keeps authority over pay rules and payroll decisions.</a:t>
            </a:r>
            <a:endParaRPr lang="en-US" sz="1660" dirty="0"/>
          </a:p>
        </p:txBody>
      </p:sp>
      <p:sp>
        <p:nvSpPr>
          <p:cNvPr id="6" name="Shape 4"/>
          <p:cNvSpPr/>
          <p:nvPr/>
        </p:nvSpPr>
        <p:spPr>
          <a:xfrm>
            <a:off x="585216" y="6510528"/>
            <a:ext cx="11018520" cy="0"/>
          </a:xfrm>
          <a:prstGeom prst="line">
            <a:avLst/>
          </a:prstGeom>
          <a:noFill/>
          <a:ln w="10160">
            <a:solidFill>
              <a:srgbClr val="DCE6E9"/>
            </a:solidFill>
            <a:prstDash val="solid"/>
          </a:ln>
        </p:spPr>
      </p:sp>
      <p:sp>
        <p:nvSpPr>
          <p:cNvPr id="7" name="Text 5"/>
          <p:cNvSpPr/>
          <p:nvPr/>
        </p:nvSpPr>
        <p:spPr>
          <a:xfrm>
            <a:off x="594360" y="6611112"/>
            <a:ext cx="3749040" cy="164592"/>
          </a:xfrm>
          <a:prstGeom prst="rect">
            <a:avLst/>
          </a:prstGeom>
          <a:noFill/>
          <a:ln/>
        </p:spPr>
        <p:txBody>
          <a:bodyPr wrap="square" lIns="0" tIns="0" rIns="0" bIns="0" rtlCol="0" anchor="t"/>
          <a:lstStyle/>
          <a:p>
            <a:pPr indent="0" marL="0">
              <a:buNone/>
            </a:pPr>
            <a:r>
              <a:rPr lang="en-US" sz="820" dirty="0">
                <a:solidFill>
                  <a:srgbClr val="69808A"/>
                </a:solidFill>
                <a:latin typeface="Arial" pitchFamily="34" charset="0"/>
                <a:ea typeface="Arial" pitchFamily="34" charset="-122"/>
                <a:cs typeface="Arial" pitchFamily="34" charset="-120"/>
              </a:rPr>
              <a:t>Komlan Kouhiko  /  B&amp;S payroll proposal</a:t>
            </a:r>
            <a:endParaRPr lang="en-US" sz="820" dirty="0"/>
          </a:p>
        </p:txBody>
      </p:sp>
      <p:sp>
        <p:nvSpPr>
          <p:cNvPr id="8" name="Text 6"/>
          <p:cNvSpPr/>
          <p:nvPr/>
        </p:nvSpPr>
        <p:spPr>
          <a:xfrm>
            <a:off x="4023360" y="6611112"/>
            <a:ext cx="6903720" cy="164592"/>
          </a:xfrm>
          <a:prstGeom prst="rect">
            <a:avLst/>
          </a:prstGeom>
          <a:noFill/>
          <a:ln/>
        </p:spPr>
        <p:txBody>
          <a:bodyPr wrap="square" lIns="0" tIns="0" rIns="0" bIns="0" rtlCol="0" anchor="t"/>
          <a:lstStyle/>
          <a:p>
            <a:pPr algn="r" indent="0" marL="0">
              <a:buNone/>
            </a:pPr>
            <a:r>
              <a:rPr lang="en-US" sz="805" dirty="0">
                <a:solidFill>
                  <a:srgbClr val="69808A"/>
                </a:solidFill>
                <a:latin typeface="Arial" pitchFamily="34" charset="0"/>
                <a:ea typeface="Arial" pitchFamily="34" charset="-122"/>
                <a:cs typeface="Arial" pitchFamily="34" charset="-120"/>
              </a:rPr>
              <a:t>Proposed responsibilities and handover • Subject to B&amp;S agreement</a:t>
            </a:r>
            <a:endParaRPr lang="en-US" sz="805" dirty="0"/>
          </a:p>
        </p:txBody>
      </p:sp>
      <p:sp>
        <p:nvSpPr>
          <p:cNvPr id="9" name="Text 7"/>
          <p:cNvSpPr/>
          <p:nvPr/>
        </p:nvSpPr>
        <p:spPr>
          <a:xfrm>
            <a:off x="11100816" y="6592824"/>
            <a:ext cx="502920" cy="201168"/>
          </a:xfrm>
          <a:prstGeom prst="rect">
            <a:avLst/>
          </a:prstGeom>
          <a:noFill/>
          <a:ln/>
        </p:spPr>
        <p:txBody>
          <a:bodyPr wrap="square" lIns="0" tIns="0" rIns="0" bIns="0" rtlCol="0" anchor="t"/>
          <a:lstStyle/>
          <a:p>
            <a:pPr algn="r" indent="0" marL="0">
              <a:buNone/>
            </a:pPr>
            <a:r>
              <a:rPr lang="en-US" sz="920" dirty="0">
                <a:solidFill>
                  <a:srgbClr val="69808A"/>
                </a:solidFill>
                <a:latin typeface="Arial" pitchFamily="34" charset="0"/>
                <a:ea typeface="Arial" pitchFamily="34" charset="-122"/>
                <a:cs typeface="Arial" pitchFamily="34" charset="-120"/>
              </a:rPr>
              <a:t>16 / 19</a:t>
            </a:r>
            <a:endParaRPr lang="en-US" sz="920" dirty="0"/>
          </a:p>
        </p:txBody>
      </p:sp>
      <p:sp>
        <p:nvSpPr>
          <p:cNvPr id="11" name="Shape 8"/>
          <p:cNvSpPr/>
          <p:nvPr/>
        </p:nvSpPr>
        <p:spPr>
          <a:xfrm>
            <a:off x="594360" y="2075688"/>
            <a:ext cx="3502152" cy="2377440"/>
          </a:xfrm>
          <a:prstGeom prst="roundRect">
            <a:avLst>
              <a:gd name="adj" fmla="val 6154"/>
            </a:avLst>
          </a:prstGeom>
          <a:solidFill>
            <a:srgbClr val="EAF5F4"/>
          </a:solidFill>
          <a:ln w="9525">
            <a:solidFill>
              <a:srgbClr val="87B7B2"/>
            </a:solidFill>
            <a:prstDash val="solid"/>
          </a:ln>
          <a:effectLst>
            <a:outerShdw sx="100000" sy="100000" kx="0" ky="0" algn="bl" rotWithShape="0" blurRad="27940" dist="13970" dir="5400000">
              <a:srgbClr val="90A3AB">
                <a:alpha val="10000"/>
              </a:srgbClr>
            </a:outerShdw>
          </a:effectLst>
        </p:spPr>
      </p:sp>
      <p:sp>
        <p:nvSpPr>
          <p:cNvPr id="12" name="Text 9"/>
          <p:cNvSpPr/>
          <p:nvPr/>
        </p:nvSpPr>
        <p:spPr>
          <a:xfrm>
            <a:off x="822960" y="2331720"/>
            <a:ext cx="3026664" cy="365760"/>
          </a:xfrm>
          <a:prstGeom prst="rect">
            <a:avLst/>
          </a:prstGeom>
          <a:noFill/>
          <a:ln/>
        </p:spPr>
        <p:txBody>
          <a:bodyPr wrap="square" lIns="0" tIns="0" rIns="0" bIns="0" rtlCol="0" anchor="t"/>
          <a:lstStyle/>
          <a:p>
            <a:pPr indent="0" marL="0">
              <a:buNone/>
            </a:pPr>
            <a:r>
              <a:rPr lang="en-US" sz="2200" b="1" dirty="0">
                <a:solidFill>
                  <a:srgbClr val="233F4C"/>
                </a:solidFill>
                <a:latin typeface="Arial" pitchFamily="34" charset="0"/>
                <a:ea typeface="Arial" pitchFamily="34" charset="-122"/>
                <a:cs typeface="Arial" pitchFamily="34" charset="-120"/>
              </a:rPr>
              <a:t>Komlan</a:t>
            </a:r>
            <a:endParaRPr lang="en-US" sz="2200" dirty="0"/>
          </a:p>
        </p:txBody>
      </p:sp>
      <p:sp>
        <p:nvSpPr>
          <p:cNvPr id="13" name="Text 10"/>
          <p:cNvSpPr/>
          <p:nvPr/>
        </p:nvSpPr>
        <p:spPr>
          <a:xfrm>
            <a:off x="822960" y="2816352"/>
            <a:ext cx="2926080" cy="201168"/>
          </a:xfrm>
          <a:prstGeom prst="rect">
            <a:avLst/>
          </a:prstGeom>
          <a:noFill/>
          <a:ln/>
        </p:spPr>
        <p:txBody>
          <a:bodyPr wrap="square" lIns="0" tIns="0" rIns="0" bIns="0" rtlCol="0" anchor="t"/>
          <a:lstStyle/>
          <a:p>
            <a:pPr indent="0" marL="0">
              <a:buNone/>
            </a:pPr>
            <a:r>
              <a:rPr lang="en-US" sz="1000" b="1" dirty="0">
                <a:solidFill>
                  <a:srgbClr val="317F7B"/>
                </a:solidFill>
                <a:latin typeface="Arial" pitchFamily="34" charset="0"/>
                <a:ea typeface="Arial" pitchFamily="34" charset="-122"/>
                <a:cs typeface="Arial" pitchFamily="34" charset="-120"/>
              </a:rPr>
              <a:t>Build lead</a:t>
            </a:r>
            <a:endParaRPr lang="en-US" sz="1000" dirty="0"/>
          </a:p>
        </p:txBody>
      </p:sp>
      <p:sp>
        <p:nvSpPr>
          <p:cNvPr id="14" name="Text 11"/>
          <p:cNvSpPr/>
          <p:nvPr/>
        </p:nvSpPr>
        <p:spPr>
          <a:xfrm>
            <a:off x="822960" y="3282696"/>
            <a:ext cx="3026664" cy="932688"/>
          </a:xfrm>
          <a:prstGeom prst="rect">
            <a:avLst/>
          </a:prstGeom>
          <a:noFill/>
          <a:ln/>
        </p:spPr>
        <p:txBody>
          <a:bodyPr wrap="square" lIns="0" tIns="0" rIns="0" bIns="0" rtlCol="0" anchor="t"/>
          <a:lstStyle/>
          <a:p>
            <a:pPr indent="0" marL="0">
              <a:buNone/>
            </a:pPr>
            <a:r>
              <a:rPr lang="en-US" sz="1750" dirty="0">
                <a:solidFill>
                  <a:srgbClr val="465D68"/>
                </a:solidFill>
                <a:latin typeface="Arial" pitchFamily="34" charset="0"/>
                <a:ea typeface="Arial" pitchFamily="34" charset="-122"/>
                <a:cs typeface="Arial" pitchFamily="34" charset="-120"/>
              </a:rPr>
              <a:t>Translate the procedure into code, integrate approved sources, test, document and train.</a:t>
            </a:r>
            <a:endParaRPr lang="en-US" sz="1750" dirty="0"/>
          </a:p>
        </p:txBody>
      </p:sp>
      <p:sp>
        <p:nvSpPr>
          <p:cNvPr id="15" name="Shape 12"/>
          <p:cNvSpPr/>
          <p:nvPr/>
        </p:nvSpPr>
        <p:spPr>
          <a:xfrm>
            <a:off x="4343400" y="2075688"/>
            <a:ext cx="3502152" cy="2377440"/>
          </a:xfrm>
          <a:prstGeom prst="roundRect">
            <a:avLst>
              <a:gd name="adj" fmla="val 6154"/>
            </a:avLst>
          </a:prstGeom>
          <a:solidFill>
            <a:srgbClr val="EEF4FD"/>
          </a:solidFill>
          <a:ln w="9525">
            <a:solidFill>
              <a:srgbClr val="B3CDED"/>
            </a:solidFill>
            <a:prstDash val="solid"/>
          </a:ln>
          <a:effectLst>
            <a:outerShdw sx="100000" sy="100000" kx="0" ky="0" algn="bl" rotWithShape="0" blurRad="27940" dist="13970" dir="5400000">
              <a:srgbClr val="90A3AB">
                <a:alpha val="10000"/>
              </a:srgbClr>
            </a:outerShdw>
          </a:effectLst>
        </p:spPr>
      </p:sp>
      <p:sp>
        <p:nvSpPr>
          <p:cNvPr id="16" name="Text 13"/>
          <p:cNvSpPr/>
          <p:nvPr/>
        </p:nvSpPr>
        <p:spPr>
          <a:xfrm>
            <a:off x="4572000" y="2331720"/>
            <a:ext cx="3026664" cy="365760"/>
          </a:xfrm>
          <a:prstGeom prst="rect">
            <a:avLst/>
          </a:prstGeom>
          <a:noFill/>
          <a:ln/>
        </p:spPr>
        <p:txBody>
          <a:bodyPr wrap="square" lIns="0" tIns="0" rIns="0" bIns="0" rtlCol="0" anchor="t"/>
          <a:lstStyle/>
          <a:p>
            <a:pPr indent="0" marL="0">
              <a:buNone/>
            </a:pPr>
            <a:r>
              <a:rPr lang="en-US" sz="2200" b="1" dirty="0">
                <a:solidFill>
                  <a:srgbClr val="233F4C"/>
                </a:solidFill>
                <a:latin typeface="Arial" pitchFamily="34" charset="0"/>
                <a:ea typeface="Arial" pitchFamily="34" charset="-122"/>
                <a:cs typeface="Arial" pitchFamily="34" charset="-120"/>
              </a:rPr>
              <a:t>Andrew / B&amp;S IT</a:t>
            </a:r>
            <a:endParaRPr lang="en-US" sz="2200" dirty="0"/>
          </a:p>
        </p:txBody>
      </p:sp>
      <p:sp>
        <p:nvSpPr>
          <p:cNvPr id="17" name="Text 14"/>
          <p:cNvSpPr/>
          <p:nvPr/>
        </p:nvSpPr>
        <p:spPr>
          <a:xfrm>
            <a:off x="4572000" y="2816352"/>
            <a:ext cx="2926080" cy="201168"/>
          </a:xfrm>
          <a:prstGeom prst="rect">
            <a:avLst/>
          </a:prstGeom>
          <a:noFill/>
          <a:ln/>
        </p:spPr>
        <p:txBody>
          <a:bodyPr wrap="square" lIns="0" tIns="0" rIns="0" bIns="0" rtlCol="0" anchor="t"/>
          <a:lstStyle/>
          <a:p>
            <a:pPr indent="0" marL="0">
              <a:buNone/>
            </a:pPr>
            <a:r>
              <a:rPr lang="en-US" sz="1000" b="1" dirty="0">
                <a:solidFill>
                  <a:srgbClr val="346DA9"/>
                </a:solidFill>
                <a:latin typeface="Arial" pitchFamily="34" charset="0"/>
                <a:ea typeface="Arial" pitchFamily="34" charset="-122"/>
                <a:cs typeface="Arial" pitchFamily="34" charset="-120"/>
              </a:rPr>
              <a:t>Technical owner</a:t>
            </a:r>
            <a:endParaRPr lang="en-US" sz="1000" dirty="0"/>
          </a:p>
        </p:txBody>
      </p:sp>
      <p:sp>
        <p:nvSpPr>
          <p:cNvPr id="18" name="Text 15"/>
          <p:cNvSpPr/>
          <p:nvPr/>
        </p:nvSpPr>
        <p:spPr>
          <a:xfrm>
            <a:off x="4572000" y="3282696"/>
            <a:ext cx="3026664" cy="932688"/>
          </a:xfrm>
          <a:prstGeom prst="rect">
            <a:avLst/>
          </a:prstGeom>
          <a:noFill/>
          <a:ln/>
        </p:spPr>
        <p:txBody>
          <a:bodyPr wrap="square" lIns="0" tIns="0" rIns="0" bIns="0" rtlCol="0" anchor="t"/>
          <a:lstStyle/>
          <a:p>
            <a:pPr indent="0" marL="0">
              <a:buNone/>
            </a:pPr>
            <a:r>
              <a:rPr lang="en-US" sz="1750" dirty="0">
                <a:solidFill>
                  <a:srgbClr val="465D68"/>
                </a:solidFill>
                <a:latin typeface="Arial" pitchFamily="34" charset="0"/>
                <a:ea typeface="Arial" pitchFamily="34" charset="-122"/>
                <a:cs typeface="Arial" pitchFamily="34" charset="-120"/>
              </a:rPr>
              <a:t>Approve scope, hosting, access and vendors; oversee releases, monitoring and recovery.</a:t>
            </a:r>
            <a:endParaRPr lang="en-US" sz="1750" dirty="0"/>
          </a:p>
        </p:txBody>
      </p:sp>
      <p:sp>
        <p:nvSpPr>
          <p:cNvPr id="19" name="Shape 16"/>
          <p:cNvSpPr/>
          <p:nvPr/>
        </p:nvSpPr>
        <p:spPr>
          <a:xfrm>
            <a:off x="8092440" y="2075688"/>
            <a:ext cx="3502152" cy="2377440"/>
          </a:xfrm>
          <a:prstGeom prst="roundRect">
            <a:avLst>
              <a:gd name="adj" fmla="val 6154"/>
            </a:avLst>
          </a:prstGeom>
          <a:solidFill>
            <a:srgbClr val="EDF8F1"/>
          </a:solidFill>
          <a:ln w="9525">
            <a:solidFill>
              <a:srgbClr val="A4CCB9"/>
            </a:solidFill>
            <a:prstDash val="solid"/>
          </a:ln>
          <a:effectLst>
            <a:outerShdw sx="100000" sy="100000" kx="0" ky="0" algn="bl" rotWithShape="0" blurRad="27940" dist="13970" dir="5400000">
              <a:srgbClr val="90A3AB">
                <a:alpha val="10000"/>
              </a:srgbClr>
            </a:outerShdw>
          </a:effectLst>
        </p:spPr>
      </p:sp>
      <p:sp>
        <p:nvSpPr>
          <p:cNvPr id="20" name="Text 17"/>
          <p:cNvSpPr/>
          <p:nvPr/>
        </p:nvSpPr>
        <p:spPr>
          <a:xfrm>
            <a:off x="8321040" y="2331720"/>
            <a:ext cx="3026664" cy="365760"/>
          </a:xfrm>
          <a:prstGeom prst="rect">
            <a:avLst/>
          </a:prstGeom>
          <a:noFill/>
          <a:ln/>
        </p:spPr>
        <p:txBody>
          <a:bodyPr wrap="square" lIns="0" tIns="0" rIns="0" bIns="0" rtlCol="0" anchor="t"/>
          <a:lstStyle/>
          <a:p>
            <a:pPr indent="0" marL="0">
              <a:buNone/>
            </a:pPr>
            <a:r>
              <a:rPr lang="en-US" sz="2200" b="1" dirty="0">
                <a:solidFill>
                  <a:srgbClr val="233F4C"/>
                </a:solidFill>
                <a:latin typeface="Arial" pitchFamily="34" charset="0"/>
                <a:ea typeface="Arial" pitchFamily="34" charset="-122"/>
                <a:cs typeface="Arial" pitchFamily="34" charset="-120"/>
              </a:rPr>
              <a:t>Payroll / Finance</a:t>
            </a:r>
            <a:endParaRPr lang="en-US" sz="2200" dirty="0"/>
          </a:p>
        </p:txBody>
      </p:sp>
      <p:sp>
        <p:nvSpPr>
          <p:cNvPr id="21" name="Text 18"/>
          <p:cNvSpPr/>
          <p:nvPr/>
        </p:nvSpPr>
        <p:spPr>
          <a:xfrm>
            <a:off x="8321040" y="2816352"/>
            <a:ext cx="2926080" cy="201168"/>
          </a:xfrm>
          <a:prstGeom prst="rect">
            <a:avLst/>
          </a:prstGeom>
          <a:noFill/>
          <a:ln/>
        </p:spPr>
        <p:txBody>
          <a:bodyPr wrap="square" lIns="0" tIns="0" rIns="0" bIns="0" rtlCol="0" anchor="t"/>
          <a:lstStyle/>
          <a:p>
            <a:pPr indent="0" marL="0">
              <a:buNone/>
            </a:pPr>
            <a:r>
              <a:rPr lang="en-US" sz="1000" b="1" dirty="0">
                <a:solidFill>
                  <a:srgbClr val="287B5B"/>
                </a:solidFill>
                <a:latin typeface="Arial" pitchFamily="34" charset="0"/>
                <a:ea typeface="Arial" pitchFamily="34" charset="-122"/>
                <a:cs typeface="Arial" pitchFamily="34" charset="-120"/>
              </a:rPr>
              <a:t>Business owner</a:t>
            </a:r>
            <a:endParaRPr lang="en-US" sz="1000" dirty="0"/>
          </a:p>
        </p:txBody>
      </p:sp>
      <p:sp>
        <p:nvSpPr>
          <p:cNvPr id="22" name="Text 19"/>
          <p:cNvSpPr/>
          <p:nvPr/>
        </p:nvSpPr>
        <p:spPr>
          <a:xfrm>
            <a:off x="8321040" y="3282696"/>
            <a:ext cx="3026664" cy="932688"/>
          </a:xfrm>
          <a:prstGeom prst="rect">
            <a:avLst/>
          </a:prstGeom>
          <a:noFill/>
          <a:ln/>
        </p:spPr>
        <p:txBody>
          <a:bodyPr wrap="square" lIns="0" tIns="0" rIns="0" bIns="0" rtlCol="0" anchor="t"/>
          <a:lstStyle/>
          <a:p>
            <a:pPr indent="0" marL="0">
              <a:buNone/>
            </a:pPr>
            <a:r>
              <a:rPr lang="en-US" sz="1750" dirty="0">
                <a:solidFill>
                  <a:srgbClr val="465D68"/>
                </a:solidFill>
                <a:latin typeface="Arial" pitchFamily="34" charset="0"/>
                <a:ea typeface="Arial" pitchFamily="34" charset="-122"/>
                <a:cs typeface="Arial" pitchFamily="34" charset="-120"/>
              </a:rPr>
              <a:t>Own pay rules, source-correction decisions, approvals and acceptance of the results.</a:t>
            </a:r>
            <a:endParaRPr lang="en-US" sz="1750" dirty="0"/>
          </a:p>
        </p:txBody>
      </p:sp>
      <p:sp>
        <p:nvSpPr>
          <p:cNvPr id="23" name="Shape 20"/>
          <p:cNvSpPr/>
          <p:nvPr/>
        </p:nvSpPr>
        <p:spPr>
          <a:xfrm>
            <a:off x="594360" y="4809744"/>
            <a:ext cx="11009376" cy="1335024"/>
          </a:xfrm>
          <a:prstGeom prst="roundRect">
            <a:avLst>
              <a:gd name="adj" fmla="val 10959"/>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24" name="Text 21"/>
          <p:cNvSpPr/>
          <p:nvPr/>
        </p:nvSpPr>
        <p:spPr>
          <a:xfrm>
            <a:off x="804672" y="5020056"/>
            <a:ext cx="10597896" cy="475488"/>
          </a:xfrm>
          <a:prstGeom prst="rect">
            <a:avLst/>
          </a:prstGeom>
          <a:noFill/>
          <a:ln/>
        </p:spPr>
        <p:txBody>
          <a:bodyPr wrap="square" lIns="0" tIns="0" rIns="0" bIns="0" rtlCol="0" anchor="t"/>
          <a:lstStyle/>
          <a:p>
            <a:pPr indent="0" marL="0">
              <a:buNone/>
            </a:pPr>
            <a:r>
              <a:rPr lang="en-US" sz="1920" b="1" dirty="0">
                <a:solidFill>
                  <a:srgbClr val="233F4C"/>
                </a:solidFill>
                <a:latin typeface="Arial" pitchFamily="34" charset="0"/>
                <a:ea typeface="Arial" pitchFamily="34" charset="-122"/>
                <a:cs typeface="Arial" pitchFamily="34" charset="-120"/>
              </a:rPr>
              <a:t>The handover is complete when B&amp;S can run it without the build lead.</a:t>
            </a:r>
            <a:endParaRPr lang="en-US" sz="1920" dirty="0"/>
          </a:p>
        </p:txBody>
      </p:sp>
      <p:sp>
        <p:nvSpPr>
          <p:cNvPr id="25" name="Text 22"/>
          <p:cNvSpPr/>
          <p:nvPr/>
        </p:nvSpPr>
        <p:spPr>
          <a:xfrm>
            <a:off x="804672" y="5413248"/>
            <a:ext cx="10588752" cy="566928"/>
          </a:xfrm>
          <a:prstGeom prst="rect">
            <a:avLst/>
          </a:prstGeom>
          <a:noFill/>
          <a:ln/>
        </p:spPr>
        <p:txBody>
          <a:bodyPr wrap="square" lIns="0" tIns="0" rIns="0" bIns="0" rtlCol="0" anchor="t"/>
          <a:lstStyle/>
          <a:p>
            <a:pPr indent="0" marL="0">
              <a:buNone/>
            </a:pPr>
            <a:r>
              <a:rPr lang="en-US" sz="1620" dirty="0">
                <a:solidFill>
                  <a:srgbClr val="465D68"/>
                </a:solidFill>
                <a:latin typeface="Arial" pitchFamily="34" charset="0"/>
                <a:ea typeface="Arial" pitchFamily="34" charset="-122"/>
                <a:cs typeface="Arial" pitchFamily="34" charset="-120"/>
              </a:rPr>
              <a:t>Train a second authorized person to operate, recover and use the manual fallback. Hand over the code, configuration, rule and mapping guide, operator instructions, vendor contacts and support plan.</a:t>
            </a:r>
            <a:endParaRPr lang="en-US" sz="16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AFC"/>
        </a:solidFill>
      </p:bgPr>
    </p:bg>
    <p:spTree>
      <p:nvGrpSpPr>
        <p:cNvPr id="1" name=""/>
        <p:cNvGrpSpPr/>
        <p:nvPr/>
      </p:nvGrpSpPr>
      <p:grpSpPr>
        <a:xfrm>
          <a:off x="0" y="0"/>
          <a:ext cx="0" cy="0"/>
          <a:chOff x="0" y="0"/>
          <a:chExt cx="0" cy="0"/>
        </a:xfrm>
      </p:grpSpPr>
      <p:sp>
        <p:nvSpPr>
          <p:cNvPr id="2" name="Shape 0"/>
          <p:cNvSpPr/>
          <p:nvPr/>
        </p:nvSpPr>
        <p:spPr>
          <a:xfrm>
            <a:off x="0" y="0"/>
            <a:ext cx="12192000" cy="41148"/>
          </a:xfrm>
          <a:prstGeom prst="rect">
            <a:avLst/>
          </a:prstGeom>
          <a:solidFill>
            <a:srgbClr val="87B7B2"/>
          </a:solidFill>
          <a:ln w="12700">
            <a:solidFill>
              <a:srgbClr val="87B7B2">
                <a:alpha val="0"/>
              </a:srgbClr>
            </a:solidFill>
            <a:prstDash val="solid"/>
          </a:ln>
        </p:spPr>
      </p:sp>
      <p:sp>
        <p:nvSpPr>
          <p:cNvPr id="3" name="Text 1"/>
          <p:cNvSpPr/>
          <p:nvPr/>
        </p:nvSpPr>
        <p:spPr>
          <a:xfrm>
            <a:off x="585216" y="246888"/>
            <a:ext cx="10972800" cy="201168"/>
          </a:xfrm>
          <a:prstGeom prst="rect">
            <a:avLst/>
          </a:prstGeom>
          <a:noFill/>
          <a:ln/>
        </p:spPr>
        <p:txBody>
          <a:bodyPr wrap="square" lIns="0" tIns="0" rIns="0" bIns="0" rtlCol="0" anchor="t"/>
          <a:lstStyle/>
          <a:p>
            <a:pPr indent="0" marL="0">
              <a:buNone/>
            </a:pPr>
            <a:r>
              <a:rPr lang="en-US" sz="1000" b="1" dirty="0">
                <a:solidFill>
                  <a:srgbClr val="317F7B"/>
                </a:solidFill>
                <a:latin typeface="Arial" pitchFamily="34" charset="0"/>
                <a:ea typeface="Arial" pitchFamily="34" charset="-122"/>
                <a:cs typeface="Arial" pitchFamily="34" charset="-120"/>
              </a:rPr>
              <a:t>Prove it before changing the real process</a:t>
            </a:r>
            <a:endParaRPr lang="en-US" sz="1000" dirty="0"/>
          </a:p>
        </p:txBody>
      </p:sp>
      <p:sp>
        <p:nvSpPr>
          <p:cNvPr id="4" name="Text 2"/>
          <p:cNvSpPr/>
          <p:nvPr/>
        </p:nvSpPr>
        <p:spPr>
          <a:xfrm>
            <a:off x="585216" y="658368"/>
            <a:ext cx="11027664" cy="594360"/>
          </a:xfrm>
          <a:prstGeom prst="rect">
            <a:avLst/>
          </a:prstGeom>
          <a:noFill/>
          <a:ln/>
        </p:spPr>
        <p:txBody>
          <a:bodyPr wrap="square" lIns="0" tIns="0" rIns="0" bIns="0" rtlCol="0" anchor="t"/>
          <a:lstStyle/>
          <a:p>
            <a:pPr indent="0" marL="0">
              <a:buNone/>
            </a:pPr>
            <a:r>
              <a:rPr lang="en-US" sz="2800" b="1" dirty="0">
                <a:solidFill>
                  <a:srgbClr val="233F4C"/>
                </a:solidFill>
                <a:latin typeface="Arial" pitchFamily="34" charset="0"/>
                <a:ea typeface="Arial" pitchFamily="34" charset="-122"/>
                <a:cs typeface="Arial" pitchFamily="34" charset="-120"/>
              </a:rPr>
              <a:t>Try it beside the current payroll process first</a:t>
            </a:r>
            <a:endParaRPr lang="en-US" sz="2800" dirty="0"/>
          </a:p>
        </p:txBody>
      </p:sp>
      <p:sp>
        <p:nvSpPr>
          <p:cNvPr id="5" name="Text 3"/>
          <p:cNvSpPr/>
          <p:nvPr/>
        </p:nvSpPr>
        <p:spPr>
          <a:xfrm>
            <a:off x="594360" y="1307592"/>
            <a:ext cx="10945368" cy="530352"/>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During the pilot, the existing process remains the only route that posts real payroll.</a:t>
            </a:r>
            <a:endParaRPr lang="en-US" sz="1660" dirty="0"/>
          </a:p>
        </p:txBody>
      </p:sp>
      <p:sp>
        <p:nvSpPr>
          <p:cNvPr id="6" name="Shape 4"/>
          <p:cNvSpPr/>
          <p:nvPr/>
        </p:nvSpPr>
        <p:spPr>
          <a:xfrm>
            <a:off x="585216" y="6510528"/>
            <a:ext cx="11018520" cy="0"/>
          </a:xfrm>
          <a:prstGeom prst="line">
            <a:avLst/>
          </a:prstGeom>
          <a:noFill/>
          <a:ln w="10160">
            <a:solidFill>
              <a:srgbClr val="DCE6E9"/>
            </a:solidFill>
            <a:prstDash val="solid"/>
          </a:ln>
        </p:spPr>
      </p:sp>
      <p:sp>
        <p:nvSpPr>
          <p:cNvPr id="7" name="Text 5"/>
          <p:cNvSpPr/>
          <p:nvPr/>
        </p:nvSpPr>
        <p:spPr>
          <a:xfrm>
            <a:off x="594360" y="6611112"/>
            <a:ext cx="3749040" cy="164592"/>
          </a:xfrm>
          <a:prstGeom prst="rect">
            <a:avLst/>
          </a:prstGeom>
          <a:noFill/>
          <a:ln/>
        </p:spPr>
        <p:txBody>
          <a:bodyPr wrap="square" lIns="0" tIns="0" rIns="0" bIns="0" rtlCol="0" anchor="t"/>
          <a:lstStyle/>
          <a:p>
            <a:pPr indent="0" marL="0">
              <a:buNone/>
            </a:pPr>
            <a:r>
              <a:rPr lang="en-US" sz="820" dirty="0">
                <a:solidFill>
                  <a:srgbClr val="69808A"/>
                </a:solidFill>
                <a:latin typeface="Arial" pitchFamily="34" charset="0"/>
                <a:ea typeface="Arial" pitchFamily="34" charset="-122"/>
                <a:cs typeface="Arial" pitchFamily="34" charset="-120"/>
              </a:rPr>
              <a:t>Komlan Kouhiko  /  B&amp;S payroll proposal</a:t>
            </a:r>
            <a:endParaRPr lang="en-US" sz="820" dirty="0"/>
          </a:p>
        </p:txBody>
      </p:sp>
      <p:sp>
        <p:nvSpPr>
          <p:cNvPr id="8" name="Text 6"/>
          <p:cNvSpPr/>
          <p:nvPr/>
        </p:nvSpPr>
        <p:spPr>
          <a:xfrm>
            <a:off x="4023360" y="6611112"/>
            <a:ext cx="6903720" cy="164592"/>
          </a:xfrm>
          <a:prstGeom prst="rect">
            <a:avLst/>
          </a:prstGeom>
          <a:noFill/>
          <a:ln/>
        </p:spPr>
        <p:txBody>
          <a:bodyPr wrap="square" lIns="0" tIns="0" rIns="0" bIns="0" rtlCol="0" anchor="t"/>
          <a:lstStyle/>
          <a:p>
            <a:pPr algn="r" indent="0" marL="0">
              <a:buNone/>
            </a:pPr>
            <a:r>
              <a:rPr lang="en-US" sz="805" dirty="0">
                <a:solidFill>
                  <a:srgbClr val="69808A"/>
                </a:solidFill>
                <a:latin typeface="Arial" pitchFamily="34" charset="0"/>
                <a:ea typeface="Arial" pitchFamily="34" charset="-122"/>
                <a:cs typeface="Arial" pitchFamily="34" charset="-120"/>
              </a:rPr>
              <a:t>[D2] Test record: 28 Sep 2026, d0e7ea • Proposed pilot</a:t>
            </a:r>
            <a:endParaRPr lang="en-US" sz="805" dirty="0"/>
          </a:p>
        </p:txBody>
      </p:sp>
      <p:sp>
        <p:nvSpPr>
          <p:cNvPr id="9" name="Text 7"/>
          <p:cNvSpPr/>
          <p:nvPr/>
        </p:nvSpPr>
        <p:spPr>
          <a:xfrm>
            <a:off x="11100816" y="6592824"/>
            <a:ext cx="502920" cy="201168"/>
          </a:xfrm>
          <a:prstGeom prst="rect">
            <a:avLst/>
          </a:prstGeom>
          <a:noFill/>
          <a:ln/>
        </p:spPr>
        <p:txBody>
          <a:bodyPr wrap="square" lIns="0" tIns="0" rIns="0" bIns="0" rtlCol="0" anchor="t"/>
          <a:lstStyle/>
          <a:p>
            <a:pPr algn="r" indent="0" marL="0">
              <a:buNone/>
            </a:pPr>
            <a:r>
              <a:rPr lang="en-US" sz="920" dirty="0">
                <a:solidFill>
                  <a:srgbClr val="69808A"/>
                </a:solidFill>
                <a:latin typeface="Arial" pitchFamily="34" charset="0"/>
                <a:ea typeface="Arial" pitchFamily="34" charset="-122"/>
                <a:cs typeface="Arial" pitchFamily="34" charset="-120"/>
              </a:rPr>
              <a:t>17 / 19</a:t>
            </a:r>
            <a:endParaRPr lang="en-US" sz="920" dirty="0"/>
          </a:p>
        </p:txBody>
      </p:sp>
      <p:sp>
        <p:nvSpPr>
          <p:cNvPr id="11" name="Shape 8"/>
          <p:cNvSpPr/>
          <p:nvPr/>
        </p:nvSpPr>
        <p:spPr>
          <a:xfrm>
            <a:off x="603504" y="2002536"/>
            <a:ext cx="11000232" cy="566928"/>
          </a:xfrm>
          <a:prstGeom prst="roundRect">
            <a:avLst>
              <a:gd name="adj" fmla="val 25806"/>
            </a:avLst>
          </a:prstGeom>
          <a:solidFill>
            <a:srgbClr val="EAF5F4"/>
          </a:solidFill>
          <a:ln w="9525">
            <a:solidFill>
              <a:srgbClr val="87B7B2"/>
            </a:solidFill>
            <a:prstDash val="solid"/>
          </a:ln>
        </p:spPr>
      </p:sp>
      <p:sp>
        <p:nvSpPr>
          <p:cNvPr id="12" name="Text 9"/>
          <p:cNvSpPr/>
          <p:nvPr/>
        </p:nvSpPr>
        <p:spPr>
          <a:xfrm>
            <a:off x="813816" y="2167128"/>
            <a:ext cx="10515600" cy="256032"/>
          </a:xfrm>
          <a:prstGeom prst="rect">
            <a:avLst/>
          </a:prstGeom>
          <a:noFill/>
          <a:ln/>
        </p:spPr>
        <p:txBody>
          <a:bodyPr wrap="square" lIns="0" tIns="0" rIns="0" bIns="0" rtlCol="0" anchor="t"/>
          <a:lstStyle/>
          <a:p>
            <a:pPr indent="0" marL="0">
              <a:buNone/>
            </a:pPr>
            <a:r>
              <a:rPr lang="en-US" sz="1800" b="1" dirty="0">
                <a:solidFill>
                  <a:srgbClr val="317F7B"/>
                </a:solidFill>
                <a:latin typeface="Arial" pitchFamily="34" charset="0"/>
                <a:ea typeface="Arial" pitchFamily="34" charset="-122"/>
                <a:cs typeface="Arial" pitchFamily="34" charset="-120"/>
              </a:rPr>
              <a:t>Recorded prototype tests: 31 passed • 0 failures</a:t>
            </a:r>
            <a:endParaRPr lang="en-US" sz="1800" dirty="0"/>
          </a:p>
        </p:txBody>
      </p:sp>
      <p:sp>
        <p:nvSpPr>
          <p:cNvPr id="13" name="Shape 10"/>
          <p:cNvSpPr/>
          <p:nvPr/>
        </p:nvSpPr>
        <p:spPr>
          <a:xfrm>
            <a:off x="594360" y="2935224"/>
            <a:ext cx="2578608" cy="2340864"/>
          </a:xfrm>
          <a:prstGeom prst="roundRect">
            <a:avLst>
              <a:gd name="adj" fmla="val 6250"/>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14" name="Shape 11"/>
          <p:cNvSpPr/>
          <p:nvPr/>
        </p:nvSpPr>
        <p:spPr>
          <a:xfrm>
            <a:off x="804672" y="3131820"/>
            <a:ext cx="310896" cy="310896"/>
          </a:xfrm>
          <a:prstGeom prst="ellipse">
            <a:avLst/>
          </a:prstGeom>
          <a:solidFill>
            <a:srgbClr val="EAF5F4"/>
          </a:solidFill>
          <a:ln w="12700">
            <a:solidFill>
              <a:srgbClr val="EAF5F4"/>
            </a:solidFill>
            <a:prstDash val="solid"/>
          </a:ln>
        </p:spPr>
      </p:sp>
      <p:sp>
        <p:nvSpPr>
          <p:cNvPr id="15" name="Text 12"/>
          <p:cNvSpPr/>
          <p:nvPr/>
        </p:nvSpPr>
        <p:spPr>
          <a:xfrm>
            <a:off x="804672" y="3168396"/>
            <a:ext cx="310896" cy="292608"/>
          </a:xfrm>
          <a:prstGeom prst="rect">
            <a:avLst/>
          </a:prstGeom>
          <a:noFill/>
          <a:ln/>
        </p:spPr>
        <p:txBody>
          <a:bodyPr wrap="square" lIns="0" tIns="0" rIns="0" bIns="0" rtlCol="0" anchor="t"/>
          <a:lstStyle/>
          <a:p>
            <a:pPr algn="ctr" indent="0" marL="0">
              <a:buNone/>
            </a:pPr>
            <a:r>
              <a:rPr lang="en-US" sz="1320" b="1" dirty="0">
                <a:solidFill>
                  <a:srgbClr val="465D68"/>
                </a:solidFill>
                <a:latin typeface="Arial" pitchFamily="34" charset="0"/>
                <a:ea typeface="Arial" pitchFamily="34" charset="-122"/>
                <a:cs typeface="Arial" pitchFamily="34" charset="-120"/>
              </a:rPr>
              <a:t>1</a:t>
            </a:r>
            <a:endParaRPr lang="en-US" sz="1320" dirty="0"/>
          </a:p>
        </p:txBody>
      </p:sp>
      <p:sp>
        <p:nvSpPr>
          <p:cNvPr id="16" name="Text 13"/>
          <p:cNvSpPr/>
          <p:nvPr/>
        </p:nvSpPr>
        <p:spPr>
          <a:xfrm>
            <a:off x="1243584" y="3145536"/>
            <a:ext cx="1728216" cy="475488"/>
          </a:xfrm>
          <a:prstGeom prst="rect">
            <a:avLst/>
          </a:prstGeom>
          <a:noFill/>
          <a:ln/>
        </p:spPr>
        <p:txBody>
          <a:bodyPr wrap="square" lIns="0" tIns="0" rIns="0" bIns="0" rtlCol="0" anchor="t"/>
          <a:lstStyle/>
          <a:p>
            <a:pPr indent="0" marL="0">
              <a:buNone/>
            </a:pPr>
            <a:r>
              <a:rPr lang="en-US" sz="1800" b="1" dirty="0">
                <a:solidFill>
                  <a:srgbClr val="233F4C"/>
                </a:solidFill>
                <a:latin typeface="Arial" pitchFamily="34" charset="0"/>
                <a:ea typeface="Arial" pitchFamily="34" charset="-122"/>
                <a:cs typeface="Arial" pitchFamily="34" charset="-120"/>
              </a:rPr>
              <a:t>Confirm the scope</a:t>
            </a:r>
            <a:endParaRPr lang="en-US" sz="1800" dirty="0"/>
          </a:p>
        </p:txBody>
      </p:sp>
      <p:sp>
        <p:nvSpPr>
          <p:cNvPr id="17" name="Text 14"/>
          <p:cNvSpPr/>
          <p:nvPr/>
        </p:nvSpPr>
        <p:spPr>
          <a:xfrm>
            <a:off x="804672" y="3831336"/>
            <a:ext cx="2157984" cy="1280160"/>
          </a:xfrm>
          <a:prstGeom prst="rect">
            <a:avLst/>
          </a:prstGeom>
          <a:noFill/>
          <a:ln/>
        </p:spPr>
        <p:txBody>
          <a:bodyPr wrap="square" lIns="0" tIns="0" rIns="0" bIns="0" rtlCol="0" anchor="t"/>
          <a:lstStyle/>
          <a:p>
            <a:pPr indent="0" marL="0">
              <a:buNone/>
            </a:pPr>
            <a:r>
              <a:rPr lang="en-US" sz="1700" dirty="0">
                <a:solidFill>
                  <a:srgbClr val="465D68"/>
                </a:solidFill>
                <a:latin typeface="Arial" pitchFamily="34" charset="0"/>
                <a:ea typeface="Arial" pitchFamily="34" charset="-122"/>
                <a:cs typeface="Arial" pitchFamily="34" charset="-120"/>
              </a:rPr>
              <a:t>Agree the rules, files, interfaces, owners and test cases.</a:t>
            </a:r>
            <a:endParaRPr lang="en-US" sz="1700" dirty="0"/>
          </a:p>
        </p:txBody>
      </p:sp>
      <p:sp>
        <p:nvSpPr>
          <p:cNvPr id="18" name="Shape 15"/>
          <p:cNvSpPr/>
          <p:nvPr/>
        </p:nvSpPr>
        <p:spPr>
          <a:xfrm>
            <a:off x="3406140" y="2935224"/>
            <a:ext cx="2578608" cy="2340864"/>
          </a:xfrm>
          <a:prstGeom prst="roundRect">
            <a:avLst>
              <a:gd name="adj" fmla="val 6250"/>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19" name="Shape 16"/>
          <p:cNvSpPr/>
          <p:nvPr/>
        </p:nvSpPr>
        <p:spPr>
          <a:xfrm>
            <a:off x="3616452" y="3131820"/>
            <a:ext cx="310896" cy="310896"/>
          </a:xfrm>
          <a:prstGeom prst="ellipse">
            <a:avLst/>
          </a:prstGeom>
          <a:solidFill>
            <a:srgbClr val="EAF5F4"/>
          </a:solidFill>
          <a:ln w="12700">
            <a:solidFill>
              <a:srgbClr val="EAF5F4"/>
            </a:solidFill>
            <a:prstDash val="solid"/>
          </a:ln>
        </p:spPr>
      </p:sp>
      <p:sp>
        <p:nvSpPr>
          <p:cNvPr id="20" name="Text 17"/>
          <p:cNvSpPr/>
          <p:nvPr/>
        </p:nvSpPr>
        <p:spPr>
          <a:xfrm>
            <a:off x="3616452" y="3168396"/>
            <a:ext cx="310896" cy="292608"/>
          </a:xfrm>
          <a:prstGeom prst="rect">
            <a:avLst/>
          </a:prstGeom>
          <a:noFill/>
          <a:ln/>
        </p:spPr>
        <p:txBody>
          <a:bodyPr wrap="square" lIns="0" tIns="0" rIns="0" bIns="0" rtlCol="0" anchor="t"/>
          <a:lstStyle/>
          <a:p>
            <a:pPr algn="ctr" indent="0" marL="0">
              <a:buNone/>
            </a:pPr>
            <a:r>
              <a:rPr lang="en-US" sz="1320" b="1" dirty="0">
                <a:solidFill>
                  <a:srgbClr val="465D68"/>
                </a:solidFill>
                <a:latin typeface="Arial" pitchFamily="34" charset="0"/>
                <a:ea typeface="Arial" pitchFamily="34" charset="-122"/>
                <a:cs typeface="Arial" pitchFamily="34" charset="-120"/>
              </a:rPr>
              <a:t>2</a:t>
            </a:r>
            <a:endParaRPr lang="en-US" sz="1320" dirty="0"/>
          </a:p>
        </p:txBody>
      </p:sp>
      <p:sp>
        <p:nvSpPr>
          <p:cNvPr id="21" name="Text 18"/>
          <p:cNvSpPr/>
          <p:nvPr/>
        </p:nvSpPr>
        <p:spPr>
          <a:xfrm>
            <a:off x="4055364" y="3145536"/>
            <a:ext cx="1728216" cy="475488"/>
          </a:xfrm>
          <a:prstGeom prst="rect">
            <a:avLst/>
          </a:prstGeom>
          <a:noFill/>
          <a:ln/>
        </p:spPr>
        <p:txBody>
          <a:bodyPr wrap="square" lIns="0" tIns="0" rIns="0" bIns="0" rtlCol="0" anchor="t"/>
          <a:lstStyle/>
          <a:p>
            <a:pPr indent="0" marL="0">
              <a:buNone/>
            </a:pPr>
            <a:r>
              <a:rPr lang="en-US" sz="1800" b="1" dirty="0">
                <a:solidFill>
                  <a:srgbClr val="233F4C"/>
                </a:solidFill>
                <a:latin typeface="Arial" pitchFamily="34" charset="0"/>
                <a:ea typeface="Arial" pitchFamily="34" charset="-122"/>
                <a:cs typeface="Arial" pitchFamily="34" charset="-120"/>
              </a:rPr>
              <a:t>Replay a payroll</a:t>
            </a:r>
            <a:endParaRPr lang="en-US" sz="1800" dirty="0"/>
          </a:p>
        </p:txBody>
      </p:sp>
      <p:sp>
        <p:nvSpPr>
          <p:cNvPr id="22" name="Text 19"/>
          <p:cNvSpPr/>
          <p:nvPr/>
        </p:nvSpPr>
        <p:spPr>
          <a:xfrm>
            <a:off x="3616452" y="3831336"/>
            <a:ext cx="2157984" cy="1280160"/>
          </a:xfrm>
          <a:prstGeom prst="rect">
            <a:avLst/>
          </a:prstGeom>
          <a:noFill/>
          <a:ln/>
        </p:spPr>
        <p:txBody>
          <a:bodyPr wrap="square" lIns="0" tIns="0" rIns="0" bIns="0" rtlCol="0" anchor="t"/>
          <a:lstStyle/>
          <a:p>
            <a:pPr indent="0" marL="0">
              <a:buNone/>
            </a:pPr>
            <a:r>
              <a:rPr lang="en-US" sz="1700" dirty="0">
                <a:solidFill>
                  <a:srgbClr val="465D68"/>
                </a:solidFill>
                <a:latin typeface="Arial" pitchFamily="34" charset="0"/>
                <a:ea typeface="Arial" pitchFamily="34" charset="-122"/>
                <a:cs typeface="Arial" pitchFamily="34" charset="-120"/>
              </a:rPr>
              <a:t>Compare one completed payroll without changing it.</a:t>
            </a:r>
            <a:endParaRPr lang="en-US" sz="1700" dirty="0"/>
          </a:p>
        </p:txBody>
      </p:sp>
      <p:sp>
        <p:nvSpPr>
          <p:cNvPr id="23" name="Shape 20"/>
          <p:cNvSpPr/>
          <p:nvPr/>
        </p:nvSpPr>
        <p:spPr>
          <a:xfrm>
            <a:off x="6217920" y="2935224"/>
            <a:ext cx="2578608" cy="2340864"/>
          </a:xfrm>
          <a:prstGeom prst="roundRect">
            <a:avLst>
              <a:gd name="adj" fmla="val 6250"/>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24" name="Shape 21"/>
          <p:cNvSpPr/>
          <p:nvPr/>
        </p:nvSpPr>
        <p:spPr>
          <a:xfrm>
            <a:off x="6428232" y="3131820"/>
            <a:ext cx="310896" cy="310896"/>
          </a:xfrm>
          <a:prstGeom prst="ellipse">
            <a:avLst/>
          </a:prstGeom>
          <a:solidFill>
            <a:srgbClr val="EAF5F4"/>
          </a:solidFill>
          <a:ln w="12700">
            <a:solidFill>
              <a:srgbClr val="EAF5F4"/>
            </a:solidFill>
            <a:prstDash val="solid"/>
          </a:ln>
        </p:spPr>
      </p:sp>
      <p:sp>
        <p:nvSpPr>
          <p:cNvPr id="25" name="Text 22"/>
          <p:cNvSpPr/>
          <p:nvPr/>
        </p:nvSpPr>
        <p:spPr>
          <a:xfrm>
            <a:off x="6428232" y="3168396"/>
            <a:ext cx="310896" cy="292608"/>
          </a:xfrm>
          <a:prstGeom prst="rect">
            <a:avLst/>
          </a:prstGeom>
          <a:noFill/>
          <a:ln/>
        </p:spPr>
        <p:txBody>
          <a:bodyPr wrap="square" lIns="0" tIns="0" rIns="0" bIns="0" rtlCol="0" anchor="t"/>
          <a:lstStyle/>
          <a:p>
            <a:pPr algn="ctr" indent="0" marL="0">
              <a:buNone/>
            </a:pPr>
            <a:r>
              <a:rPr lang="en-US" sz="1320" b="1" dirty="0">
                <a:solidFill>
                  <a:srgbClr val="465D68"/>
                </a:solidFill>
                <a:latin typeface="Arial" pitchFamily="34" charset="0"/>
                <a:ea typeface="Arial" pitchFamily="34" charset="-122"/>
                <a:cs typeface="Arial" pitchFamily="34" charset="-120"/>
              </a:rPr>
              <a:t>3</a:t>
            </a:r>
            <a:endParaRPr lang="en-US" sz="1320" dirty="0"/>
          </a:p>
        </p:txBody>
      </p:sp>
      <p:sp>
        <p:nvSpPr>
          <p:cNvPr id="26" name="Text 23"/>
          <p:cNvSpPr/>
          <p:nvPr/>
        </p:nvSpPr>
        <p:spPr>
          <a:xfrm>
            <a:off x="6867144" y="3145536"/>
            <a:ext cx="1728216" cy="475488"/>
          </a:xfrm>
          <a:prstGeom prst="rect">
            <a:avLst/>
          </a:prstGeom>
          <a:noFill/>
          <a:ln/>
        </p:spPr>
        <p:txBody>
          <a:bodyPr wrap="square" lIns="0" tIns="0" rIns="0" bIns="0" rtlCol="0" anchor="t"/>
          <a:lstStyle/>
          <a:p>
            <a:pPr indent="0" marL="0">
              <a:buNone/>
            </a:pPr>
            <a:r>
              <a:rPr lang="en-US" sz="1800" b="1" dirty="0">
                <a:solidFill>
                  <a:srgbClr val="233F4C"/>
                </a:solidFill>
                <a:latin typeface="Arial" pitchFamily="34" charset="0"/>
                <a:ea typeface="Arial" pitchFamily="34" charset="-122"/>
                <a:cs typeface="Arial" pitchFamily="34" charset="-120"/>
              </a:rPr>
              <a:t>Run in parallel</a:t>
            </a:r>
            <a:endParaRPr lang="en-US" sz="1800" dirty="0"/>
          </a:p>
        </p:txBody>
      </p:sp>
      <p:sp>
        <p:nvSpPr>
          <p:cNvPr id="27" name="Text 24"/>
          <p:cNvSpPr/>
          <p:nvPr/>
        </p:nvSpPr>
        <p:spPr>
          <a:xfrm>
            <a:off x="6428232" y="3831336"/>
            <a:ext cx="2157984" cy="1280160"/>
          </a:xfrm>
          <a:prstGeom prst="rect">
            <a:avLst/>
          </a:prstGeom>
          <a:noFill/>
          <a:ln/>
        </p:spPr>
        <p:txBody>
          <a:bodyPr wrap="square" lIns="0" tIns="0" rIns="0" bIns="0" rtlCol="0" anchor="t"/>
          <a:lstStyle/>
          <a:p>
            <a:pPr indent="0" marL="0">
              <a:buNone/>
            </a:pPr>
            <a:r>
              <a:rPr lang="en-US" sz="1700" dirty="0">
                <a:solidFill>
                  <a:srgbClr val="465D68"/>
                </a:solidFill>
                <a:latin typeface="Arial" pitchFamily="34" charset="0"/>
                <a:ea typeface="Arial" pitchFamily="34" charset="-122"/>
                <a:cs typeface="Arial" pitchFamily="34" charset="-120"/>
              </a:rPr>
              <a:t>Evaluate several payrolls and archived unusual cases.</a:t>
            </a:r>
            <a:endParaRPr lang="en-US" sz="1700" dirty="0"/>
          </a:p>
        </p:txBody>
      </p:sp>
      <p:sp>
        <p:nvSpPr>
          <p:cNvPr id="28" name="Shape 25"/>
          <p:cNvSpPr/>
          <p:nvPr/>
        </p:nvSpPr>
        <p:spPr>
          <a:xfrm>
            <a:off x="9029700" y="2935224"/>
            <a:ext cx="2578608" cy="2340864"/>
          </a:xfrm>
          <a:prstGeom prst="roundRect">
            <a:avLst>
              <a:gd name="adj" fmla="val 6250"/>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29" name="Shape 26"/>
          <p:cNvSpPr/>
          <p:nvPr/>
        </p:nvSpPr>
        <p:spPr>
          <a:xfrm>
            <a:off x="9240012" y="3131820"/>
            <a:ext cx="310896" cy="310896"/>
          </a:xfrm>
          <a:prstGeom prst="ellipse">
            <a:avLst/>
          </a:prstGeom>
          <a:solidFill>
            <a:srgbClr val="EAF5F4"/>
          </a:solidFill>
          <a:ln w="12700">
            <a:solidFill>
              <a:srgbClr val="EAF5F4"/>
            </a:solidFill>
            <a:prstDash val="solid"/>
          </a:ln>
        </p:spPr>
      </p:sp>
      <p:sp>
        <p:nvSpPr>
          <p:cNvPr id="30" name="Text 27"/>
          <p:cNvSpPr/>
          <p:nvPr/>
        </p:nvSpPr>
        <p:spPr>
          <a:xfrm>
            <a:off x="9240012" y="3168396"/>
            <a:ext cx="310896" cy="292608"/>
          </a:xfrm>
          <a:prstGeom prst="rect">
            <a:avLst/>
          </a:prstGeom>
          <a:noFill/>
          <a:ln/>
        </p:spPr>
        <p:txBody>
          <a:bodyPr wrap="square" lIns="0" tIns="0" rIns="0" bIns="0" rtlCol="0" anchor="t"/>
          <a:lstStyle/>
          <a:p>
            <a:pPr algn="ctr" indent="0" marL="0">
              <a:buNone/>
            </a:pPr>
            <a:r>
              <a:rPr lang="en-US" sz="1320" b="1" dirty="0">
                <a:solidFill>
                  <a:srgbClr val="465D68"/>
                </a:solidFill>
                <a:latin typeface="Arial" pitchFamily="34" charset="0"/>
                <a:ea typeface="Arial" pitchFamily="34" charset="-122"/>
                <a:cs typeface="Arial" pitchFamily="34" charset="-120"/>
              </a:rPr>
              <a:t>4</a:t>
            </a:r>
            <a:endParaRPr lang="en-US" sz="1320" dirty="0"/>
          </a:p>
        </p:txBody>
      </p:sp>
      <p:sp>
        <p:nvSpPr>
          <p:cNvPr id="31" name="Text 28"/>
          <p:cNvSpPr/>
          <p:nvPr/>
        </p:nvSpPr>
        <p:spPr>
          <a:xfrm>
            <a:off x="9678924" y="3145536"/>
            <a:ext cx="1728216" cy="475488"/>
          </a:xfrm>
          <a:prstGeom prst="rect">
            <a:avLst/>
          </a:prstGeom>
          <a:noFill/>
          <a:ln/>
        </p:spPr>
        <p:txBody>
          <a:bodyPr wrap="square" lIns="0" tIns="0" rIns="0" bIns="0" rtlCol="0" anchor="t"/>
          <a:lstStyle/>
          <a:p>
            <a:pPr indent="0" marL="0">
              <a:buNone/>
            </a:pPr>
            <a:r>
              <a:rPr lang="en-US" sz="1800" b="1" dirty="0">
                <a:solidFill>
                  <a:srgbClr val="233F4C"/>
                </a:solidFill>
                <a:latin typeface="Arial" pitchFamily="34" charset="0"/>
                <a:ea typeface="Arial" pitchFamily="34" charset="-122"/>
                <a:cs typeface="Arial" pitchFamily="34" charset="-120"/>
              </a:rPr>
              <a:t>Release one task</a:t>
            </a:r>
            <a:endParaRPr lang="en-US" sz="1800" dirty="0"/>
          </a:p>
        </p:txBody>
      </p:sp>
      <p:sp>
        <p:nvSpPr>
          <p:cNvPr id="32" name="Text 29"/>
          <p:cNvSpPr/>
          <p:nvPr/>
        </p:nvSpPr>
        <p:spPr>
          <a:xfrm>
            <a:off x="9240012" y="3831336"/>
            <a:ext cx="2157984" cy="1280160"/>
          </a:xfrm>
          <a:prstGeom prst="rect">
            <a:avLst/>
          </a:prstGeom>
          <a:noFill/>
          <a:ln/>
        </p:spPr>
        <p:txBody>
          <a:bodyPr wrap="square" lIns="0" tIns="0" rIns="0" bIns="0" rtlCol="0" anchor="t"/>
          <a:lstStyle/>
          <a:p>
            <a:pPr indent="0" marL="0">
              <a:buNone/>
            </a:pPr>
            <a:r>
              <a:rPr lang="en-US" sz="1700" dirty="0">
                <a:solidFill>
                  <a:srgbClr val="465D68"/>
                </a:solidFill>
                <a:latin typeface="Arial" pitchFamily="34" charset="0"/>
                <a:ea typeface="Arial" pitchFamily="34" charset="-122"/>
                <a:cs typeface="Arial" pitchFamily="34" charset="-120"/>
              </a:rPr>
              <a:t>Switch only an accepted task after Payroll and IT sign-off.</a:t>
            </a:r>
            <a:endParaRPr lang="en-US" sz="1700" dirty="0"/>
          </a:p>
        </p:txBody>
      </p:sp>
      <p:sp>
        <p:nvSpPr>
          <p:cNvPr id="33" name="Shape 30"/>
          <p:cNvSpPr/>
          <p:nvPr/>
        </p:nvSpPr>
        <p:spPr>
          <a:xfrm>
            <a:off x="585216" y="5843016"/>
            <a:ext cx="11018520" cy="557784"/>
          </a:xfrm>
          <a:prstGeom prst="roundRect">
            <a:avLst>
              <a:gd name="adj" fmla="val 18033"/>
            </a:avLst>
          </a:prstGeom>
          <a:solidFill>
            <a:srgbClr val="EAF5F4"/>
          </a:solidFill>
          <a:ln w="9525">
            <a:solidFill>
              <a:srgbClr val="87B7B2"/>
            </a:solidFill>
            <a:prstDash val="solid"/>
          </a:ln>
        </p:spPr>
      </p:sp>
      <p:sp>
        <p:nvSpPr>
          <p:cNvPr id="34" name="Text 31"/>
          <p:cNvSpPr/>
          <p:nvPr/>
        </p:nvSpPr>
        <p:spPr>
          <a:xfrm>
            <a:off x="786384" y="5980176"/>
            <a:ext cx="1856232" cy="393192"/>
          </a:xfrm>
          <a:prstGeom prst="rect">
            <a:avLst/>
          </a:prstGeom>
          <a:noFill/>
          <a:ln/>
        </p:spPr>
        <p:txBody>
          <a:bodyPr wrap="square" lIns="0" tIns="0" rIns="0" bIns="0" rtlCol="0" anchor="t"/>
          <a:lstStyle/>
          <a:p>
            <a:pPr indent="0" marL="0">
              <a:buNone/>
            </a:pPr>
            <a:r>
              <a:rPr lang="en-US" sz="1480" b="1" dirty="0">
                <a:solidFill>
                  <a:srgbClr val="317F7B"/>
                </a:solidFill>
                <a:latin typeface="Arial" pitchFamily="34" charset="0"/>
                <a:ea typeface="Arial" pitchFamily="34" charset="-122"/>
                <a:cs typeface="Arial" pitchFamily="34" charset="-120"/>
              </a:rPr>
              <a:t>What this proves</a:t>
            </a:r>
            <a:endParaRPr lang="en-US" sz="1480" dirty="0"/>
          </a:p>
        </p:txBody>
      </p:sp>
      <p:sp>
        <p:nvSpPr>
          <p:cNvPr id="35" name="Text 32"/>
          <p:cNvSpPr/>
          <p:nvPr/>
        </p:nvSpPr>
        <p:spPr>
          <a:xfrm>
            <a:off x="2734056" y="5980176"/>
            <a:ext cx="8650224" cy="393192"/>
          </a:xfrm>
          <a:prstGeom prst="rect">
            <a:avLst/>
          </a:prstGeom>
          <a:noFill/>
          <a:ln/>
        </p:spPr>
        <p:txBody>
          <a:bodyPr wrap="square" lIns="0" tIns="0" rIns="0" bIns="0" rtlCol="0" anchor="t"/>
          <a:lstStyle/>
          <a:p>
            <a:pPr indent="0" marL="0">
              <a:buNone/>
            </a:pPr>
            <a:r>
              <a:rPr lang="en-US" sz="1480" dirty="0">
                <a:solidFill>
                  <a:srgbClr val="465D68"/>
                </a:solidFill>
                <a:latin typeface="Arial" pitchFamily="34" charset="0"/>
                <a:ea typeface="Arial" pitchFamily="34" charset="-122"/>
                <a:cs typeface="Arial" pitchFamily="34" charset="-120"/>
              </a:rPr>
              <a:t>Synthetic tests support the workflow. Real-data accuracy, access, security and savings still need validation.</a:t>
            </a:r>
            <a:endParaRPr lang="en-US" sz="14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AFC"/>
        </a:solidFill>
      </p:bgPr>
    </p:bg>
    <p:spTree>
      <p:nvGrpSpPr>
        <p:cNvPr id="1" name=""/>
        <p:cNvGrpSpPr/>
        <p:nvPr/>
      </p:nvGrpSpPr>
      <p:grpSpPr>
        <a:xfrm>
          <a:off x="0" y="0"/>
          <a:ext cx="0" cy="0"/>
          <a:chOff x="0" y="0"/>
          <a:chExt cx="0" cy="0"/>
        </a:xfrm>
      </p:grpSpPr>
      <p:sp>
        <p:nvSpPr>
          <p:cNvPr id="2" name="Shape 0"/>
          <p:cNvSpPr/>
          <p:nvPr/>
        </p:nvSpPr>
        <p:spPr>
          <a:xfrm>
            <a:off x="0" y="0"/>
            <a:ext cx="12192000" cy="41148"/>
          </a:xfrm>
          <a:prstGeom prst="rect">
            <a:avLst/>
          </a:prstGeom>
          <a:solidFill>
            <a:srgbClr val="87B7B2"/>
          </a:solidFill>
          <a:ln w="12700">
            <a:solidFill>
              <a:srgbClr val="87B7B2">
                <a:alpha val="0"/>
              </a:srgbClr>
            </a:solidFill>
            <a:prstDash val="solid"/>
          </a:ln>
        </p:spPr>
      </p:sp>
      <p:sp>
        <p:nvSpPr>
          <p:cNvPr id="3" name="Text 1"/>
          <p:cNvSpPr/>
          <p:nvPr/>
        </p:nvSpPr>
        <p:spPr>
          <a:xfrm>
            <a:off x="585216" y="246888"/>
            <a:ext cx="10972800" cy="201168"/>
          </a:xfrm>
          <a:prstGeom prst="rect">
            <a:avLst/>
          </a:prstGeom>
          <a:noFill/>
          <a:ln/>
        </p:spPr>
        <p:txBody>
          <a:bodyPr wrap="square" lIns="0" tIns="0" rIns="0" bIns="0" rtlCol="0" anchor="t"/>
          <a:lstStyle/>
          <a:p>
            <a:pPr indent="0" marL="0">
              <a:buNone/>
            </a:pPr>
            <a:r>
              <a:rPr lang="en-US" sz="1000" b="1" dirty="0">
                <a:solidFill>
                  <a:srgbClr val="317F7B"/>
                </a:solidFill>
                <a:latin typeface="Arial" pitchFamily="34" charset="0"/>
                <a:ea typeface="Arial" pitchFamily="34" charset="-122"/>
                <a:cs typeface="Arial" pitchFamily="34" charset="-120"/>
              </a:rPr>
              <a:t>How B&amp;S would judge the value</a:t>
            </a:r>
            <a:endParaRPr lang="en-US" sz="1000" dirty="0"/>
          </a:p>
        </p:txBody>
      </p:sp>
      <p:sp>
        <p:nvSpPr>
          <p:cNvPr id="4" name="Text 2"/>
          <p:cNvSpPr/>
          <p:nvPr/>
        </p:nvSpPr>
        <p:spPr>
          <a:xfrm>
            <a:off x="585216" y="658368"/>
            <a:ext cx="11027664" cy="594360"/>
          </a:xfrm>
          <a:prstGeom prst="rect">
            <a:avLst/>
          </a:prstGeom>
          <a:noFill/>
          <a:ln/>
        </p:spPr>
        <p:txBody>
          <a:bodyPr wrap="square" lIns="0" tIns="0" rIns="0" bIns="0" rtlCol="0" anchor="t"/>
          <a:lstStyle/>
          <a:p>
            <a:pPr indent="0" marL="0">
              <a:buNone/>
            </a:pPr>
            <a:r>
              <a:rPr lang="en-US" sz="2800" b="1" dirty="0">
                <a:solidFill>
                  <a:srgbClr val="233F4C"/>
                </a:solidFill>
                <a:latin typeface="Arial" pitchFamily="34" charset="0"/>
                <a:ea typeface="Arial" pitchFamily="34" charset="-122"/>
                <a:cs typeface="Arial" pitchFamily="34" charset="-120"/>
              </a:rPr>
              <a:t>Measure the work removed before promising savings</a:t>
            </a:r>
            <a:endParaRPr lang="en-US" sz="2800" dirty="0"/>
          </a:p>
        </p:txBody>
      </p:sp>
      <p:sp>
        <p:nvSpPr>
          <p:cNvPr id="5" name="Text 3"/>
          <p:cNvSpPr/>
          <p:nvPr/>
        </p:nvSpPr>
        <p:spPr>
          <a:xfrm>
            <a:off x="594360" y="1307592"/>
            <a:ext cx="10945368" cy="530352"/>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Compare the same tasks before and during the pilot, while tracking errors and staff confidence.</a:t>
            </a:r>
            <a:endParaRPr lang="en-US" sz="1660" dirty="0"/>
          </a:p>
        </p:txBody>
      </p:sp>
      <p:sp>
        <p:nvSpPr>
          <p:cNvPr id="6" name="Shape 4"/>
          <p:cNvSpPr/>
          <p:nvPr/>
        </p:nvSpPr>
        <p:spPr>
          <a:xfrm>
            <a:off x="585216" y="6510528"/>
            <a:ext cx="11018520" cy="0"/>
          </a:xfrm>
          <a:prstGeom prst="line">
            <a:avLst/>
          </a:prstGeom>
          <a:noFill/>
          <a:ln w="10160">
            <a:solidFill>
              <a:srgbClr val="DCE6E9"/>
            </a:solidFill>
            <a:prstDash val="solid"/>
          </a:ln>
        </p:spPr>
      </p:sp>
      <p:sp>
        <p:nvSpPr>
          <p:cNvPr id="7" name="Text 5"/>
          <p:cNvSpPr/>
          <p:nvPr/>
        </p:nvSpPr>
        <p:spPr>
          <a:xfrm>
            <a:off x="594360" y="6611112"/>
            <a:ext cx="3749040" cy="164592"/>
          </a:xfrm>
          <a:prstGeom prst="rect">
            <a:avLst/>
          </a:prstGeom>
          <a:noFill/>
          <a:ln/>
        </p:spPr>
        <p:txBody>
          <a:bodyPr wrap="square" lIns="0" tIns="0" rIns="0" bIns="0" rtlCol="0" anchor="t"/>
          <a:lstStyle/>
          <a:p>
            <a:pPr indent="0" marL="0">
              <a:buNone/>
            </a:pPr>
            <a:r>
              <a:rPr lang="en-US" sz="820" dirty="0">
                <a:solidFill>
                  <a:srgbClr val="69808A"/>
                </a:solidFill>
                <a:latin typeface="Arial" pitchFamily="34" charset="0"/>
                <a:ea typeface="Arial" pitchFamily="34" charset="-122"/>
                <a:cs typeface="Arial" pitchFamily="34" charset="-120"/>
              </a:rPr>
              <a:t>Komlan Kouhiko  /  B&amp;S payroll proposal</a:t>
            </a:r>
            <a:endParaRPr lang="en-US" sz="820" dirty="0"/>
          </a:p>
        </p:txBody>
      </p:sp>
      <p:sp>
        <p:nvSpPr>
          <p:cNvPr id="8" name="Text 6"/>
          <p:cNvSpPr/>
          <p:nvPr/>
        </p:nvSpPr>
        <p:spPr>
          <a:xfrm>
            <a:off x="4023360" y="6611112"/>
            <a:ext cx="6903720" cy="164592"/>
          </a:xfrm>
          <a:prstGeom prst="rect">
            <a:avLst/>
          </a:prstGeom>
          <a:noFill/>
          <a:ln/>
        </p:spPr>
        <p:txBody>
          <a:bodyPr wrap="square" lIns="0" tIns="0" rIns="0" bIns="0" rtlCol="0" anchor="t"/>
          <a:lstStyle/>
          <a:p>
            <a:pPr algn="r" indent="0" marL="0">
              <a:buNone/>
            </a:pPr>
            <a:r>
              <a:rPr lang="en-US" sz="805" dirty="0">
                <a:solidFill>
                  <a:srgbClr val="69808A"/>
                </a:solidFill>
                <a:latin typeface="Arial" pitchFamily="34" charset="0"/>
                <a:ea typeface="Arial" pitchFamily="34" charset="-122"/>
                <a:cs typeface="Arial" pitchFamily="34" charset="-120"/>
              </a:rPr>
              <a:t>Proposed measures • Baseline, target and budget to be agreed</a:t>
            </a:r>
            <a:endParaRPr lang="en-US" sz="805" dirty="0"/>
          </a:p>
        </p:txBody>
      </p:sp>
      <p:sp>
        <p:nvSpPr>
          <p:cNvPr id="9" name="Text 7"/>
          <p:cNvSpPr/>
          <p:nvPr/>
        </p:nvSpPr>
        <p:spPr>
          <a:xfrm>
            <a:off x="11100816" y="6592824"/>
            <a:ext cx="502920" cy="201168"/>
          </a:xfrm>
          <a:prstGeom prst="rect">
            <a:avLst/>
          </a:prstGeom>
          <a:noFill/>
          <a:ln/>
        </p:spPr>
        <p:txBody>
          <a:bodyPr wrap="square" lIns="0" tIns="0" rIns="0" bIns="0" rtlCol="0" anchor="t"/>
          <a:lstStyle/>
          <a:p>
            <a:pPr algn="r" indent="0" marL="0">
              <a:buNone/>
            </a:pPr>
            <a:r>
              <a:rPr lang="en-US" sz="920" dirty="0">
                <a:solidFill>
                  <a:srgbClr val="69808A"/>
                </a:solidFill>
                <a:latin typeface="Arial" pitchFamily="34" charset="0"/>
                <a:ea typeface="Arial" pitchFamily="34" charset="-122"/>
                <a:cs typeface="Arial" pitchFamily="34" charset="-120"/>
              </a:rPr>
              <a:t>18 / 19</a:t>
            </a:r>
            <a:endParaRPr lang="en-US" sz="920" dirty="0"/>
          </a:p>
        </p:txBody>
      </p:sp>
      <p:sp>
        <p:nvSpPr>
          <p:cNvPr id="11" name="Shape 8"/>
          <p:cNvSpPr/>
          <p:nvPr/>
        </p:nvSpPr>
        <p:spPr>
          <a:xfrm>
            <a:off x="612648" y="2048256"/>
            <a:ext cx="5340096" cy="1316736"/>
          </a:xfrm>
          <a:prstGeom prst="roundRect">
            <a:avLst>
              <a:gd name="adj" fmla="val 11111"/>
            </a:avLst>
          </a:prstGeom>
          <a:solidFill>
            <a:srgbClr val="EAF5F4"/>
          </a:solidFill>
          <a:ln w="9525">
            <a:solidFill>
              <a:srgbClr val="87B7B2"/>
            </a:solidFill>
            <a:prstDash val="solid"/>
          </a:ln>
          <a:effectLst>
            <a:outerShdw sx="100000" sy="100000" kx="0" ky="0" algn="bl" rotWithShape="0" blurRad="27940" dist="13970" dir="5400000">
              <a:srgbClr val="90A3AB">
                <a:alpha val="10000"/>
              </a:srgbClr>
            </a:outerShdw>
          </a:effectLst>
        </p:spPr>
      </p:sp>
      <p:sp>
        <p:nvSpPr>
          <p:cNvPr id="12" name="Text 9"/>
          <p:cNvSpPr/>
          <p:nvPr/>
        </p:nvSpPr>
        <p:spPr>
          <a:xfrm>
            <a:off x="822960" y="2258568"/>
            <a:ext cx="4928616" cy="475488"/>
          </a:xfrm>
          <a:prstGeom prst="rect">
            <a:avLst/>
          </a:prstGeom>
          <a:noFill/>
          <a:ln/>
        </p:spPr>
        <p:txBody>
          <a:bodyPr wrap="square" lIns="0" tIns="0" rIns="0" bIns="0" rtlCol="0" anchor="t"/>
          <a:lstStyle/>
          <a:p>
            <a:pPr indent="0" marL="0">
              <a:buNone/>
            </a:pPr>
            <a:r>
              <a:rPr lang="en-US" sz="1950" b="1" dirty="0">
                <a:solidFill>
                  <a:srgbClr val="317F7B"/>
                </a:solidFill>
                <a:latin typeface="Arial" pitchFamily="34" charset="0"/>
                <a:ea typeface="Arial" pitchFamily="34" charset="-122"/>
                <a:cs typeface="Arial" pitchFamily="34" charset="-120"/>
              </a:rPr>
              <a:t>Active payroll work</a:t>
            </a:r>
            <a:endParaRPr lang="en-US" sz="1950" dirty="0"/>
          </a:p>
        </p:txBody>
      </p:sp>
      <p:sp>
        <p:nvSpPr>
          <p:cNvPr id="13" name="Text 10"/>
          <p:cNvSpPr/>
          <p:nvPr/>
        </p:nvSpPr>
        <p:spPr>
          <a:xfrm>
            <a:off x="822960" y="2651760"/>
            <a:ext cx="4919472" cy="548640"/>
          </a:xfrm>
          <a:prstGeom prst="rect">
            <a:avLst/>
          </a:prstGeom>
          <a:noFill/>
          <a:ln/>
        </p:spPr>
        <p:txBody>
          <a:bodyPr wrap="square" lIns="0" tIns="0" rIns="0" bIns="0" rtlCol="0" anchor="t"/>
          <a:lstStyle/>
          <a:p>
            <a:pPr indent="0" marL="0">
              <a:buNone/>
            </a:pPr>
            <a:r>
              <a:rPr lang="en-US" sz="1720" dirty="0">
                <a:solidFill>
                  <a:srgbClr val="465D68"/>
                </a:solidFill>
                <a:latin typeface="Arial" pitchFamily="34" charset="0"/>
                <a:ea typeface="Arial" pitchFamily="34" charset="-122"/>
                <a:cs typeface="Arial" pitchFamily="34" charset="-120"/>
              </a:rPr>
              <a:t>Minutes spent collecting, preparing, comparing and reworking records.</a:t>
            </a:r>
            <a:endParaRPr lang="en-US" sz="1720" dirty="0"/>
          </a:p>
        </p:txBody>
      </p:sp>
      <p:sp>
        <p:nvSpPr>
          <p:cNvPr id="14" name="Shape 11"/>
          <p:cNvSpPr/>
          <p:nvPr/>
        </p:nvSpPr>
        <p:spPr>
          <a:xfrm>
            <a:off x="6227064" y="2048256"/>
            <a:ext cx="5340096" cy="1316736"/>
          </a:xfrm>
          <a:prstGeom prst="roundRect">
            <a:avLst>
              <a:gd name="adj" fmla="val 11111"/>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15" name="Text 12"/>
          <p:cNvSpPr/>
          <p:nvPr/>
        </p:nvSpPr>
        <p:spPr>
          <a:xfrm>
            <a:off x="6437376" y="2258568"/>
            <a:ext cx="4928616" cy="475488"/>
          </a:xfrm>
          <a:prstGeom prst="rect">
            <a:avLst/>
          </a:prstGeom>
          <a:noFill/>
          <a:ln/>
        </p:spPr>
        <p:txBody>
          <a:bodyPr wrap="square" lIns="0" tIns="0" rIns="0" bIns="0" rtlCol="0" anchor="t"/>
          <a:lstStyle/>
          <a:p>
            <a:pPr indent="0" marL="0">
              <a:buNone/>
            </a:pPr>
            <a:r>
              <a:rPr lang="en-US" sz="1950" b="1" dirty="0">
                <a:solidFill>
                  <a:srgbClr val="233F4C"/>
                </a:solidFill>
                <a:latin typeface="Arial" pitchFamily="34" charset="0"/>
                <a:ea typeface="Arial" pitchFamily="34" charset="-122"/>
                <a:cs typeface="Arial" pitchFamily="34" charset="-120"/>
              </a:rPr>
              <a:t>Manual handoffs</a:t>
            </a:r>
            <a:endParaRPr lang="en-US" sz="1950" dirty="0"/>
          </a:p>
        </p:txBody>
      </p:sp>
      <p:sp>
        <p:nvSpPr>
          <p:cNvPr id="16" name="Text 13"/>
          <p:cNvSpPr/>
          <p:nvPr/>
        </p:nvSpPr>
        <p:spPr>
          <a:xfrm>
            <a:off x="6437376" y="2651760"/>
            <a:ext cx="4919472" cy="548640"/>
          </a:xfrm>
          <a:prstGeom prst="rect">
            <a:avLst/>
          </a:prstGeom>
          <a:noFill/>
          <a:ln/>
        </p:spPr>
        <p:txBody>
          <a:bodyPr wrap="square" lIns="0" tIns="0" rIns="0" bIns="0" rtlCol="0" anchor="t"/>
          <a:lstStyle/>
          <a:p>
            <a:pPr indent="0" marL="0">
              <a:buNone/>
            </a:pPr>
            <a:r>
              <a:rPr lang="en-US" sz="1720" dirty="0">
                <a:solidFill>
                  <a:srgbClr val="465D68"/>
                </a:solidFill>
                <a:latin typeface="Arial" pitchFamily="34" charset="0"/>
                <a:ea typeface="Arial" pitchFamily="34" charset="-122"/>
                <a:cs typeface="Arial" pitchFamily="34" charset="-120"/>
              </a:rPr>
              <a:t>Exports, copy/paste steps, uploads and repeated report checks.</a:t>
            </a:r>
            <a:endParaRPr lang="en-US" sz="1720" dirty="0"/>
          </a:p>
        </p:txBody>
      </p:sp>
      <p:sp>
        <p:nvSpPr>
          <p:cNvPr id="17" name="Shape 14"/>
          <p:cNvSpPr/>
          <p:nvPr/>
        </p:nvSpPr>
        <p:spPr>
          <a:xfrm>
            <a:off x="612648" y="3639312"/>
            <a:ext cx="5340096" cy="1316736"/>
          </a:xfrm>
          <a:prstGeom prst="roundRect">
            <a:avLst>
              <a:gd name="adj" fmla="val 11111"/>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18" name="Text 15"/>
          <p:cNvSpPr/>
          <p:nvPr/>
        </p:nvSpPr>
        <p:spPr>
          <a:xfrm>
            <a:off x="822960" y="3849624"/>
            <a:ext cx="4928616" cy="475488"/>
          </a:xfrm>
          <a:prstGeom prst="rect">
            <a:avLst/>
          </a:prstGeom>
          <a:noFill/>
          <a:ln/>
        </p:spPr>
        <p:txBody>
          <a:bodyPr wrap="square" lIns="0" tIns="0" rIns="0" bIns="0" rtlCol="0" anchor="t"/>
          <a:lstStyle/>
          <a:p>
            <a:pPr indent="0" marL="0">
              <a:buNone/>
            </a:pPr>
            <a:r>
              <a:rPr lang="en-US" sz="1950" b="1" dirty="0">
                <a:solidFill>
                  <a:srgbClr val="233F4C"/>
                </a:solidFill>
                <a:latin typeface="Arial" pitchFamily="34" charset="0"/>
                <a:ea typeface="Arial" pitchFamily="34" charset="-122"/>
                <a:cs typeface="Arial" pitchFamily="34" charset="-120"/>
              </a:rPr>
              <a:t>Investigation time</a:t>
            </a:r>
            <a:endParaRPr lang="en-US" sz="1950" dirty="0"/>
          </a:p>
        </p:txBody>
      </p:sp>
      <p:sp>
        <p:nvSpPr>
          <p:cNvPr id="19" name="Text 16"/>
          <p:cNvSpPr/>
          <p:nvPr/>
        </p:nvSpPr>
        <p:spPr>
          <a:xfrm>
            <a:off x="822960" y="4242816"/>
            <a:ext cx="4919472" cy="548640"/>
          </a:xfrm>
          <a:prstGeom prst="rect">
            <a:avLst/>
          </a:prstGeom>
          <a:noFill/>
          <a:ln/>
        </p:spPr>
        <p:txBody>
          <a:bodyPr wrap="square" lIns="0" tIns="0" rIns="0" bIns="0" rtlCol="0" anchor="t"/>
          <a:lstStyle/>
          <a:p>
            <a:pPr indent="0" marL="0">
              <a:buNone/>
            </a:pPr>
            <a:r>
              <a:rPr lang="en-US" sz="1720" dirty="0">
                <a:solidFill>
                  <a:srgbClr val="465D68"/>
                </a:solidFill>
                <a:latin typeface="Arial" pitchFamily="34" charset="0"/>
                <a:ea typeface="Arial" pitchFamily="34" charset="-122"/>
                <a:cs typeface="Arial" pitchFamily="34" charset="-120"/>
              </a:rPr>
              <a:t>Time from finding a difference to a supported Payroll decision.</a:t>
            </a:r>
            <a:endParaRPr lang="en-US" sz="1720" dirty="0"/>
          </a:p>
        </p:txBody>
      </p:sp>
      <p:sp>
        <p:nvSpPr>
          <p:cNvPr id="20" name="Shape 17"/>
          <p:cNvSpPr/>
          <p:nvPr/>
        </p:nvSpPr>
        <p:spPr>
          <a:xfrm>
            <a:off x="6227064" y="3639312"/>
            <a:ext cx="5340096" cy="1316736"/>
          </a:xfrm>
          <a:prstGeom prst="roundRect">
            <a:avLst>
              <a:gd name="adj" fmla="val 11111"/>
            </a:avLst>
          </a:prstGeom>
          <a:solidFill>
            <a:srgbClr val="EDF8F1"/>
          </a:solidFill>
          <a:ln w="9525">
            <a:solidFill>
              <a:srgbClr val="A4CCB9"/>
            </a:solidFill>
            <a:prstDash val="solid"/>
          </a:ln>
          <a:effectLst>
            <a:outerShdw sx="100000" sy="100000" kx="0" ky="0" algn="bl" rotWithShape="0" blurRad="27940" dist="13970" dir="5400000">
              <a:srgbClr val="90A3AB">
                <a:alpha val="10000"/>
              </a:srgbClr>
            </a:outerShdw>
          </a:effectLst>
        </p:spPr>
      </p:sp>
      <p:sp>
        <p:nvSpPr>
          <p:cNvPr id="21" name="Text 18"/>
          <p:cNvSpPr/>
          <p:nvPr/>
        </p:nvSpPr>
        <p:spPr>
          <a:xfrm>
            <a:off x="6437376" y="3849624"/>
            <a:ext cx="4928616" cy="475488"/>
          </a:xfrm>
          <a:prstGeom prst="rect">
            <a:avLst/>
          </a:prstGeom>
          <a:noFill/>
          <a:ln/>
        </p:spPr>
        <p:txBody>
          <a:bodyPr wrap="square" lIns="0" tIns="0" rIns="0" bIns="0" rtlCol="0" anchor="t"/>
          <a:lstStyle/>
          <a:p>
            <a:pPr indent="0" marL="0">
              <a:buNone/>
            </a:pPr>
            <a:r>
              <a:rPr lang="en-US" sz="1950" b="1" dirty="0">
                <a:solidFill>
                  <a:srgbClr val="287B5B"/>
                </a:solidFill>
                <a:latin typeface="Arial" pitchFamily="34" charset="0"/>
                <a:ea typeface="Arial" pitchFamily="34" charset="-122"/>
                <a:cs typeface="Arial" pitchFamily="34" charset="-120"/>
              </a:rPr>
              <a:t>Quality and usability</a:t>
            </a:r>
            <a:endParaRPr lang="en-US" sz="1950" dirty="0"/>
          </a:p>
        </p:txBody>
      </p:sp>
      <p:sp>
        <p:nvSpPr>
          <p:cNvPr id="22" name="Text 19"/>
          <p:cNvSpPr/>
          <p:nvPr/>
        </p:nvSpPr>
        <p:spPr>
          <a:xfrm>
            <a:off x="6437376" y="4242816"/>
            <a:ext cx="4919472" cy="548640"/>
          </a:xfrm>
          <a:prstGeom prst="rect">
            <a:avLst/>
          </a:prstGeom>
          <a:noFill/>
          <a:ln/>
        </p:spPr>
        <p:txBody>
          <a:bodyPr wrap="square" lIns="0" tIns="0" rIns="0" bIns="0" rtlCol="0" anchor="t"/>
          <a:lstStyle/>
          <a:p>
            <a:pPr indent="0" marL="0">
              <a:buNone/>
            </a:pPr>
            <a:r>
              <a:rPr lang="en-US" sz="1720" dirty="0">
                <a:solidFill>
                  <a:srgbClr val="465D68"/>
                </a:solidFill>
                <a:latin typeface="Arial" pitchFamily="34" charset="0"/>
                <a:ea typeface="Arial" pitchFamily="34" charset="-122"/>
                <a:cs typeface="Arial" pitchFamily="34" charset="-120"/>
              </a:rPr>
              <a:t>Missing-pay and duplicate risks found, complete evidence and staff feedback.</a:t>
            </a:r>
            <a:endParaRPr lang="en-US" sz="1720" dirty="0"/>
          </a:p>
        </p:txBody>
      </p:sp>
      <p:sp>
        <p:nvSpPr>
          <p:cNvPr id="23" name="Shape 20"/>
          <p:cNvSpPr/>
          <p:nvPr/>
        </p:nvSpPr>
        <p:spPr>
          <a:xfrm>
            <a:off x="585216" y="5806440"/>
            <a:ext cx="11018520" cy="576072"/>
          </a:xfrm>
          <a:prstGeom prst="roundRect">
            <a:avLst>
              <a:gd name="adj" fmla="val 17460"/>
            </a:avLst>
          </a:prstGeom>
          <a:solidFill>
            <a:srgbClr val="EAF5F4"/>
          </a:solidFill>
          <a:ln w="9525">
            <a:solidFill>
              <a:srgbClr val="87B7B2"/>
            </a:solidFill>
            <a:prstDash val="solid"/>
          </a:ln>
        </p:spPr>
      </p:sp>
      <p:sp>
        <p:nvSpPr>
          <p:cNvPr id="24" name="Text 21"/>
          <p:cNvSpPr/>
          <p:nvPr/>
        </p:nvSpPr>
        <p:spPr>
          <a:xfrm>
            <a:off x="786384" y="5943600"/>
            <a:ext cx="2240280" cy="411480"/>
          </a:xfrm>
          <a:prstGeom prst="rect">
            <a:avLst/>
          </a:prstGeom>
          <a:noFill/>
          <a:ln/>
        </p:spPr>
        <p:txBody>
          <a:bodyPr wrap="square" lIns="0" tIns="0" rIns="0" bIns="0" rtlCol="0" anchor="t"/>
          <a:lstStyle/>
          <a:p>
            <a:pPr indent="0" marL="0">
              <a:buNone/>
            </a:pPr>
            <a:r>
              <a:rPr lang="en-US" sz="1480" b="1" dirty="0">
                <a:solidFill>
                  <a:srgbClr val="317F7B"/>
                </a:solidFill>
                <a:latin typeface="Arial" pitchFamily="34" charset="0"/>
                <a:ea typeface="Arial" pitchFamily="34" charset="-122"/>
                <a:cs typeface="Arial" pitchFamily="34" charset="-120"/>
              </a:rPr>
              <a:t>Cost after discovery</a:t>
            </a:r>
            <a:endParaRPr lang="en-US" sz="1480" dirty="0"/>
          </a:p>
        </p:txBody>
      </p:sp>
      <p:sp>
        <p:nvSpPr>
          <p:cNvPr id="25" name="Text 22"/>
          <p:cNvSpPr/>
          <p:nvPr/>
        </p:nvSpPr>
        <p:spPr>
          <a:xfrm>
            <a:off x="3118104" y="5943600"/>
            <a:ext cx="8266176" cy="411480"/>
          </a:xfrm>
          <a:prstGeom prst="rect">
            <a:avLst/>
          </a:prstGeom>
          <a:noFill/>
          <a:ln/>
        </p:spPr>
        <p:txBody>
          <a:bodyPr wrap="square" lIns="0" tIns="0" rIns="0" bIns="0" rtlCol="0" anchor="t"/>
          <a:lstStyle/>
          <a:p>
            <a:pPr indent="0" marL="0">
              <a:buNone/>
            </a:pPr>
            <a:r>
              <a:rPr lang="en-US" sz="1480" dirty="0">
                <a:solidFill>
                  <a:srgbClr val="465D68"/>
                </a:solidFill>
                <a:latin typeface="Arial" pitchFamily="34" charset="0"/>
                <a:ea typeface="Arial" pitchFamily="34" charset="-122"/>
                <a:cs typeface="Arial" pitchFamily="34" charset="-120"/>
              </a:rPr>
              <a:t>Estimate engineering, vendor access, hosting, security review and ongoing support before the full build.</a:t>
            </a:r>
            <a:endParaRPr lang="en-US" sz="14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AFC"/>
        </a:solidFill>
      </p:bgPr>
    </p:bg>
    <p:spTree>
      <p:nvGrpSpPr>
        <p:cNvPr id="1" name=""/>
        <p:cNvGrpSpPr/>
        <p:nvPr/>
      </p:nvGrpSpPr>
      <p:grpSpPr>
        <a:xfrm>
          <a:off x="0" y="0"/>
          <a:ext cx="0" cy="0"/>
          <a:chOff x="0" y="0"/>
          <a:chExt cx="0" cy="0"/>
        </a:xfrm>
      </p:grpSpPr>
      <p:sp>
        <p:nvSpPr>
          <p:cNvPr id="2" name="Shape 0"/>
          <p:cNvSpPr/>
          <p:nvPr/>
        </p:nvSpPr>
        <p:spPr>
          <a:xfrm>
            <a:off x="0" y="0"/>
            <a:ext cx="12192000" cy="41148"/>
          </a:xfrm>
          <a:prstGeom prst="rect">
            <a:avLst/>
          </a:prstGeom>
          <a:solidFill>
            <a:srgbClr val="87B7B2"/>
          </a:solidFill>
          <a:ln w="12700">
            <a:solidFill>
              <a:srgbClr val="87B7B2">
                <a:alpha val="0"/>
              </a:srgbClr>
            </a:solidFill>
            <a:prstDash val="solid"/>
          </a:ln>
        </p:spPr>
      </p:sp>
      <p:sp>
        <p:nvSpPr>
          <p:cNvPr id="3" name="Text 1"/>
          <p:cNvSpPr/>
          <p:nvPr/>
        </p:nvSpPr>
        <p:spPr>
          <a:xfrm>
            <a:off x="585216" y="246888"/>
            <a:ext cx="10972800" cy="201168"/>
          </a:xfrm>
          <a:prstGeom prst="rect">
            <a:avLst/>
          </a:prstGeom>
          <a:noFill/>
          <a:ln/>
        </p:spPr>
        <p:txBody>
          <a:bodyPr wrap="square" lIns="0" tIns="0" rIns="0" bIns="0" rtlCol="0" anchor="t"/>
          <a:lstStyle/>
          <a:p>
            <a:pPr indent="0" marL="0">
              <a:buNone/>
            </a:pPr>
            <a:r>
              <a:rPr lang="en-US" sz="1000" b="1" dirty="0">
                <a:solidFill>
                  <a:srgbClr val="317F7B"/>
                </a:solidFill>
                <a:latin typeface="Arial" pitchFamily="34" charset="0"/>
                <a:ea typeface="Arial" pitchFamily="34" charset="-122"/>
                <a:cs typeface="Arial" pitchFamily="34" charset="-120"/>
              </a:rPr>
              <a:t>The decision requested now</a:t>
            </a:r>
            <a:endParaRPr lang="en-US" sz="1000" dirty="0"/>
          </a:p>
        </p:txBody>
      </p:sp>
      <p:sp>
        <p:nvSpPr>
          <p:cNvPr id="4" name="Text 2"/>
          <p:cNvSpPr/>
          <p:nvPr/>
        </p:nvSpPr>
        <p:spPr>
          <a:xfrm>
            <a:off x="585216" y="658368"/>
            <a:ext cx="11027664" cy="594360"/>
          </a:xfrm>
          <a:prstGeom prst="rect">
            <a:avLst/>
          </a:prstGeom>
          <a:noFill/>
          <a:ln/>
        </p:spPr>
        <p:txBody>
          <a:bodyPr wrap="square" lIns="0" tIns="0" rIns="0" bIns="0" rtlCol="0" anchor="t"/>
          <a:lstStyle/>
          <a:p>
            <a:pPr indent="0" marL="0">
              <a:buNone/>
            </a:pPr>
            <a:r>
              <a:rPr lang="en-US" sz="2800" b="1" dirty="0">
                <a:solidFill>
                  <a:srgbClr val="233F4C"/>
                </a:solidFill>
                <a:latin typeface="Arial" pitchFamily="34" charset="0"/>
                <a:ea typeface="Arial" pitchFamily="34" charset="-122"/>
                <a:cs typeface="Arial" pitchFamily="34" charset="-120"/>
              </a:rPr>
              <a:t>Start with discovery—not the full automation project</a:t>
            </a:r>
            <a:endParaRPr lang="en-US" sz="2800" dirty="0"/>
          </a:p>
        </p:txBody>
      </p:sp>
      <p:sp>
        <p:nvSpPr>
          <p:cNvPr id="5" name="Text 3"/>
          <p:cNvSpPr/>
          <p:nvPr/>
        </p:nvSpPr>
        <p:spPr>
          <a:xfrm>
            <a:off x="594360" y="1307592"/>
            <a:ext cx="10945368" cy="530352"/>
          </a:xfrm>
          <a:prstGeom prst="rect">
            <a:avLst/>
          </a:prstGeom>
          <a:noFill/>
          <a:ln/>
        </p:spPr>
        <p:txBody>
          <a:bodyPr wrap="square" lIns="0" tIns="0" rIns="0" bIns="0" rtlCol="0" anchor="t"/>
          <a:lstStyle/>
          <a:p>
            <a:pPr indent="0" marL="0">
              <a:buNone/>
            </a:pPr>
            <a:r>
              <a:rPr lang="en-US" sz="1660" dirty="0">
                <a:solidFill>
                  <a:srgbClr val="465D68"/>
                </a:solidFill>
                <a:latin typeface="Arial" pitchFamily="34" charset="0"/>
                <a:ea typeface="Arial" pitchFamily="34" charset="-122"/>
                <a:cs typeface="Arial" pitchFamily="34" charset="-120"/>
              </a:rPr>
              <a:t>Evaluate one completed payroll without changing it. B&amp;S can then proceed, adjust the approach or stop.</a:t>
            </a:r>
            <a:endParaRPr lang="en-US" sz="1660" dirty="0"/>
          </a:p>
        </p:txBody>
      </p:sp>
      <p:sp>
        <p:nvSpPr>
          <p:cNvPr id="6" name="Shape 4"/>
          <p:cNvSpPr/>
          <p:nvPr/>
        </p:nvSpPr>
        <p:spPr>
          <a:xfrm>
            <a:off x="585216" y="6510528"/>
            <a:ext cx="11018520" cy="0"/>
          </a:xfrm>
          <a:prstGeom prst="line">
            <a:avLst/>
          </a:prstGeom>
          <a:noFill/>
          <a:ln w="10160">
            <a:solidFill>
              <a:srgbClr val="DCE6E9"/>
            </a:solidFill>
            <a:prstDash val="solid"/>
          </a:ln>
        </p:spPr>
      </p:sp>
      <p:sp>
        <p:nvSpPr>
          <p:cNvPr id="7" name="Text 5"/>
          <p:cNvSpPr/>
          <p:nvPr/>
        </p:nvSpPr>
        <p:spPr>
          <a:xfrm>
            <a:off x="594360" y="6611112"/>
            <a:ext cx="3749040" cy="164592"/>
          </a:xfrm>
          <a:prstGeom prst="rect">
            <a:avLst/>
          </a:prstGeom>
          <a:noFill/>
          <a:ln/>
        </p:spPr>
        <p:txBody>
          <a:bodyPr wrap="square" lIns="0" tIns="0" rIns="0" bIns="0" rtlCol="0" anchor="t"/>
          <a:lstStyle/>
          <a:p>
            <a:pPr indent="0" marL="0">
              <a:buNone/>
            </a:pPr>
            <a:r>
              <a:rPr lang="en-US" sz="820" dirty="0">
                <a:solidFill>
                  <a:srgbClr val="69808A"/>
                </a:solidFill>
                <a:latin typeface="Arial" pitchFamily="34" charset="0"/>
                <a:ea typeface="Arial" pitchFamily="34" charset="-122"/>
                <a:cs typeface="Arial" pitchFamily="34" charset="-120"/>
              </a:rPr>
              <a:t>Komlan Kouhiko  /  B&amp;S payroll proposal</a:t>
            </a:r>
            <a:endParaRPr lang="en-US" sz="820" dirty="0"/>
          </a:p>
        </p:txBody>
      </p:sp>
      <p:sp>
        <p:nvSpPr>
          <p:cNvPr id="8" name="Text 6"/>
          <p:cNvSpPr/>
          <p:nvPr/>
        </p:nvSpPr>
        <p:spPr>
          <a:xfrm>
            <a:off x="4023360" y="6611112"/>
            <a:ext cx="6903720" cy="164592"/>
          </a:xfrm>
          <a:prstGeom prst="rect">
            <a:avLst/>
          </a:prstGeom>
          <a:noFill/>
          <a:ln/>
        </p:spPr>
        <p:txBody>
          <a:bodyPr wrap="square" lIns="0" tIns="0" rIns="0" bIns="0" rtlCol="0" anchor="t"/>
          <a:lstStyle/>
          <a:p>
            <a:pPr algn="r" indent="0" marL="0">
              <a:buNone/>
            </a:pPr>
            <a:r>
              <a:rPr lang="en-US" sz="805" dirty="0">
                <a:solidFill>
                  <a:srgbClr val="69808A"/>
                </a:solidFill>
                <a:latin typeface="Arial" pitchFamily="34" charset="0"/>
                <a:ea typeface="Arial" pitchFamily="34" charset="-122"/>
                <a:cs typeface="Arial" pitchFamily="34" charset="-120"/>
              </a:rPr>
              <a:t>Decision boundary • Optional supporting detail A1–A8</a:t>
            </a:r>
            <a:endParaRPr lang="en-US" sz="805" dirty="0"/>
          </a:p>
        </p:txBody>
      </p:sp>
      <p:sp>
        <p:nvSpPr>
          <p:cNvPr id="9" name="Text 7"/>
          <p:cNvSpPr/>
          <p:nvPr/>
        </p:nvSpPr>
        <p:spPr>
          <a:xfrm>
            <a:off x="11100816" y="6592824"/>
            <a:ext cx="502920" cy="201168"/>
          </a:xfrm>
          <a:prstGeom prst="rect">
            <a:avLst/>
          </a:prstGeom>
          <a:noFill/>
          <a:ln/>
        </p:spPr>
        <p:txBody>
          <a:bodyPr wrap="square" lIns="0" tIns="0" rIns="0" bIns="0" rtlCol="0" anchor="t"/>
          <a:lstStyle/>
          <a:p>
            <a:pPr algn="r" indent="0" marL="0">
              <a:buNone/>
            </a:pPr>
            <a:r>
              <a:rPr lang="en-US" sz="920" dirty="0">
                <a:solidFill>
                  <a:srgbClr val="69808A"/>
                </a:solidFill>
                <a:latin typeface="Arial" pitchFamily="34" charset="0"/>
                <a:ea typeface="Arial" pitchFamily="34" charset="-122"/>
                <a:cs typeface="Arial" pitchFamily="34" charset="-120"/>
              </a:rPr>
              <a:t>19 / 19</a:t>
            </a:r>
            <a:endParaRPr lang="en-US" sz="920" dirty="0"/>
          </a:p>
        </p:txBody>
      </p:sp>
      <p:sp>
        <p:nvSpPr>
          <p:cNvPr id="11" name="Shape 8"/>
          <p:cNvSpPr/>
          <p:nvPr/>
        </p:nvSpPr>
        <p:spPr>
          <a:xfrm>
            <a:off x="594360" y="2029968"/>
            <a:ext cx="3502152" cy="1746504"/>
          </a:xfrm>
          <a:prstGeom prst="roundRect">
            <a:avLst>
              <a:gd name="adj" fmla="val 8377"/>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12" name="Text 9"/>
          <p:cNvSpPr/>
          <p:nvPr/>
        </p:nvSpPr>
        <p:spPr>
          <a:xfrm>
            <a:off x="804672" y="2240280"/>
            <a:ext cx="3090672" cy="475488"/>
          </a:xfrm>
          <a:prstGeom prst="rect">
            <a:avLst/>
          </a:prstGeom>
          <a:noFill/>
          <a:ln/>
        </p:spPr>
        <p:txBody>
          <a:bodyPr wrap="square" lIns="0" tIns="0" rIns="0" bIns="0" rtlCol="0" anchor="t"/>
          <a:lstStyle/>
          <a:p>
            <a:pPr indent="0" marL="0">
              <a:buNone/>
            </a:pPr>
            <a:r>
              <a:rPr lang="en-US" sz="1850" b="1" dirty="0">
                <a:solidFill>
                  <a:srgbClr val="233F4C"/>
                </a:solidFill>
                <a:latin typeface="Arial" pitchFamily="34" charset="0"/>
                <a:ea typeface="Arial" pitchFamily="34" charset="-122"/>
                <a:cs typeface="Arial" pitchFamily="34" charset="-120"/>
              </a:rPr>
              <a:t>B&amp;S provides</a:t>
            </a:r>
            <a:endParaRPr lang="en-US" sz="1850" dirty="0"/>
          </a:p>
        </p:txBody>
      </p:sp>
      <p:sp>
        <p:nvSpPr>
          <p:cNvPr id="13" name="Text 10"/>
          <p:cNvSpPr/>
          <p:nvPr/>
        </p:nvSpPr>
        <p:spPr>
          <a:xfrm>
            <a:off x="804672" y="2724912"/>
            <a:ext cx="3081528" cy="886968"/>
          </a:xfrm>
          <a:prstGeom prst="rect">
            <a:avLst/>
          </a:prstGeom>
          <a:noFill/>
          <a:ln/>
        </p:spPr>
        <p:txBody>
          <a:bodyPr wrap="square" lIns="0" tIns="0" rIns="0" bIns="0" rtlCol="0" anchor="t"/>
          <a:lstStyle/>
          <a:p>
            <a:pPr indent="0" marL="0">
              <a:buNone/>
            </a:pPr>
            <a:r>
              <a:rPr lang="en-US" sz="1680" dirty="0">
                <a:solidFill>
                  <a:srgbClr val="465D68"/>
                </a:solidFill>
                <a:latin typeface="Arial" pitchFamily="34" charset="0"/>
                <a:ea typeface="Arial" pitchFamily="34" charset="-122"/>
                <a:cs typeface="Arial" pitchFamily="34" charset="-120"/>
              </a:rPr>
              <a:t>Named owners and approved exports, reports, macro and templates in company storage.</a:t>
            </a:r>
            <a:endParaRPr lang="en-US" sz="1680" dirty="0"/>
          </a:p>
        </p:txBody>
      </p:sp>
      <p:sp>
        <p:nvSpPr>
          <p:cNvPr id="14" name="Shape 11"/>
          <p:cNvSpPr/>
          <p:nvPr/>
        </p:nvSpPr>
        <p:spPr>
          <a:xfrm>
            <a:off x="4343400" y="2029968"/>
            <a:ext cx="3502152" cy="1746504"/>
          </a:xfrm>
          <a:prstGeom prst="roundRect">
            <a:avLst>
              <a:gd name="adj" fmla="val 8377"/>
            </a:avLst>
          </a:prstGeom>
          <a:solidFill>
            <a:srgbClr val="EAF5F4"/>
          </a:solidFill>
          <a:ln w="9525">
            <a:solidFill>
              <a:srgbClr val="87B7B2"/>
            </a:solidFill>
            <a:prstDash val="solid"/>
          </a:ln>
          <a:effectLst>
            <a:outerShdw sx="100000" sy="100000" kx="0" ky="0" algn="bl" rotWithShape="0" blurRad="27940" dist="13970" dir="5400000">
              <a:srgbClr val="90A3AB">
                <a:alpha val="10000"/>
              </a:srgbClr>
            </a:outerShdw>
          </a:effectLst>
        </p:spPr>
      </p:sp>
      <p:sp>
        <p:nvSpPr>
          <p:cNvPr id="15" name="Text 12"/>
          <p:cNvSpPr/>
          <p:nvPr/>
        </p:nvSpPr>
        <p:spPr>
          <a:xfrm>
            <a:off x="4553712" y="2240280"/>
            <a:ext cx="3090672" cy="475488"/>
          </a:xfrm>
          <a:prstGeom prst="rect">
            <a:avLst/>
          </a:prstGeom>
          <a:noFill/>
          <a:ln/>
        </p:spPr>
        <p:txBody>
          <a:bodyPr wrap="square" lIns="0" tIns="0" rIns="0" bIns="0" rtlCol="0" anchor="t"/>
          <a:lstStyle/>
          <a:p>
            <a:pPr indent="0" marL="0">
              <a:buNone/>
            </a:pPr>
            <a:r>
              <a:rPr lang="en-US" sz="1850" b="1" dirty="0">
                <a:solidFill>
                  <a:srgbClr val="317F7B"/>
                </a:solidFill>
                <a:latin typeface="Arial" pitchFamily="34" charset="0"/>
                <a:ea typeface="Arial" pitchFamily="34" charset="-122"/>
                <a:cs typeface="Arial" pitchFamily="34" charset="-120"/>
              </a:rPr>
              <a:t>The evaluation returns</a:t>
            </a:r>
            <a:endParaRPr lang="en-US" sz="1850" dirty="0"/>
          </a:p>
        </p:txBody>
      </p:sp>
      <p:sp>
        <p:nvSpPr>
          <p:cNvPr id="16" name="Text 13"/>
          <p:cNvSpPr/>
          <p:nvPr/>
        </p:nvSpPr>
        <p:spPr>
          <a:xfrm>
            <a:off x="4553712" y="2724912"/>
            <a:ext cx="3081528" cy="886968"/>
          </a:xfrm>
          <a:prstGeom prst="rect">
            <a:avLst/>
          </a:prstGeom>
          <a:noFill/>
          <a:ln/>
        </p:spPr>
        <p:txBody>
          <a:bodyPr wrap="square" lIns="0" tIns="0" rIns="0" bIns="0" rtlCol="0" anchor="t"/>
          <a:lstStyle/>
          <a:p>
            <a:pPr indent="0" marL="0">
              <a:buNone/>
            </a:pPr>
            <a:r>
              <a:rPr lang="en-US" sz="1680" dirty="0">
                <a:solidFill>
                  <a:srgbClr val="465D68"/>
                </a:solidFill>
                <a:latin typeface="Arial" pitchFamily="34" charset="0"/>
                <a:ea typeface="Arial" pitchFamily="34" charset="-122"/>
                <a:cs typeface="Arial" pitchFamily="34" charset="-120"/>
              </a:rPr>
              <a:t>A workflow map, feasibility findings, a historical comparison and an implementation estimate.</a:t>
            </a:r>
            <a:endParaRPr lang="en-US" sz="1680" dirty="0"/>
          </a:p>
        </p:txBody>
      </p:sp>
      <p:sp>
        <p:nvSpPr>
          <p:cNvPr id="17" name="Shape 14"/>
          <p:cNvSpPr/>
          <p:nvPr/>
        </p:nvSpPr>
        <p:spPr>
          <a:xfrm>
            <a:off x="8092440" y="2029968"/>
            <a:ext cx="3502152" cy="1746504"/>
          </a:xfrm>
          <a:prstGeom prst="roundRect">
            <a:avLst>
              <a:gd name="adj" fmla="val 8377"/>
            </a:avLst>
          </a:prstGeom>
          <a:solidFill>
            <a:srgbClr val="FFFFFF"/>
          </a:solidFill>
          <a:ln w="9525">
            <a:solidFill>
              <a:srgbClr val="DCE6E9"/>
            </a:solidFill>
            <a:prstDash val="solid"/>
          </a:ln>
          <a:effectLst>
            <a:outerShdw sx="100000" sy="100000" kx="0" ky="0" algn="bl" rotWithShape="0" blurRad="27940" dist="13970" dir="5400000">
              <a:srgbClr val="90A3AB">
                <a:alpha val="10000"/>
              </a:srgbClr>
            </a:outerShdw>
          </a:effectLst>
        </p:spPr>
      </p:sp>
      <p:sp>
        <p:nvSpPr>
          <p:cNvPr id="18" name="Text 15"/>
          <p:cNvSpPr/>
          <p:nvPr/>
        </p:nvSpPr>
        <p:spPr>
          <a:xfrm>
            <a:off x="8302752" y="2240280"/>
            <a:ext cx="3090672" cy="475488"/>
          </a:xfrm>
          <a:prstGeom prst="rect">
            <a:avLst/>
          </a:prstGeom>
          <a:noFill/>
          <a:ln/>
        </p:spPr>
        <p:txBody>
          <a:bodyPr wrap="square" lIns="0" tIns="0" rIns="0" bIns="0" rtlCol="0" anchor="t"/>
          <a:lstStyle/>
          <a:p>
            <a:pPr indent="0" marL="0">
              <a:buNone/>
            </a:pPr>
            <a:r>
              <a:rPr lang="en-US" sz="1850" b="1" dirty="0">
                <a:solidFill>
                  <a:srgbClr val="233F4C"/>
                </a:solidFill>
                <a:latin typeface="Arial" pitchFamily="34" charset="0"/>
                <a:ea typeface="Arial" pitchFamily="34" charset="-122"/>
                <a:cs typeface="Arial" pitchFamily="34" charset="-120"/>
              </a:rPr>
              <a:t>The boundary stays clear</a:t>
            </a:r>
            <a:endParaRPr lang="en-US" sz="1850" dirty="0"/>
          </a:p>
        </p:txBody>
      </p:sp>
      <p:sp>
        <p:nvSpPr>
          <p:cNvPr id="19" name="Text 16"/>
          <p:cNvSpPr/>
          <p:nvPr/>
        </p:nvSpPr>
        <p:spPr>
          <a:xfrm>
            <a:off x="8302752" y="2724912"/>
            <a:ext cx="3081528" cy="886968"/>
          </a:xfrm>
          <a:prstGeom prst="rect">
            <a:avLst/>
          </a:prstGeom>
          <a:noFill/>
          <a:ln/>
        </p:spPr>
        <p:txBody>
          <a:bodyPr wrap="square" lIns="0" tIns="0" rIns="0" bIns="0" rtlCol="0" anchor="t"/>
          <a:lstStyle/>
          <a:p>
            <a:pPr indent="0" marL="0">
              <a:buNone/>
            </a:pPr>
            <a:r>
              <a:rPr lang="en-US" sz="1680" dirty="0">
                <a:solidFill>
                  <a:srgbClr val="465D68"/>
                </a:solidFill>
                <a:latin typeface="Arial" pitchFamily="34" charset="0"/>
                <a:ea typeface="Arial" pitchFamily="34" charset="-122"/>
                <a:cs typeface="Arial" pitchFamily="34" charset="-120"/>
              </a:rPr>
              <a:t>Read-only data access in an approved environment. No payroll changes or submission.</a:t>
            </a:r>
            <a:endParaRPr lang="en-US" sz="1680" dirty="0"/>
          </a:p>
        </p:txBody>
      </p:sp>
      <p:sp>
        <p:nvSpPr>
          <p:cNvPr id="20" name="Text 17"/>
          <p:cNvSpPr/>
          <p:nvPr/>
        </p:nvSpPr>
        <p:spPr>
          <a:xfrm>
            <a:off x="768096" y="4078224"/>
            <a:ext cx="10698480" cy="320040"/>
          </a:xfrm>
          <a:prstGeom prst="rect">
            <a:avLst/>
          </a:prstGeom>
          <a:noFill/>
          <a:ln/>
        </p:spPr>
        <p:txBody>
          <a:bodyPr wrap="square" lIns="0" tIns="0" rIns="0" bIns="0" rtlCol="0" anchor="t"/>
          <a:lstStyle/>
          <a:p>
            <a:pPr indent="0" marL="0">
              <a:buNone/>
            </a:pPr>
            <a:r>
              <a:rPr lang="en-US" sz="1980" b="1" dirty="0">
                <a:solidFill>
                  <a:srgbClr val="233F4C"/>
                </a:solidFill>
                <a:latin typeface="Arial" pitchFamily="34" charset="0"/>
                <a:ea typeface="Arial" pitchFamily="34" charset="-122"/>
                <a:cs typeface="Arial" pitchFamily="34" charset="-120"/>
              </a:rPr>
              <a:t>First reuse what B&amp;S already owns. Build only the remaining gap.</a:t>
            </a:r>
            <a:endParaRPr lang="en-US" sz="1980" dirty="0"/>
          </a:p>
        </p:txBody>
      </p:sp>
      <p:sp>
        <p:nvSpPr>
          <p:cNvPr id="21" name="Text 18"/>
          <p:cNvSpPr/>
          <p:nvPr/>
        </p:nvSpPr>
        <p:spPr>
          <a:xfrm>
            <a:off x="777240" y="4572000"/>
            <a:ext cx="10652760" cy="338328"/>
          </a:xfrm>
          <a:prstGeom prst="rect">
            <a:avLst/>
          </a:prstGeom>
          <a:noFill/>
          <a:ln/>
        </p:spPr>
        <p:txBody>
          <a:bodyPr wrap="square" lIns="0" tIns="0" rIns="0" bIns="0" rtlCol="0" anchor="t"/>
          <a:lstStyle/>
          <a:p>
            <a:pPr indent="0" marL="0">
              <a:buNone/>
            </a:pPr>
            <a:r>
              <a:rPr lang="en-US" sz="1800" dirty="0">
                <a:solidFill>
                  <a:srgbClr val="317F7B"/>
                </a:solidFill>
                <a:latin typeface="Arial" pitchFamily="34" charset="0"/>
                <a:ea typeface="Arial" pitchFamily="34" charset="-122"/>
                <a:cs typeface="Arial" pitchFamily="34" charset="-120"/>
              </a:rPr>
              <a:t>One internal tool. Three systems. Less repeated work before the human decision.</a:t>
            </a:r>
            <a:endParaRPr lang="en-US" sz="1800" dirty="0"/>
          </a:p>
        </p:txBody>
      </p:sp>
      <p:sp>
        <p:nvSpPr>
          <p:cNvPr id="22" name="Shape 19"/>
          <p:cNvSpPr/>
          <p:nvPr/>
        </p:nvSpPr>
        <p:spPr>
          <a:xfrm>
            <a:off x="777240" y="5111496"/>
            <a:ext cx="4187952" cy="310896"/>
          </a:xfrm>
          <a:prstGeom prst="roundRect">
            <a:avLst>
              <a:gd name="adj" fmla="val 23529"/>
            </a:avLst>
          </a:prstGeom>
          <a:solidFill>
            <a:srgbClr val="FFFFFF"/>
          </a:solidFill>
          <a:ln w="9525">
            <a:solidFill>
              <a:srgbClr val="DCE6E9"/>
            </a:solidFill>
            <a:prstDash val="solid"/>
          </a:ln>
        </p:spPr>
      </p:sp>
      <p:sp>
        <p:nvSpPr>
          <p:cNvPr id="23" name="Text 20">
            <a:hlinkClick r:id="rId1" tooltip=""/>
          </p:cNvPr>
          <p:cNvSpPr/>
          <p:nvPr/>
        </p:nvSpPr>
        <p:spPr>
          <a:xfrm>
            <a:off x="877824" y="5184648"/>
            <a:ext cx="3986784" cy="201168"/>
          </a:xfrm>
          <a:prstGeom prst="rect">
            <a:avLst/>
          </a:prstGeom>
          <a:noFill/>
          <a:ln/>
        </p:spPr>
        <p:txBody>
          <a:bodyPr wrap="square" lIns="0" tIns="0" rIns="0" bIns="0" rtlCol="0" anchor="t"/>
          <a:lstStyle/>
          <a:p>
            <a:pPr indent="0" marL="0">
              <a:buNone/>
            </a:pPr>
            <a:r>
              <a:rPr lang="en-US" sz="1330" b="1" u="sng" dirty="0">
                <a:solidFill>
                  <a:srgbClr val="317F7B"/>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synthetic demonstration ↗</a:t>
            </a:r>
            <a:endParaRPr lang="en-US" sz="1330" dirty="0"/>
          </a:p>
        </p:txBody>
      </p:sp>
      <p:sp>
        <p:nvSpPr>
          <p:cNvPr id="24" name="Text 21"/>
          <p:cNvSpPr/>
          <p:nvPr/>
        </p:nvSpPr>
        <p:spPr>
          <a:xfrm>
            <a:off x="5184648" y="5166360"/>
            <a:ext cx="5632704" cy="228600"/>
          </a:xfrm>
          <a:prstGeom prst="rect">
            <a:avLst/>
          </a:prstGeom>
          <a:noFill/>
          <a:ln/>
        </p:spPr>
        <p:txBody>
          <a:bodyPr wrap="square" lIns="0" tIns="0" rIns="0" bIns="0" rtlCol="0" anchor="t"/>
          <a:lstStyle/>
          <a:p>
            <a:pPr indent="0" marL="0">
              <a:buNone/>
            </a:pPr>
            <a:r>
              <a:rPr lang="en-US" sz="1370" dirty="0">
                <a:solidFill>
                  <a:srgbClr val="69808A"/>
                </a:solidFill>
                <a:latin typeface="Arial" pitchFamily="34" charset="0"/>
                <a:ea typeface="Arial" pitchFamily="34" charset="-122"/>
                <a:cs typeface="Arial" pitchFamily="34" charset="-120"/>
              </a:rPr>
              <a:t>Fictional data only. No live payroll changes.</a:t>
            </a:r>
            <a:endParaRPr lang="en-US" sz="1370" dirty="0"/>
          </a:p>
        </p:txBody>
      </p:sp>
      <p:sp>
        <p:nvSpPr>
          <p:cNvPr id="25" name="Shape 22"/>
          <p:cNvSpPr/>
          <p:nvPr/>
        </p:nvSpPr>
        <p:spPr>
          <a:xfrm>
            <a:off x="777240" y="5705856"/>
            <a:ext cx="10698480" cy="539496"/>
          </a:xfrm>
          <a:prstGeom prst="roundRect">
            <a:avLst>
              <a:gd name="adj" fmla="val 27119"/>
            </a:avLst>
          </a:prstGeom>
          <a:solidFill>
            <a:srgbClr val="FFFFFF"/>
          </a:solidFill>
          <a:ln w="9525">
            <a:solidFill>
              <a:srgbClr val="DCE6E9"/>
            </a:solidFill>
            <a:prstDash val="solid"/>
          </a:ln>
        </p:spPr>
      </p:sp>
      <p:sp>
        <p:nvSpPr>
          <p:cNvPr id="26" name="Text 23"/>
          <p:cNvSpPr/>
          <p:nvPr/>
        </p:nvSpPr>
        <p:spPr>
          <a:xfrm>
            <a:off x="960120" y="5870448"/>
            <a:ext cx="10314432" cy="237744"/>
          </a:xfrm>
          <a:prstGeom prst="rect">
            <a:avLst/>
          </a:prstGeom>
          <a:noFill/>
          <a:ln/>
        </p:spPr>
        <p:txBody>
          <a:bodyPr wrap="square" lIns="0" tIns="0" rIns="0" bIns="0" rtlCol="0" anchor="t"/>
          <a:lstStyle/>
          <a:p>
            <a:pPr indent="0" marL="0">
              <a:buNone/>
            </a:pPr>
            <a:r>
              <a:rPr lang="en-US" sz="1400" dirty="0">
                <a:solidFill>
                  <a:srgbClr val="69808A"/>
                </a:solidFill>
                <a:latin typeface="Arial" pitchFamily="34" charset="0"/>
                <a:ea typeface="Arial" pitchFamily="34" charset="-122"/>
                <a:cs typeface="Arial" pitchFamily="34" charset="-120"/>
              </a:rPr>
              <a:t>Optional detail is in the companion briefing: connections, security, safe changes, tests and sources.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Prepared for B and 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B&amp;S payroll automation proposal</dc:title>
  <dc:subject>Proposed internal payroll automation for B&amp;S</dc:subject>
  <dc:creator>Komlan Kouhiko</dc:creator>
  <cp:lastModifiedBy>Komlan Kouhiko</cp:lastModifiedBy>
  <cp:revision>2</cp:revision>
  <dcterms:created xsi:type="dcterms:W3CDTF">2026-09-29T04:16:33Z</dcterms:created>
  <dcterms:modified xsi:type="dcterms:W3CDTF">2026-09-29T04:16:33Z</dcterms:modified>
</cp:coreProperties>
</file>